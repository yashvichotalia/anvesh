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604affb4-2f59-1881-6cb8-bbfe8f0f7fb9}">
          <p14:sldIdLst>
            <p14:sldId id="256"/>
          </p14:sldIdLst>
        </p14:section>
        <p14:section name="Approach" id="{5240bfe2-7a55-f644-7e2e-a6b6758f4c19}">
          <p14:sldIdLst>
            <p14:sldId id="257"/>
          </p14:sldIdLst>
        </p14:section>
        <p14:section name="Feasibility" id="{52a4ff44-66e7-0800-cd7f-227cab6ba880}">
          <p14:sldIdLst>
            <p14:sldId id="258"/>
          </p14:sldIdLst>
        </p14:section>
        <p14:section name="Impact" id="{44c0933e-16b6-f46d-0f01-fc0136266c2b}">
          <p14:sldIdLst>
            <p14:sldId id="259"/>
          </p14:sldIdLst>
        </p14:section>
        <p14:section name="Comparison" id="{5faa10e4-fadc-1fb8-cba7-92b1b78a430e}">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01828"/>
                </a:solidFill>
                <a:latin typeface="+mn-lt"/>
              </a:defRPr>
            </a:pPr>
            <a:r>
              <a:rPr sz="950" b="0" i="0" u="none" strike="noStrike">
                <a:solidFill>
                  <a:srgbClr val="101828"/>
                </a:solidFill>
                <a:latin typeface="+mn-lt"/>
              </a:rPr>
              <a:t>Financial-fraud complaints on NCRP (lakh)</a:t>
            </a:r>
          </a:p>
        </c:rich>
      </c:tx>
      <c:layout/>
      <c:overlay val="0"/>
    </c:title>
    <c:autoTitleDeleted val="0"/>
    <c:plotArea>
      <c:layout/>
      <c:barChart>
        <c:barDir val="col"/>
        <c:grouping val="clustered"/>
        <c:varyColors val="0"/>
        <c:ser>
          <c:idx val="0"/>
          <c:order val="0"/>
          <c:tx>
            <c:strRef>
              <c:f>Sheet1!$B$1</c:f>
              <c:strCache>
                <c:ptCount val="1"/>
                <c:pt idx="0">
                  <c:v>Complaints (lakh)</c:v>
                </c:pt>
              </c:strCache>
            </c:strRef>
          </c:tx>
          <c:spPr>
            <a:solidFill>
              <a:srgbClr val="F97A0F"/>
            </a:solidFill>
            <a:effectLst/>
          </c:spPr>
          <c:invertIfNegative val="0"/>
          <c:dLbls>
            <c:numFmt formatCode="0.0" sourceLinked="0"/>
            <c:txPr>
              <a:bodyPr/>
              <a:lstStyle/>
              <a:p>
                <a:pPr>
                  <a:defRPr b="0" i="0" strike="noStrike" sz="800" u="none">
                    <a:solidFill>
                      <a:srgbClr val="101828"/>
                    </a:solidFill>
                    <a:latin typeface="+mn-lt"/>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2.63</c:v>
                </c:pt>
                <c:pt idx="1">
                  <c:v>6.94</c:v>
                </c:pt>
                <c:pt idx="2">
                  <c:v>13.1</c:v>
                </c:pt>
                <c:pt idx="3">
                  <c:v>19.19</c:v>
                </c:pt>
                <c:pt idx="4">
                  <c:v>24.03</c:v>
                </c:pt>
              </c:numCache>
            </c:numRef>
          </c:val>
        </c:ser>
        <c:dLbls>
          <c:numFmt formatCode="0.0" sourceLinked="0"/>
          <c:txPr>
            <a:bodyPr/>
            <a:lstStyle/>
            <a:p>
              <a:pPr>
                <a:defRPr b="0" i="0" strike="noStrike" sz="800" u="none">
                  <a:solidFill>
                    <a:srgbClr val="101828"/>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max val="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50" b="0" i="0" u="none" strike="noStrike">
                <a:solidFill>
                  <a:srgbClr val="101828"/>
                </a:solidFill>
                <a:latin typeface="+mn-lt"/>
              </a:defRPr>
            </a:pPr>
            <a:r>
              <a:rPr sz="950" b="0" i="0" u="none" strike="noStrike">
                <a:solidFill>
                  <a:srgbClr val="101828"/>
                </a:solidFill>
                <a:latin typeface="+mn-lt"/>
              </a:rPr>
              <a:t>Chakshu 2025: suspected fraud calls/SMS by type</a:t>
            </a:r>
          </a:p>
        </c:rich>
      </c:tx>
      <c:layout/>
      <c:overlay val="0"/>
    </c:title>
    <c:autoTitleDeleted val="0"/>
    <c:plotArea>
      <c:layout/>
      <c:barChart>
        <c:barDir val="bar"/>
        <c:grouping val="stacked"/>
        <c:varyColors val="0"/>
        <c:ser>
          <c:idx val="0"/>
          <c:order val="0"/>
          <c:tx>
            <c:strRef>
              <c:f>Sheet1!$B$1</c:f>
              <c:strCache>
                <c:ptCount val="1"/>
                <c:pt idx="0">
                  <c:v>Has a dedicated Anvesh playbook</c:v>
                </c:pt>
              </c:strCache>
            </c:strRef>
          </c:tx>
          <c:spPr>
            <a:solidFill>
              <a:srgbClr val="F97A0F"/>
            </a:solidFill>
            <a:effectLst/>
          </c:spPr>
          <c:invertIfNegative val="0"/>
          <c:dLbls>
            <c:numFmt formatCode="#,##0;;" sourceLinked="0"/>
            <c:txPr>
              <a:bodyPr/>
              <a:lstStyle/>
              <a:p>
                <a:pPr>
                  <a:defRPr b="0" i="0" strike="noStrike" sz="700" u="none">
                    <a:solidFill>
                      <a:srgbClr val="101828"/>
                    </a:solidFill>
                    <a:latin typeface="+mn-lt"/>
                  </a:defRPr>
                </a:pPr>
              </a:p>
            </c:txPr>
            <c:dLblPos val="inEnd"/>
            <c:showLegendKey val="0"/>
            <c:showVal val="1"/>
            <c:showCatName val="0"/>
            <c:showSerName val="0"/>
            <c:showPercent val="0"/>
            <c:showBubbleSize val="0"/>
            <c:showLeaderLines val="0"/>
          </c:dLbls>
          <c:cat>
            <c:multiLvlStrRef>
              <c:f>Sheet1!$A$2:$A$12</c:f>
              <c:multiLvlStrCache>
                <c:ptCount val="11"/>
                <c:lvl>
                  <c:pt idx="0">
                    <c:v>IVR / robo calls</c:v>
                  </c:pt>
                  <c:pt idx="1">
                    <c:v>DoT / TRAI posing</c:v>
                  </c:pt>
                  <c:pt idx="2">
                    <c:v>Malicious link</c:v>
                  </c:pt>
                  <c:pt idx="3">
                    <c:v>Relative / friend posing</c:v>
                  </c:pt>
                  <c:pt idx="4">
                    <c:v>Sextortion</c:v>
                  </c:pt>
                  <c:pt idx="5">
                    <c:v>Investment / trading</c:v>
                  </c:pt>
                  <c:pt idx="6">
                    <c:v>Police, CBI, RBI posing</c:v>
                  </c:pt>
                  <c:pt idx="7">
                    <c:v>Job / lottery / loan</c:v>
                  </c:pt>
                  <c:pt idx="8">
                    <c:v>Fake customer care</c:v>
                  </c:pt>
                  <c:pt idx="9">
                    <c:v>KYC / payment</c:v>
                  </c:pt>
                  <c:pt idx="10">
                    <c:v>Other suspected fraud</c:v>
                  </c:pt>
                </c:lvl>
              </c:multiLvlStrCache>
            </c:multiLvlStrRef>
          </c:cat>
          <c:val>
            <c:numRef>
              <c:f>Sheet1!$B$2:$B$12</c:f>
              <c:numCache>
                <c:formatCode>General</c:formatCode>
                <c:ptCount val="11"/>
                <c:pt idx="0">
                  <c:v>0</c:v>
                </c:pt>
                <c:pt idx="1">
                  <c:v>0</c:v>
                </c:pt>
                <c:pt idx="2">
                  <c:v>0</c:v>
                </c:pt>
                <c:pt idx="3">
                  <c:v>0</c:v>
                </c:pt>
                <c:pt idx="4">
                  <c:v>21189</c:v>
                </c:pt>
                <c:pt idx="5">
                  <c:v>29140</c:v>
                </c:pt>
                <c:pt idx="6">
                  <c:v>54639</c:v>
                </c:pt>
                <c:pt idx="7">
                  <c:v>0</c:v>
                </c:pt>
                <c:pt idx="8">
                  <c:v>0</c:v>
                </c:pt>
                <c:pt idx="9">
                  <c:v>106483</c:v>
                </c:pt>
                <c:pt idx="10">
                  <c:v>0</c:v>
                </c:pt>
              </c:numCache>
            </c:numRef>
          </c:val>
        </c:ser>
        <c:ser>
          <c:idx val="1"/>
          <c:order val="1"/>
          <c:tx>
            <c:strRef>
              <c:f>Sheet1!$C$1</c:f>
              <c:strCache>
                <c:ptCount val="1"/>
                <c:pt idx="0">
                  <c:v>Partly covered (job playbook)</c:v>
                </c:pt>
              </c:strCache>
            </c:strRef>
          </c:tx>
          <c:spPr>
            <a:solidFill>
              <a:srgbClr val="FDD4AE"/>
            </a:solidFill>
            <a:effectLst/>
          </c:spPr>
          <c:invertIfNegative val="0"/>
          <c:dLbls>
            <c:numFmt formatCode="#,##0;;" sourceLinked="0"/>
            <c:txPr>
              <a:bodyPr/>
              <a:lstStyle/>
              <a:p>
                <a:pPr>
                  <a:defRPr b="0" i="0" strike="noStrike" sz="700" u="none">
                    <a:solidFill>
                      <a:srgbClr val="101828"/>
                    </a:solidFill>
                    <a:latin typeface="+mn-lt"/>
                  </a:defRPr>
                </a:pPr>
              </a:p>
            </c:txPr>
            <c:dLblPos val="inEnd"/>
            <c:showLegendKey val="0"/>
            <c:showVal val="1"/>
            <c:showCatName val="0"/>
            <c:showSerName val="0"/>
            <c:showPercent val="0"/>
            <c:showBubbleSize val="0"/>
            <c:showLeaderLines val="0"/>
          </c:dLbls>
          <c:cat>
            <c:multiLvlStrRef>
              <c:f>Sheet1!$A$2:$A$12</c:f>
              <c:multiLvlStrCache>
                <c:ptCount val="11"/>
                <c:lvl>
                  <c:pt idx="0">
                    <c:v>IVR / robo calls</c:v>
                  </c:pt>
                  <c:pt idx="1">
                    <c:v>DoT / TRAI posing</c:v>
                  </c:pt>
                  <c:pt idx="2">
                    <c:v>Malicious link</c:v>
                  </c:pt>
                  <c:pt idx="3">
                    <c:v>Relative / friend posing</c:v>
                  </c:pt>
                  <c:pt idx="4">
                    <c:v>Sextortion</c:v>
                  </c:pt>
                  <c:pt idx="5">
                    <c:v>Investment / trading</c:v>
                  </c:pt>
                  <c:pt idx="6">
                    <c:v>Police, CBI, RBI posing</c:v>
                  </c:pt>
                  <c:pt idx="7">
                    <c:v>Job / lottery / loan</c:v>
                  </c:pt>
                  <c:pt idx="8">
                    <c:v>Fake customer care</c:v>
                  </c:pt>
                  <c:pt idx="9">
                    <c:v>KYC / payment</c:v>
                  </c:pt>
                  <c:pt idx="10">
                    <c:v>Other suspected fraud</c:v>
                  </c:pt>
                </c:lvl>
              </c:multiLvlStrCache>
            </c:multiLvlStrRef>
          </c:cat>
          <c:val>
            <c:numRef>
              <c:f>Sheet1!$C$2:$C$12</c:f>
              <c:numCache>
                <c:formatCode>General</c:formatCode>
                <c:ptCount val="11"/>
                <c:pt idx="0">
                  <c:v>0</c:v>
                </c:pt>
                <c:pt idx="1">
                  <c:v>0</c:v>
                </c:pt>
                <c:pt idx="2">
                  <c:v>0</c:v>
                </c:pt>
                <c:pt idx="3">
                  <c:v>0</c:v>
                </c:pt>
                <c:pt idx="4">
                  <c:v>0</c:v>
                </c:pt>
                <c:pt idx="5">
                  <c:v>0</c:v>
                </c:pt>
                <c:pt idx="6">
                  <c:v>0</c:v>
                </c:pt>
                <c:pt idx="7">
                  <c:v>58560</c:v>
                </c:pt>
                <c:pt idx="8">
                  <c:v>0</c:v>
                </c:pt>
                <c:pt idx="9">
                  <c:v>0</c:v>
                </c:pt>
                <c:pt idx="10">
                  <c:v>0</c:v>
                </c:pt>
              </c:numCache>
            </c:numRef>
          </c:val>
        </c:ser>
        <c:ser>
          <c:idx val="2"/>
          <c:order val="2"/>
          <c:tx>
            <c:strRef>
              <c:f>Sheet1!$D$1</c:f>
              <c:strCache>
                <c:ptCount val="1"/>
                <c:pt idx="0">
                  <c:v>Handled by the general playbook</c:v>
                </c:pt>
              </c:strCache>
            </c:strRef>
          </c:tx>
          <c:spPr>
            <a:solidFill>
              <a:srgbClr val="D0D5DD"/>
            </a:solidFill>
            <a:effectLst/>
          </c:spPr>
          <c:invertIfNegative val="0"/>
          <c:dLbls>
            <c:numFmt formatCode="#,##0;;" sourceLinked="0"/>
            <c:txPr>
              <a:bodyPr/>
              <a:lstStyle/>
              <a:p>
                <a:pPr>
                  <a:defRPr b="0" i="0" strike="noStrike" sz="700" u="none">
                    <a:solidFill>
                      <a:srgbClr val="101828"/>
                    </a:solidFill>
                    <a:latin typeface="+mn-lt"/>
                  </a:defRPr>
                </a:pPr>
              </a:p>
            </c:txPr>
            <c:dLblPos val="inEnd"/>
            <c:showLegendKey val="0"/>
            <c:showVal val="1"/>
            <c:showCatName val="0"/>
            <c:showSerName val="0"/>
            <c:showPercent val="0"/>
            <c:showBubbleSize val="0"/>
            <c:showLeaderLines val="0"/>
          </c:dLbls>
          <c:cat>
            <c:multiLvlStrRef>
              <c:f>Sheet1!$A$2:$A$12</c:f>
              <c:multiLvlStrCache>
                <c:ptCount val="11"/>
                <c:lvl>
                  <c:pt idx="0">
                    <c:v>IVR / robo calls</c:v>
                  </c:pt>
                  <c:pt idx="1">
                    <c:v>DoT / TRAI posing</c:v>
                  </c:pt>
                  <c:pt idx="2">
                    <c:v>Malicious link</c:v>
                  </c:pt>
                  <c:pt idx="3">
                    <c:v>Relative / friend posing</c:v>
                  </c:pt>
                  <c:pt idx="4">
                    <c:v>Sextortion</c:v>
                  </c:pt>
                  <c:pt idx="5">
                    <c:v>Investment / trading</c:v>
                  </c:pt>
                  <c:pt idx="6">
                    <c:v>Police, CBI, RBI posing</c:v>
                  </c:pt>
                  <c:pt idx="7">
                    <c:v>Job / lottery / loan</c:v>
                  </c:pt>
                  <c:pt idx="8">
                    <c:v>Fake customer care</c:v>
                  </c:pt>
                  <c:pt idx="9">
                    <c:v>KYC / payment</c:v>
                  </c:pt>
                  <c:pt idx="10">
                    <c:v>Other suspected fraud</c:v>
                  </c:pt>
                </c:lvl>
              </c:multiLvlStrCache>
            </c:multiLvlStrRef>
          </c:cat>
          <c:val>
            <c:numRef>
              <c:f>Sheet1!$D$2:$D$12</c:f>
              <c:numCache>
                <c:formatCode>General</c:formatCode>
                <c:ptCount val="11"/>
                <c:pt idx="0">
                  <c:v>14925</c:v>
                </c:pt>
                <c:pt idx="1">
                  <c:v>15595</c:v>
                </c:pt>
                <c:pt idx="2">
                  <c:v>19418</c:v>
                </c:pt>
                <c:pt idx="3">
                  <c:v>19564</c:v>
                </c:pt>
                <c:pt idx="4">
                  <c:v>0</c:v>
                </c:pt>
                <c:pt idx="5">
                  <c:v>0</c:v>
                </c:pt>
                <c:pt idx="6">
                  <c:v>0</c:v>
                </c:pt>
                <c:pt idx="7">
                  <c:v>0</c:v>
                </c:pt>
                <c:pt idx="8">
                  <c:v>60985</c:v>
                </c:pt>
                <c:pt idx="9">
                  <c:v>0</c:v>
                </c:pt>
                <c:pt idx="10">
                  <c:v>119164</c:v>
                </c:pt>
              </c:numCache>
            </c:numRef>
          </c:val>
        </c:ser>
        <c:dLbls>
          <c:numFmt formatCode="#,##0;;" sourceLinked="0"/>
          <c:txPr>
            <a:bodyPr/>
            <a:lstStyle/>
            <a:p>
              <a:pPr>
                <a:defRPr b="0" i="0" strike="noStrike" sz="700" u="none">
                  <a:solidFill>
                    <a:srgbClr val="101828"/>
                  </a:solidFill>
                  <a:latin typeface="+mn-lt"/>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700">
              <a:solidFill>
                <a:srgbClr val="47546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call on the left: this is one of our labelled training scenarios. Point out the four things a plain transcript misses. Then the national numbers, all from data.gov.in files we ship with hashes. End on our reading: urgency from facts, emotion as a separate gated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pipeline. Stop on step 6: three engines that are kept apart on purpose. Facts drive triage. Distress is gated by role and can abstain. The Ring Linker turns one call into a search across all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half is feasibility: it already runs, it is feasible technically, operationally and legally, and every push has to pass seven checks. Bottom left: the eight risks we expected and the fix for each. Bottom right: viability, from a single laptop today to the 1930 desk, why it stays cheap, and what we will measure live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by who benefits. The chart ties our playbooks to what citizens actually report: 41% directly, 52% with job offers. The ring on the right is the core idea: one victim call can surface three more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against five real products. Read across the ANVESH column, and note that our synthetic-voice check only asks the officer to verify identity; it never decides someone is lying. Everything marked with a dash simply is not claimed on that product's public site, so we did not claim it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NVESH_TITLED">
    <p:bg>
      <p:bgPr>
        <a:solidFill>
          <a:srgbClr val="FFFFFF"/>
        </a:solidFill>
      </p:bgPr>
    </p:bg>
    <p:spTree>
      <p:nvGrpSpPr>
        <p:cNvPr id="1" name=""/>
        <p:cNvGrpSpPr/>
        <p:nvPr/>
      </p:nvGrpSpPr>
      <p:grpSpPr>
        <a:xfrm>
          <a:off x="0" y="0"/>
          <a:ext cx="0" cy="0"/>
          <a:chOff x="0" y="0"/>
          <a:chExt cx="0" cy="0"/>
        </a:xfrm>
      </p:grpSpPr>
      <p:pic>
        <p:nvPicPr>
          <p:cNvPr id="2" name="Image 0" descr="/mnt/user-data/uploads/anvesh/frontend/public/brand/anvesh-wordmark.png">    </p:cNvPr>
          <p:cNvPicPr>
            <a:picLocks noChangeAspect="1"/>
          </p:cNvPicPr>
          <p:nvPr/>
        </p:nvPicPr>
        <p:blipFill>
          <a:blip r:embed="rId1"/>
          <a:stretch>
            <a:fillRect/>
          </a:stretch>
        </p:blipFill>
        <p:spPr>
          <a:xfrm>
            <a:off x="320040" y="237744"/>
            <a:ext cx="1600200" cy="310896"/>
          </a:xfrm>
          <a:prstGeom prst="rect">
            <a:avLst/>
          </a:prstGeom>
        </p:spPr>
      </p:pic>
      <p:sp>
        <p:nvSpPr>
          <p:cNvPr id="3" name="Text 0"/>
          <p:cNvSpPr/>
          <p:nvPr/>
        </p:nvSpPr>
        <p:spPr>
          <a:xfrm>
            <a:off x="8458200" y="182880"/>
            <a:ext cx="3429000" cy="438912"/>
          </a:xfrm>
          <a:prstGeom prst="rect">
            <a:avLst/>
          </a:prstGeom>
          <a:noFill/>
          <a:ln/>
        </p:spPr>
        <p:txBody>
          <a:bodyPr wrap="square" lIns="0" tIns="0" rIns="0" bIns="0" rtlCol="0" anchor="ctr"/>
          <a:lstStyle/>
          <a:p>
            <a:pPr algn="r" indent="0" marL="0">
              <a:buNone/>
            </a:pPr>
            <a:r>
              <a:rPr lang="en-US" sz="850" dirty="0">
                <a:solidFill>
                  <a:srgbClr val="667085"/>
                </a:solidFill>
                <a:latin typeface="Inter" pitchFamily="34" charset="0"/>
                <a:ea typeface="Inter" pitchFamily="34" charset="-122"/>
                <a:cs typeface="Inter" pitchFamily="34" charset="-120"/>
              </a:rPr>
              <a:t>PS: Real-Time Speech Emotion Analysis</a:t>
            </a:r>
            <a:endParaRPr lang="en-US" sz="850" dirty="0"/>
          </a:p>
          <a:p>
            <a:pPr algn="r" indent="0" marL="0">
              <a:buNone/>
            </a:pPr>
            <a:r>
              <a:rPr lang="en-US" sz="850" dirty="0">
                <a:solidFill>
                  <a:srgbClr val="667085"/>
                </a:solidFill>
                <a:latin typeface="Inter" pitchFamily="34" charset="0"/>
                <a:ea typeface="Inter" pitchFamily="34" charset="-122"/>
                <a:cs typeface="Inter" pitchFamily="34" charset="-120"/>
              </a:rPr>
              <a:t>for Cybercrime Investigation · Cybersecurity</a:t>
            </a:r>
            <a:endParaRPr lang="en-US" sz="850" dirty="0"/>
          </a:p>
        </p:txBody>
      </p:sp>
      <p:sp>
        <p:nvSpPr>
          <p:cNvPr id="4" name="Text 1"/>
          <p:cNvSpPr/>
          <p:nvPr/>
        </p:nvSpPr>
        <p:spPr>
          <a:xfrm>
            <a:off x="320040" y="6583680"/>
            <a:ext cx="4572000" cy="182880"/>
          </a:xfrm>
          <a:prstGeom prst="rect">
            <a:avLst/>
          </a:prstGeom>
          <a:noFill/>
          <a:ln/>
        </p:spPr>
        <p:txBody>
          <a:bodyPr wrap="square" lIns="0" tIns="0" rIns="0" bIns="0" rtlCol="0" anchor="ctr"/>
          <a:lstStyle/>
          <a:p>
            <a:pPr indent="0" marL="0">
              <a:buNone/>
            </a:pPr>
            <a:r>
              <a:rPr lang="en-US" sz="750" dirty="0">
                <a:solidFill>
                  <a:srgbClr val="98A2B3"/>
                </a:solidFill>
                <a:latin typeface="Inter" pitchFamily="34" charset="0"/>
                <a:ea typeface="Inter" pitchFamily="34" charset="-122"/>
                <a:cs typeface="Inter" pitchFamily="34" charset="-120"/>
              </a:rPr>
              <a:t>ANVESH  ·  every call solves more than one case</a:t>
            </a:r>
            <a:endParaRPr lang="en-US" sz="750" dirty="0"/>
          </a:p>
        </p:txBody>
      </p:sp>
      <p:sp>
        <p:nvSpPr>
          <p:cNvPr id="5" name="Text 2"/>
          <p:cNvSpPr/>
          <p:nvPr>
            <p:ph idx="103" type="title" hasCustomPrompt="1"/>
          </p:nvPr>
        </p:nvSpPr>
        <p:spPr>
          <a:xfrm>
            <a:off x="2103120" y="146304"/>
            <a:ext cx="6217920" cy="512064"/>
          </a:xfrm>
          <a:prstGeom prst="rect">
            <a:avLst/>
          </a:prstGeom>
          <a:noFill/>
          <a:ln/>
        </p:spPr>
        <p:txBody>
          <a:bodyPr wrap="square" rtlCol="0"/>
          <a:lstStyle>
            <a:lvl1pPr algn="ctr" indent="0" marL="0">
              <a:buNone/>
              <a:defRPr lang="en-US" sz="2600" b="1" dirty="0">
                <a:solidFill>
                  <a:srgbClr val="101828"/>
                </a:solidFill>
                <a:latin typeface="Inter" pitchFamily="34" charset="0"/>
                <a:ea typeface="Inter" pitchFamily="34" charset="-122"/>
                <a:cs typeface="Inter" pitchFamily="34" charset="-120"/>
              </a:defRPr>
            </a:lvl1pPr>
          </a:lstStyle>
          <a:p>
            <a:pPr algn="ctr" indent="0" marL="0">
              <a:buNone/>
            </a:pPr>
            <a:endParaRPr lang="en-US" sz="26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slideLayout" Target="../slideLayouts/slideLayout2.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3" type="title" hasCustomPrompt="1"/>
          </p:nvPr>
        </p:nvSpPr>
        <p:spPr>
          <a:xfrm>
            <a:off x="2103120" y="146304"/>
            <a:ext cx="6217920" cy="512064"/>
          </a:xfrm>
          <a:prstGeom prst="rect">
            <a:avLst/>
          </a:prstGeom>
          <a:noFill/>
          <a:ln/>
        </p:spPr>
        <p:txBody>
          <a:bodyPr wrap="square" lIns="0" tIns="0" rIns="0" bIns="0" rtlCol="0" anchor="ctr"/>
          <a:lstStyle/>
          <a:p>
            <a:pPr algn="ctr" indent="0" marL="0">
              <a:buNone/>
            </a:pPr>
            <a:r>
              <a:rPr lang="en-US" sz="2600" b="1" dirty="0">
                <a:solidFill>
                  <a:srgbClr val="101828"/>
                </a:solidFill>
                <a:latin typeface="Inter" pitchFamily="34" charset="0"/>
                <a:ea typeface="Inter" pitchFamily="34" charset="-122"/>
                <a:cs typeface="Inter" pitchFamily="34" charset="-120"/>
              </a:rPr>
              <a:t>Problem Statement &amp; Understanding</a:t>
            </a:r>
            <a:endParaRPr lang="en-US" sz="2600" dirty="0"/>
          </a:p>
        </p:txBody>
      </p:sp>
      <p:sp>
        <p:nvSpPr>
          <p:cNvPr id="3" name="Shape 1"/>
          <p:cNvSpPr/>
          <p:nvPr/>
        </p:nvSpPr>
        <p:spPr>
          <a:xfrm>
            <a:off x="320040" y="841248"/>
            <a:ext cx="3749040" cy="2331720"/>
          </a:xfrm>
          <a:prstGeom prst="roundRect">
            <a:avLst>
              <a:gd name="adj" fmla="val 2353"/>
            </a:avLst>
          </a:prstGeom>
          <a:solidFill>
            <a:srgbClr val="101828"/>
          </a:solidFill>
          <a:ln w="9525">
            <a:solidFill>
              <a:srgbClr val="101828"/>
            </a:solidFill>
            <a:prstDash val="solid"/>
          </a:ln>
        </p:spPr>
      </p:sp>
      <p:sp>
        <p:nvSpPr>
          <p:cNvPr id="4" name="Shape 2"/>
          <p:cNvSpPr/>
          <p:nvPr/>
        </p:nvSpPr>
        <p:spPr>
          <a:xfrm>
            <a:off x="502920" y="969264"/>
            <a:ext cx="1325880" cy="219456"/>
          </a:xfrm>
          <a:prstGeom prst="roundRect">
            <a:avLst>
              <a:gd name="adj" fmla="val 33333"/>
            </a:avLst>
          </a:prstGeom>
          <a:solidFill>
            <a:srgbClr val="F97A0F"/>
          </a:solidFill>
          <a:ln w="9525">
            <a:solidFill>
              <a:srgbClr val="F97A0F"/>
            </a:solidFill>
            <a:prstDash val="solid"/>
          </a:ln>
        </p:spPr>
      </p:sp>
      <p:sp>
        <p:nvSpPr>
          <p:cNvPr id="5" name="Text 3"/>
          <p:cNvSpPr txBox="1"/>
          <p:nvPr/>
        </p:nvSpPr>
        <p:spPr>
          <a:xfrm>
            <a:off x="502920" y="969264"/>
            <a:ext cx="1325880"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Inter" pitchFamily="34" charset="0"/>
                <a:ea typeface="Inter" pitchFamily="34" charset="-122"/>
                <a:cs typeface="Inter" pitchFamily="34" charset="-120"/>
              </a:rPr>
              <a:t>PROBLEM STATEMENT</a:t>
            </a:r>
            <a:endParaRPr lang="en-US" sz="750" dirty="0"/>
          </a:p>
        </p:txBody>
      </p:sp>
      <p:sp>
        <p:nvSpPr>
          <p:cNvPr id="6" name="Text 4"/>
          <p:cNvSpPr txBox="1"/>
          <p:nvPr/>
        </p:nvSpPr>
        <p:spPr>
          <a:xfrm>
            <a:off x="502920" y="1261872"/>
            <a:ext cx="3383280" cy="457200"/>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Real-Time Speech Emotion Analysis for Cybercrime Investigation</a:t>
            </a:r>
            <a:endParaRPr lang="en-US" sz="1300" dirty="0"/>
          </a:p>
        </p:txBody>
      </p:sp>
      <p:sp>
        <p:nvSpPr>
          <p:cNvPr id="7" name="Text 5"/>
          <p:cNvSpPr txBox="1"/>
          <p:nvPr/>
        </p:nvSpPr>
        <p:spPr>
          <a:xfrm>
            <a:off x="502920" y="1755648"/>
            <a:ext cx="3383280" cy="1353312"/>
          </a:xfrm>
          <a:prstGeom prst="rect">
            <a:avLst/>
          </a:prstGeom>
          <a:noFill/>
          <a:ln/>
        </p:spPr>
        <p:txBody>
          <a:bodyPr wrap="square" lIns="0" tIns="0" rIns="0" bIns="0" rtlCol="0" anchor="t"/>
          <a:lstStyle/>
          <a:p>
            <a:pPr indent="0" marL="0">
              <a:spcAft>
                <a:spcPts val="400"/>
              </a:spcAft>
              <a:buNone/>
            </a:pPr>
            <a:r>
              <a:rPr lang="en-US" sz="850" dirty="0">
                <a:solidFill>
                  <a:srgbClr val="D0D5DD"/>
                </a:solidFill>
                <a:latin typeface="Inter" pitchFamily="34" charset="0"/>
                <a:ea typeface="Inter" pitchFamily="34" charset="-122"/>
                <a:cs typeface="Inter" pitchFamily="34" charset="-120"/>
              </a:rPr>
              <a:t>Cyber cells take calls from scared victims, informants and people with recordings of suspected fraudsters. While one officer listens, calms the caller, types and judges urgency, signs of fear or distress are easy to miss.</a:t>
            </a:r>
            <a:endParaRPr lang="en-US" sz="850" dirty="0"/>
          </a:p>
          <a:p>
            <a:pPr indent="0" marL="0">
              <a:spcAft>
                <a:spcPts val="400"/>
              </a:spcAft>
              <a:buNone/>
            </a:pPr>
            <a:r>
              <a:rPr lang="en-US" sz="850" dirty="0">
                <a:solidFill>
                  <a:srgbClr val="D0D5DD"/>
                </a:solidFill>
                <a:latin typeface="Inter" pitchFamily="34" charset="0"/>
                <a:ea typeface="Inter" pitchFamily="34" charset="-122"/>
                <a:cs typeface="Inter" pitchFamily="34" charset="-120"/>
              </a:rPr>
              <a:t>Asked for: a speech emotion system for live or recorded calls that spots fear, anger, distress and nervousness, helps rank calls, and keeps every output an </a:t>
            </a:r>
            <a:pPr indent="0" marL="0">
              <a:spcAft>
                <a:spcPts val="400"/>
              </a:spcAft>
              <a:buNone/>
            </a:pPr>
            <a:r>
              <a:rPr lang="en-US" sz="850" b="1" dirty="0">
                <a:solidFill>
                  <a:srgbClr val="FDD4AE"/>
                </a:solidFill>
                <a:latin typeface="Inter" pitchFamily="34" charset="0"/>
                <a:ea typeface="Inter" pitchFamily="34" charset="-122"/>
                <a:cs typeface="Inter" pitchFamily="34" charset="-120"/>
              </a:rPr>
              <a:t>indicative signal, never proof of honesty, intent or guilt.</a:t>
            </a:r>
            <a:endParaRPr lang="en-US" sz="850" dirty="0"/>
          </a:p>
        </p:txBody>
      </p:sp>
      <p:sp>
        <p:nvSpPr>
          <p:cNvPr id="8" name="Shape 6"/>
          <p:cNvSpPr/>
          <p:nvPr/>
        </p:nvSpPr>
        <p:spPr>
          <a:xfrm>
            <a:off x="320040" y="3264408"/>
            <a:ext cx="3749040" cy="2990088"/>
          </a:xfrm>
          <a:prstGeom prst="roundRect">
            <a:avLst>
              <a:gd name="adj" fmla="val 1835"/>
            </a:avLst>
          </a:prstGeom>
          <a:solidFill>
            <a:srgbClr val="FFFFFF"/>
          </a:solidFill>
          <a:ln w="9525">
            <a:solidFill>
              <a:srgbClr val="E4E7EC"/>
            </a:solidFill>
            <a:prstDash val="solid"/>
          </a:ln>
        </p:spPr>
      </p:sp>
      <p:sp>
        <p:nvSpPr>
          <p:cNvPr id="9" name="Text 7"/>
          <p:cNvSpPr txBox="1"/>
          <p:nvPr/>
        </p:nvSpPr>
        <p:spPr>
          <a:xfrm>
            <a:off x="457200" y="3319272"/>
            <a:ext cx="3474720" cy="292608"/>
          </a:xfrm>
          <a:prstGeom prst="rect">
            <a:avLst/>
          </a:prstGeom>
          <a:noFill/>
          <a:ln/>
        </p:spPr>
        <p:txBody>
          <a:bodyPr wrap="square" lIns="0" tIns="0" rIns="0" bIns="0" rtlCol="0" anchor="ctr"/>
          <a:lstStyle/>
          <a:p>
            <a:pPr indent="0" marL="0">
              <a:buNone/>
            </a:pPr>
            <a:r>
              <a:rPr lang="en-US" sz="1150" b="1" dirty="0">
                <a:solidFill>
                  <a:srgbClr val="101828"/>
                </a:solidFill>
                <a:latin typeface="Inter" pitchFamily="34" charset="0"/>
                <a:ea typeface="Inter" pitchFamily="34" charset="-122"/>
                <a:cs typeface="Inter" pitchFamily="34" charset="-120"/>
              </a:rPr>
              <a:t>What a fraud call actually sounds like</a:t>
            </a:r>
            <a:endParaRPr lang="en-US" sz="1150" dirty="0"/>
          </a:p>
        </p:txBody>
      </p:sp>
      <p:sp>
        <p:nvSpPr>
          <p:cNvPr id="10" name="Text 8"/>
          <p:cNvSpPr txBox="1"/>
          <p:nvPr/>
        </p:nvSpPr>
        <p:spPr>
          <a:xfrm>
            <a:off x="457200" y="3593592"/>
            <a:ext cx="3474720" cy="182880"/>
          </a:xfrm>
          <a:prstGeom prst="rect">
            <a:avLst/>
          </a:prstGeom>
          <a:noFill/>
          <a:ln/>
        </p:spPr>
        <p:txBody>
          <a:bodyPr wrap="square" lIns="0" tIns="0" rIns="0" bIns="0" rtlCol="0" anchor="t"/>
          <a:lstStyle/>
          <a:p>
            <a:pPr indent="0" marL="0">
              <a:buNone/>
            </a:pPr>
            <a:r>
              <a:rPr lang="en-US" sz="750" i="1" dirty="0">
                <a:solidFill>
                  <a:srgbClr val="667085"/>
                </a:solidFill>
                <a:latin typeface="Inter" pitchFamily="34" charset="0"/>
                <a:ea typeface="Inter" pitchFamily="34" charset="-122"/>
                <a:cs typeface="Inter" pitchFamily="34" charset="-120"/>
              </a:rPr>
              <a:t>Training scenario AV-2026-T0001 (scripted, labelled synthetic)</a:t>
            </a:r>
            <a:endParaRPr lang="en-US" sz="750" dirty="0"/>
          </a:p>
        </p:txBody>
      </p:sp>
      <p:sp>
        <p:nvSpPr>
          <p:cNvPr id="11" name="Text 9"/>
          <p:cNvSpPr txBox="1"/>
          <p:nvPr/>
        </p:nvSpPr>
        <p:spPr>
          <a:xfrm>
            <a:off x="457200" y="3813048"/>
            <a:ext cx="685800" cy="274320"/>
          </a:xfrm>
          <a:prstGeom prst="rect">
            <a:avLst/>
          </a:prstGeom>
          <a:noFill/>
          <a:ln/>
        </p:spPr>
        <p:txBody>
          <a:bodyPr wrap="square" lIns="0" tIns="0" rIns="0" bIns="0" rtlCol="0" anchor="t"/>
          <a:lstStyle/>
          <a:p>
            <a:pPr indent="0" marL="0">
              <a:buNone/>
            </a:pPr>
            <a:r>
              <a:rPr lang="en-US" sz="750" b="1" dirty="0">
                <a:solidFill>
                  <a:srgbClr val="475467"/>
                </a:solidFill>
                <a:latin typeface="Inter" pitchFamily="34" charset="0"/>
                <a:ea typeface="Inter" pitchFamily="34" charset="-122"/>
                <a:cs typeface="Inter" pitchFamily="34" charset="-120"/>
              </a:rPr>
              <a:t>Caller </a:t>
            </a:r>
            <a:pPr indent="0" marL="0">
              <a:buNone/>
            </a:pPr>
            <a:r>
              <a:rPr lang="en-US" sz="750" dirty="0">
                <a:solidFill>
                  <a:srgbClr val="667085"/>
                </a:solidFill>
                <a:latin typeface="Inter" pitchFamily="34" charset="0"/>
                <a:ea typeface="Inter" pitchFamily="34" charset="-122"/>
                <a:cs typeface="Inter" pitchFamily="34" charset="-120"/>
              </a:rPr>
              <a:t>00:02</a:t>
            </a:r>
            <a:endParaRPr lang="en-US" sz="750" dirty="0"/>
          </a:p>
        </p:txBody>
      </p:sp>
      <p:sp>
        <p:nvSpPr>
          <p:cNvPr id="12" name="Text 10"/>
          <p:cNvSpPr txBox="1"/>
          <p:nvPr/>
        </p:nvSpPr>
        <p:spPr>
          <a:xfrm>
            <a:off x="1161288" y="3813048"/>
            <a:ext cx="2770632" cy="493776"/>
          </a:xfrm>
          <a:prstGeom prst="rect">
            <a:avLst/>
          </a:prstGeom>
          <a:noFill/>
          <a:ln/>
        </p:spPr>
        <p:txBody>
          <a:bodyPr wrap="square" lIns="0" tIns="0" rIns="0" bIns="0" rtlCol="0" anchor="t"/>
          <a:lstStyle/>
          <a:p>
            <a:pPr indent="0" marL="0">
              <a:buNone/>
            </a:pPr>
            <a:r>
              <a:rPr lang="en-US" sz="850" dirty="0">
                <a:solidFill>
                  <a:srgbClr val="101828"/>
                </a:solidFill>
                <a:latin typeface="Inter" pitchFamily="34" charset="0"/>
                <a:ea typeface="Inter" pitchFamily="34" charset="-122"/>
                <a:cs typeface="Inter" pitchFamily="34" charset="-120"/>
              </a:rPr>
              <a:t>Sir mujhe ek call aaya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nau eight seven six five four three two one zero</a:t>
            </a:r>
            <a:pPr indent="0" marL="0">
              <a:buNone/>
            </a:pPr>
            <a:r>
              <a:rPr lang="en-US" sz="850" dirty="0">
                <a:solidFill>
                  <a:srgbClr val="101828"/>
                </a:solidFill>
                <a:latin typeface="Inter" pitchFamily="34" charset="0"/>
                <a:ea typeface="Inter" pitchFamily="34" charset="-122"/>
                <a:cs typeface="Inter" pitchFamily="34" charset="-120"/>
              </a:rPr>
              <a:t> se, bole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CBI</a:t>
            </a:r>
            <a:pPr indent="0" marL="0">
              <a:buNone/>
            </a:pPr>
            <a:r>
              <a:rPr lang="en-US" sz="850" dirty="0">
                <a:solidFill>
                  <a:srgbClr val="101828"/>
                </a:solidFill>
                <a:latin typeface="Inter" pitchFamily="34" charset="0"/>
                <a:ea typeface="Inter" pitchFamily="34" charset="-122"/>
                <a:cs typeface="Inter" pitchFamily="34" charset="-120"/>
              </a:rPr>
              <a:t> se hain, mere naam pe </a:t>
            </a:r>
            <a:pPr indent="0" marL="0">
              <a:buNone/>
            </a:pPr>
            <a:r>
              <a:rPr lang="en-US" sz="850" dirty="0">
                <a:solidFill>
                  <a:srgbClr val="101828"/>
                </a:solidFill>
                <a:highlight>
                  <a:srgbClr val="FFD6D1"/>
                </a:highlight>
                <a:latin typeface="Inter" pitchFamily="34" charset="0"/>
                <a:ea typeface="Inter" pitchFamily="34" charset="-122"/>
                <a:cs typeface="Inter" pitchFamily="34" charset="-120"/>
              </a:rPr>
              <a:t>parcel mein drugs</a:t>
            </a:r>
            <a:pPr indent="0" marL="0">
              <a:buNone/>
            </a:pPr>
            <a:r>
              <a:rPr lang="en-US" sz="850" dirty="0">
                <a:solidFill>
                  <a:srgbClr val="101828"/>
                </a:solidFill>
                <a:latin typeface="Inter" pitchFamily="34" charset="0"/>
                <a:ea typeface="Inter" pitchFamily="34" charset="-122"/>
                <a:cs typeface="Inter" pitchFamily="34" charset="-120"/>
              </a:rPr>
              <a:t> mile hain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customs</a:t>
            </a:r>
            <a:pPr indent="0" marL="0">
              <a:buNone/>
            </a:pPr>
            <a:r>
              <a:rPr lang="en-US" sz="850" dirty="0">
                <a:solidFill>
                  <a:srgbClr val="101828"/>
                </a:solidFill>
                <a:latin typeface="Inter" pitchFamily="34" charset="0"/>
                <a:ea typeface="Inter" pitchFamily="34" charset="-122"/>
                <a:cs typeface="Inter" pitchFamily="34" charset="-120"/>
              </a:rPr>
              <a:t> mein</a:t>
            </a:r>
            <a:endParaRPr lang="en-US" sz="850" dirty="0"/>
          </a:p>
        </p:txBody>
      </p:sp>
      <p:sp>
        <p:nvSpPr>
          <p:cNvPr id="13" name="Text 11"/>
          <p:cNvSpPr txBox="1"/>
          <p:nvPr/>
        </p:nvSpPr>
        <p:spPr>
          <a:xfrm>
            <a:off x="457200" y="4343400"/>
            <a:ext cx="685800" cy="274320"/>
          </a:xfrm>
          <a:prstGeom prst="rect">
            <a:avLst/>
          </a:prstGeom>
          <a:noFill/>
          <a:ln/>
        </p:spPr>
        <p:txBody>
          <a:bodyPr wrap="square" lIns="0" tIns="0" rIns="0" bIns="0" rtlCol="0" anchor="t"/>
          <a:lstStyle/>
          <a:p>
            <a:pPr indent="0" marL="0">
              <a:buNone/>
            </a:pPr>
            <a:r>
              <a:rPr lang="en-US" sz="750" b="1" dirty="0">
                <a:solidFill>
                  <a:srgbClr val="475467"/>
                </a:solidFill>
                <a:latin typeface="Inter" pitchFamily="34" charset="0"/>
                <a:ea typeface="Inter" pitchFamily="34" charset="-122"/>
                <a:cs typeface="Inter" pitchFamily="34" charset="-120"/>
              </a:rPr>
              <a:t>Caller </a:t>
            </a:r>
            <a:pPr indent="0" marL="0">
              <a:buNone/>
            </a:pPr>
            <a:r>
              <a:rPr lang="en-US" sz="750" dirty="0">
                <a:solidFill>
                  <a:srgbClr val="667085"/>
                </a:solidFill>
                <a:latin typeface="Inter" pitchFamily="34" charset="0"/>
                <a:ea typeface="Inter" pitchFamily="34" charset="-122"/>
                <a:cs typeface="Inter" pitchFamily="34" charset="-120"/>
              </a:rPr>
              <a:t>00:13</a:t>
            </a:r>
            <a:endParaRPr lang="en-US" sz="750" dirty="0"/>
          </a:p>
        </p:txBody>
      </p:sp>
      <p:sp>
        <p:nvSpPr>
          <p:cNvPr id="14" name="Text 12"/>
          <p:cNvSpPr txBox="1"/>
          <p:nvPr/>
        </p:nvSpPr>
        <p:spPr>
          <a:xfrm>
            <a:off x="1161288" y="4343400"/>
            <a:ext cx="2770632" cy="347472"/>
          </a:xfrm>
          <a:prstGeom prst="rect">
            <a:avLst/>
          </a:prstGeom>
          <a:noFill/>
          <a:ln/>
        </p:spPr>
        <p:txBody>
          <a:bodyPr wrap="square" lIns="0" tIns="0" rIns="0" bIns="0" rtlCol="0" anchor="t"/>
          <a:lstStyle/>
          <a:p>
            <a:pPr indent="0" marL="0">
              <a:buNone/>
            </a:pPr>
            <a:r>
              <a:rPr lang="en-US" sz="850" dirty="0">
                <a:solidFill>
                  <a:srgbClr val="101828"/>
                </a:solidFill>
                <a:latin typeface="Inter" pitchFamily="34" charset="0"/>
                <a:ea typeface="Inter" pitchFamily="34" charset="-122"/>
                <a:cs typeface="Inter" pitchFamily="34" charset="-120"/>
              </a:rPr>
              <a:t>unhone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video call</a:t>
            </a:r>
            <a:pPr indent="0" marL="0">
              <a:buNone/>
            </a:pPr>
            <a:r>
              <a:rPr lang="en-US" sz="850" dirty="0">
                <a:solidFill>
                  <a:srgbClr val="101828"/>
                </a:solidFill>
                <a:latin typeface="Inter" pitchFamily="34" charset="0"/>
                <a:ea typeface="Inter" pitchFamily="34" charset="-122"/>
                <a:cs typeface="Inter" pitchFamily="34" charset="-120"/>
              </a:rPr>
              <a:t> pe rakha aur bola </a:t>
            </a:r>
            <a:pPr indent="0" marL="0">
              <a:buNone/>
            </a:pPr>
            <a:r>
              <a:rPr lang="en-US" sz="850" dirty="0">
                <a:solidFill>
                  <a:srgbClr val="101828"/>
                </a:solidFill>
                <a:highlight>
                  <a:srgbClr val="FFD6D1"/>
                </a:highlight>
                <a:latin typeface="Inter" pitchFamily="34" charset="0"/>
                <a:ea typeface="Inter" pitchFamily="34" charset="-122"/>
                <a:cs typeface="Inter" pitchFamily="34" charset="-120"/>
              </a:rPr>
              <a:t>kisi ko mat batana</a:t>
            </a:r>
            <a:pPr indent="0" marL="0">
              <a:buNone/>
            </a:pPr>
            <a:r>
              <a:rPr lang="en-US" sz="850" dirty="0">
                <a:solidFill>
                  <a:srgbClr val="101828"/>
                </a:solidFill>
                <a:latin typeface="Inter" pitchFamily="34" charset="0"/>
                <a:ea typeface="Inter" pitchFamily="34" charset="-122"/>
                <a:cs typeface="Inter" pitchFamily="34" charset="-120"/>
              </a:rPr>
              <a:t>, warna arrest kar lenge</a:t>
            </a:r>
            <a:endParaRPr lang="en-US" sz="850" dirty="0"/>
          </a:p>
        </p:txBody>
      </p:sp>
      <p:sp>
        <p:nvSpPr>
          <p:cNvPr id="15" name="Text 13"/>
          <p:cNvSpPr txBox="1"/>
          <p:nvPr/>
        </p:nvSpPr>
        <p:spPr>
          <a:xfrm>
            <a:off x="457200" y="4727448"/>
            <a:ext cx="685800" cy="274320"/>
          </a:xfrm>
          <a:prstGeom prst="rect">
            <a:avLst/>
          </a:prstGeom>
          <a:noFill/>
          <a:ln/>
        </p:spPr>
        <p:txBody>
          <a:bodyPr wrap="square" lIns="0" tIns="0" rIns="0" bIns="0" rtlCol="0" anchor="t"/>
          <a:lstStyle/>
          <a:p>
            <a:pPr indent="0" marL="0">
              <a:buNone/>
            </a:pPr>
            <a:r>
              <a:rPr lang="en-US" sz="750" b="1" dirty="0">
                <a:solidFill>
                  <a:srgbClr val="475467"/>
                </a:solidFill>
                <a:latin typeface="Inter" pitchFamily="34" charset="0"/>
                <a:ea typeface="Inter" pitchFamily="34" charset="-122"/>
                <a:cs typeface="Inter" pitchFamily="34" charset="-120"/>
              </a:rPr>
              <a:t>Caller </a:t>
            </a:r>
            <a:pPr indent="0" marL="0">
              <a:buNone/>
            </a:pPr>
            <a:r>
              <a:rPr lang="en-US" sz="750" dirty="0">
                <a:solidFill>
                  <a:srgbClr val="667085"/>
                </a:solidFill>
                <a:latin typeface="Inter" pitchFamily="34" charset="0"/>
                <a:ea typeface="Inter" pitchFamily="34" charset="-122"/>
                <a:cs typeface="Inter" pitchFamily="34" charset="-120"/>
              </a:rPr>
              <a:t>00:19</a:t>
            </a:r>
            <a:endParaRPr lang="en-US" sz="750" dirty="0"/>
          </a:p>
        </p:txBody>
      </p:sp>
      <p:sp>
        <p:nvSpPr>
          <p:cNvPr id="16" name="Text 14"/>
          <p:cNvSpPr txBox="1"/>
          <p:nvPr/>
        </p:nvSpPr>
        <p:spPr>
          <a:xfrm>
            <a:off x="1161288" y="4727448"/>
            <a:ext cx="2770632" cy="347472"/>
          </a:xfrm>
          <a:prstGeom prst="rect">
            <a:avLst/>
          </a:prstGeom>
          <a:noFill/>
          <a:ln/>
        </p:spPr>
        <p:txBody>
          <a:bodyPr wrap="square" lIns="0" tIns="0" rIns="0" bIns="0" rtlCol="0" anchor="t"/>
          <a:lstStyle/>
          <a:p>
            <a:pPr indent="0" marL="0">
              <a:buNone/>
            </a:pPr>
            <a:r>
              <a:rPr lang="en-US" sz="850" dirty="0">
                <a:solidFill>
                  <a:srgbClr val="101828"/>
                </a:solidFill>
                <a:latin typeface="Inter" pitchFamily="34" charset="0"/>
                <a:ea typeface="Inter" pitchFamily="34" charset="-122"/>
                <a:cs typeface="Inter" pitchFamily="34" charset="-120"/>
              </a:rPr>
              <a:t>maine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dedh lakh</a:t>
            </a:r>
            <a:pPr indent="0" marL="0">
              <a:buNone/>
            </a:pPr>
            <a:r>
              <a:rPr lang="en-US" sz="850" dirty="0">
                <a:solidFill>
                  <a:srgbClr val="101828"/>
                </a:solidFill>
                <a:latin typeface="Inter" pitchFamily="34" charset="0"/>
                <a:ea typeface="Inter" pitchFamily="34" charset="-122"/>
                <a:cs typeface="Inter" pitchFamily="34" charset="-120"/>
              </a:rPr>
              <a:t> rupaye bhej diye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cbi.verification at the rate ybl</a:t>
            </a:r>
            <a:pPr indent="0" marL="0">
              <a:buNone/>
            </a:pPr>
            <a:r>
              <a:rPr lang="en-US" sz="850" dirty="0">
                <a:solidFill>
                  <a:srgbClr val="101828"/>
                </a:solidFill>
                <a:latin typeface="Inter" pitchFamily="34" charset="0"/>
                <a:ea typeface="Inter" pitchFamily="34" charset="-122"/>
                <a:cs typeface="Inter" pitchFamily="34" charset="-120"/>
              </a:rPr>
              <a:t> pe,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State Bank</a:t>
            </a:r>
            <a:pPr indent="0" marL="0">
              <a:buNone/>
            </a:pPr>
            <a:r>
              <a:rPr lang="en-US" sz="850" dirty="0">
                <a:solidFill>
                  <a:srgbClr val="101828"/>
                </a:solidFill>
                <a:latin typeface="Inter" pitchFamily="34" charset="0"/>
                <a:ea typeface="Inter" pitchFamily="34" charset="-122"/>
                <a:cs typeface="Inter" pitchFamily="34" charset="-120"/>
              </a:rPr>
              <a:t> se, </a:t>
            </a:r>
            <a:pPr indent="0" marL="0">
              <a:buNone/>
            </a:pPr>
            <a:r>
              <a:rPr lang="en-US" sz="850" dirty="0">
                <a:solidFill>
                  <a:srgbClr val="101828"/>
                </a:solidFill>
                <a:highlight>
                  <a:srgbClr val="FFE3C4"/>
                </a:highlight>
                <a:latin typeface="Inter" pitchFamily="34" charset="0"/>
                <a:ea typeface="Inter" pitchFamily="34" charset="-122"/>
                <a:cs typeface="Inter" pitchFamily="34" charset="-120"/>
              </a:rPr>
              <a:t>aadha ghanta pehle</a:t>
            </a:r>
            <a:endParaRPr lang="en-US" sz="850" dirty="0"/>
          </a:p>
        </p:txBody>
      </p:sp>
      <p:sp>
        <p:nvSpPr>
          <p:cNvPr id="17" name="Text 15"/>
          <p:cNvSpPr txBox="1"/>
          <p:nvPr/>
        </p:nvSpPr>
        <p:spPr>
          <a:xfrm>
            <a:off x="457200" y="5111496"/>
            <a:ext cx="685800" cy="274320"/>
          </a:xfrm>
          <a:prstGeom prst="rect">
            <a:avLst/>
          </a:prstGeom>
          <a:noFill/>
          <a:ln/>
        </p:spPr>
        <p:txBody>
          <a:bodyPr wrap="square" lIns="0" tIns="0" rIns="0" bIns="0" rtlCol="0" anchor="t"/>
          <a:lstStyle/>
          <a:p>
            <a:pPr indent="0" marL="0">
              <a:buNone/>
            </a:pPr>
            <a:r>
              <a:rPr lang="en-US" sz="750" b="1" dirty="0">
                <a:solidFill>
                  <a:srgbClr val="475467"/>
                </a:solidFill>
                <a:latin typeface="Inter" pitchFamily="34" charset="0"/>
                <a:ea typeface="Inter" pitchFamily="34" charset="-122"/>
                <a:cs typeface="Inter" pitchFamily="34" charset="-120"/>
              </a:rPr>
              <a:t>Caller </a:t>
            </a:r>
            <a:pPr indent="0" marL="0">
              <a:buNone/>
            </a:pPr>
            <a:r>
              <a:rPr lang="en-US" sz="750" dirty="0">
                <a:solidFill>
                  <a:srgbClr val="667085"/>
                </a:solidFill>
                <a:latin typeface="Inter" pitchFamily="34" charset="0"/>
                <a:ea typeface="Inter" pitchFamily="34" charset="-122"/>
                <a:cs typeface="Inter" pitchFamily="34" charset="-120"/>
              </a:rPr>
              <a:t>00:27</a:t>
            </a:r>
            <a:endParaRPr lang="en-US" sz="750" dirty="0"/>
          </a:p>
        </p:txBody>
      </p:sp>
      <p:sp>
        <p:nvSpPr>
          <p:cNvPr id="18" name="Text 16"/>
          <p:cNvSpPr txBox="1"/>
          <p:nvPr/>
        </p:nvSpPr>
        <p:spPr>
          <a:xfrm>
            <a:off x="1161288" y="5111496"/>
            <a:ext cx="2770632" cy="182880"/>
          </a:xfrm>
          <a:prstGeom prst="rect">
            <a:avLst/>
          </a:prstGeom>
          <a:noFill/>
          <a:ln/>
        </p:spPr>
        <p:txBody>
          <a:bodyPr wrap="square" lIns="0" tIns="0" rIns="0" bIns="0" rtlCol="0" anchor="t"/>
          <a:lstStyle/>
          <a:p>
            <a:pPr indent="0" marL="0">
              <a:buNone/>
            </a:pPr>
            <a:r>
              <a:rPr lang="en-US" sz="850" dirty="0">
                <a:solidFill>
                  <a:srgbClr val="101828"/>
                </a:solidFill>
                <a:latin typeface="Inter" pitchFamily="34" charset="0"/>
                <a:ea typeface="Inter" pitchFamily="34" charset="-122"/>
                <a:cs typeface="Inter" pitchFamily="34" charset="-120"/>
              </a:rPr>
              <a:t>sir </a:t>
            </a:r>
            <a:pPr indent="0" marL="0">
              <a:buNone/>
            </a:pPr>
            <a:r>
              <a:rPr lang="en-US" sz="850" dirty="0">
                <a:solidFill>
                  <a:srgbClr val="101828"/>
                </a:solidFill>
                <a:highlight>
                  <a:srgbClr val="FFD6D1"/>
                </a:highlight>
                <a:latin typeface="Inter" pitchFamily="34" charset="0"/>
                <a:ea typeface="Inter" pitchFamily="34" charset="-122"/>
                <a:cs typeface="Inter" pitchFamily="34" charset="-120"/>
              </a:rPr>
              <a:t>abhi bhi video call pe hain</a:t>
            </a:r>
            <a:pPr indent="0" marL="0">
              <a:buNone/>
            </a:pPr>
            <a:r>
              <a:rPr lang="en-US" sz="850" dirty="0">
                <a:solidFill>
                  <a:srgbClr val="101828"/>
                </a:solidFill>
                <a:latin typeface="Inter" pitchFamily="34" charset="0"/>
                <a:ea typeface="Inter" pitchFamily="34" charset="-122"/>
                <a:cs typeface="Inter" pitchFamily="34" charset="-120"/>
              </a:rPr>
              <a:t> woh, please help</a:t>
            </a:r>
            <a:endParaRPr lang="en-US" sz="850" dirty="0"/>
          </a:p>
        </p:txBody>
      </p:sp>
      <p:sp>
        <p:nvSpPr>
          <p:cNvPr id="19" name="Shape 17"/>
          <p:cNvSpPr/>
          <p:nvPr/>
        </p:nvSpPr>
        <p:spPr>
          <a:xfrm>
            <a:off x="457200" y="5431536"/>
            <a:ext cx="1691640" cy="365760"/>
          </a:xfrm>
          <a:prstGeom prst="roundRect">
            <a:avLst>
              <a:gd name="adj" fmla="val 15000"/>
            </a:avLst>
          </a:prstGeom>
          <a:solidFill>
            <a:srgbClr val="FFF4EA"/>
          </a:solidFill>
          <a:ln w="9525">
            <a:solidFill>
              <a:srgbClr val="FFF4EA"/>
            </a:solidFill>
            <a:prstDash val="solid"/>
          </a:ln>
        </p:spPr>
      </p:sp>
      <p:sp>
        <p:nvSpPr>
          <p:cNvPr id="20" name="Text 18"/>
          <p:cNvSpPr txBox="1"/>
          <p:nvPr/>
        </p:nvSpPr>
        <p:spPr>
          <a:xfrm>
            <a:off x="530352" y="5458968"/>
            <a:ext cx="1572768" cy="329184"/>
          </a:xfrm>
          <a:prstGeom prst="rect">
            <a:avLst/>
          </a:prstGeom>
          <a:noFill/>
          <a:ln/>
        </p:spPr>
        <p:txBody>
          <a:bodyPr wrap="square" lIns="0" tIns="0" rIns="0" bIns="0" rtlCol="0" anchor="ctr"/>
          <a:lstStyle/>
          <a:p>
            <a:pPr indent="0" marL="0">
              <a:buNone/>
            </a:pPr>
            <a:r>
              <a:rPr lang="en-US" sz="800" b="1" dirty="0">
                <a:solidFill>
                  <a:srgbClr val="C2570C"/>
                </a:solidFill>
                <a:latin typeface="Inter" pitchFamily="34" charset="0"/>
                <a:ea typeface="Inter" pitchFamily="34" charset="-122"/>
                <a:cs typeface="Inter" pitchFamily="34" charset="-120"/>
              </a:rPr>
              <a:t>Money said in words</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dedh lakh = ₹1,50,000</a:t>
            </a:r>
            <a:endParaRPr lang="en-US" sz="950" dirty="0"/>
          </a:p>
        </p:txBody>
      </p:sp>
      <p:sp>
        <p:nvSpPr>
          <p:cNvPr id="21" name="Shape 19"/>
          <p:cNvSpPr/>
          <p:nvPr/>
        </p:nvSpPr>
        <p:spPr>
          <a:xfrm>
            <a:off x="2212848" y="5431536"/>
            <a:ext cx="1691640" cy="365760"/>
          </a:xfrm>
          <a:prstGeom prst="roundRect">
            <a:avLst>
              <a:gd name="adj" fmla="val 15000"/>
            </a:avLst>
          </a:prstGeom>
          <a:solidFill>
            <a:srgbClr val="FFF4EA"/>
          </a:solidFill>
          <a:ln w="9525">
            <a:solidFill>
              <a:srgbClr val="FFF4EA"/>
            </a:solidFill>
            <a:prstDash val="solid"/>
          </a:ln>
        </p:spPr>
      </p:sp>
      <p:sp>
        <p:nvSpPr>
          <p:cNvPr id="22" name="Text 20"/>
          <p:cNvSpPr txBox="1"/>
          <p:nvPr/>
        </p:nvSpPr>
        <p:spPr>
          <a:xfrm>
            <a:off x="2286000" y="5458968"/>
            <a:ext cx="1572768" cy="329184"/>
          </a:xfrm>
          <a:prstGeom prst="rect">
            <a:avLst/>
          </a:prstGeom>
          <a:noFill/>
          <a:ln/>
        </p:spPr>
        <p:txBody>
          <a:bodyPr wrap="square" lIns="0" tIns="0" rIns="0" bIns="0" rtlCol="0" anchor="ctr"/>
          <a:lstStyle/>
          <a:p>
            <a:pPr indent="0" marL="0">
              <a:buNone/>
            </a:pPr>
            <a:r>
              <a:rPr lang="en-US" sz="800" b="1" dirty="0">
                <a:solidFill>
                  <a:srgbClr val="C2570C"/>
                </a:solidFill>
                <a:latin typeface="Inter" pitchFamily="34" charset="0"/>
                <a:ea typeface="Inter" pitchFamily="34" charset="-122"/>
                <a:cs typeface="Inter" pitchFamily="34" charset="-120"/>
              </a:rPr>
              <a:t>Number in two languages</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nau eight seven… = 98765…</a:t>
            </a:r>
            <a:endParaRPr lang="en-US" sz="950" dirty="0"/>
          </a:p>
        </p:txBody>
      </p:sp>
      <p:sp>
        <p:nvSpPr>
          <p:cNvPr id="23" name="Shape 21"/>
          <p:cNvSpPr/>
          <p:nvPr/>
        </p:nvSpPr>
        <p:spPr>
          <a:xfrm>
            <a:off x="457200" y="5843016"/>
            <a:ext cx="1691640" cy="365760"/>
          </a:xfrm>
          <a:prstGeom prst="roundRect">
            <a:avLst>
              <a:gd name="adj" fmla="val 15000"/>
            </a:avLst>
          </a:prstGeom>
          <a:solidFill>
            <a:srgbClr val="FFF4EA"/>
          </a:solidFill>
          <a:ln w="9525">
            <a:solidFill>
              <a:srgbClr val="FFF4EA"/>
            </a:solidFill>
            <a:prstDash val="solid"/>
          </a:ln>
        </p:spPr>
      </p:sp>
      <p:sp>
        <p:nvSpPr>
          <p:cNvPr id="24" name="Text 22"/>
          <p:cNvSpPr txBox="1"/>
          <p:nvPr/>
        </p:nvSpPr>
        <p:spPr>
          <a:xfrm>
            <a:off x="530352" y="5870448"/>
            <a:ext cx="1572768" cy="329184"/>
          </a:xfrm>
          <a:prstGeom prst="rect">
            <a:avLst/>
          </a:prstGeom>
          <a:noFill/>
          <a:ln/>
        </p:spPr>
        <p:txBody>
          <a:bodyPr wrap="square" lIns="0" tIns="0" rIns="0" bIns="0" rtlCol="0" anchor="ctr"/>
          <a:lstStyle/>
          <a:p>
            <a:pPr indent="0" marL="0">
              <a:buNone/>
            </a:pPr>
            <a:r>
              <a:rPr lang="en-US" sz="800" b="1" dirty="0">
                <a:solidFill>
                  <a:srgbClr val="C2570C"/>
                </a:solidFill>
                <a:latin typeface="Inter" pitchFamily="34" charset="0"/>
                <a:ea typeface="Inter" pitchFamily="34" charset="-122"/>
                <a:cs typeface="Inter" pitchFamily="34" charset="-120"/>
              </a:rPr>
              <a:t>UPI ID spelled aloud</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at the rate ybl = @ybl</a:t>
            </a:r>
            <a:endParaRPr lang="en-US" sz="950" dirty="0"/>
          </a:p>
        </p:txBody>
      </p:sp>
      <p:sp>
        <p:nvSpPr>
          <p:cNvPr id="25" name="Shape 23"/>
          <p:cNvSpPr/>
          <p:nvPr/>
        </p:nvSpPr>
        <p:spPr>
          <a:xfrm>
            <a:off x="2212848" y="5843016"/>
            <a:ext cx="1691640" cy="365760"/>
          </a:xfrm>
          <a:prstGeom prst="roundRect">
            <a:avLst>
              <a:gd name="adj" fmla="val 15000"/>
            </a:avLst>
          </a:prstGeom>
          <a:solidFill>
            <a:srgbClr val="FEF3F2"/>
          </a:solidFill>
          <a:ln w="9525">
            <a:solidFill>
              <a:srgbClr val="FEF3F2"/>
            </a:solidFill>
            <a:prstDash val="solid"/>
          </a:ln>
        </p:spPr>
      </p:sp>
      <p:sp>
        <p:nvSpPr>
          <p:cNvPr id="26" name="Text 24"/>
          <p:cNvSpPr txBox="1"/>
          <p:nvPr/>
        </p:nvSpPr>
        <p:spPr>
          <a:xfrm>
            <a:off x="2286000" y="5870448"/>
            <a:ext cx="1572768" cy="329184"/>
          </a:xfrm>
          <a:prstGeom prst="rect">
            <a:avLst/>
          </a:prstGeom>
          <a:noFill/>
          <a:ln/>
        </p:spPr>
        <p:txBody>
          <a:bodyPr wrap="square" lIns="0" tIns="0" rIns="0" bIns="0" rtlCol="0" anchor="ctr"/>
          <a:lstStyle/>
          <a:p>
            <a:pPr indent="0" marL="0">
              <a:buNone/>
            </a:pPr>
            <a:r>
              <a:rPr lang="en-US" sz="800" b="1" dirty="0">
                <a:solidFill>
                  <a:srgbClr val="B42318"/>
                </a:solidFill>
                <a:latin typeface="Inter" pitchFamily="34" charset="0"/>
                <a:ea typeface="Inter" pitchFamily="34" charset="-122"/>
                <a:cs typeface="Inter" pitchFamily="34" charset="-120"/>
              </a:rPr>
              <a:t>Victim still on the call</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possible active coercion</a:t>
            </a:r>
            <a:endParaRPr lang="en-US" sz="950" dirty="0"/>
          </a:p>
        </p:txBody>
      </p:sp>
      <p:sp>
        <p:nvSpPr>
          <p:cNvPr id="27" name="Text 25"/>
          <p:cNvSpPr txBox="1"/>
          <p:nvPr/>
        </p:nvSpPr>
        <p:spPr>
          <a:xfrm>
            <a:off x="4224528" y="841248"/>
            <a:ext cx="3886200" cy="274320"/>
          </a:xfrm>
          <a:prstGeom prst="rect">
            <a:avLst/>
          </a:prstGeom>
          <a:noFill/>
          <a:ln/>
        </p:spPr>
        <p:txBody>
          <a:bodyPr wrap="square" lIns="0" tIns="0" rIns="0" bIns="0" rtlCol="0" anchor="ctr"/>
          <a:lstStyle/>
          <a:p>
            <a:pPr indent="0" marL="0">
              <a:buNone/>
            </a:pPr>
            <a:r>
              <a:rPr lang="en-US" sz="1150" b="1" dirty="0">
                <a:solidFill>
                  <a:srgbClr val="101828"/>
                </a:solidFill>
                <a:latin typeface="Inter" pitchFamily="34" charset="0"/>
                <a:ea typeface="Inter" pitchFamily="34" charset="-122"/>
                <a:cs typeface="Inter" pitchFamily="34" charset="-120"/>
              </a:rPr>
              <a:t>How big this is</a:t>
            </a:r>
            <a:pPr indent="0" marL="0">
              <a:buNone/>
            </a:pPr>
            <a:r>
              <a:rPr lang="en-US" sz="850" dirty="0">
                <a:solidFill>
                  <a:srgbClr val="667085"/>
                </a:solidFill>
                <a:latin typeface="Inter" pitchFamily="34" charset="0"/>
                <a:ea typeface="Inter" pitchFamily="34" charset="-122"/>
                <a:cs typeface="Inter" pitchFamily="34" charset="-120"/>
              </a:rPr>
              <a:t>   official Government of India data</a:t>
            </a:r>
            <a:endParaRPr lang="en-US" sz="950" dirty="0"/>
          </a:p>
        </p:txBody>
      </p:sp>
      <p:sp>
        <p:nvSpPr>
          <p:cNvPr id="28" name="Shape 26"/>
          <p:cNvSpPr/>
          <p:nvPr/>
        </p:nvSpPr>
        <p:spPr>
          <a:xfrm>
            <a:off x="4224528" y="1188720"/>
            <a:ext cx="1901952" cy="640080"/>
          </a:xfrm>
          <a:prstGeom prst="roundRect">
            <a:avLst>
              <a:gd name="adj" fmla="val 8571"/>
            </a:avLst>
          </a:prstGeom>
          <a:solidFill>
            <a:srgbClr val="F6F7F9"/>
          </a:solidFill>
          <a:ln w="9525">
            <a:solidFill>
              <a:srgbClr val="F6F7F9"/>
            </a:solidFill>
            <a:prstDash val="solid"/>
          </a:ln>
        </p:spPr>
      </p:sp>
      <p:sp>
        <p:nvSpPr>
          <p:cNvPr id="29" name="Text 27"/>
          <p:cNvSpPr txBox="1"/>
          <p:nvPr/>
        </p:nvSpPr>
        <p:spPr>
          <a:xfrm>
            <a:off x="4315968" y="1234440"/>
            <a:ext cx="1737360" cy="292608"/>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24.0 lakh</a:t>
            </a:r>
            <a:endParaRPr lang="en-US" sz="1700" dirty="0"/>
          </a:p>
        </p:txBody>
      </p:sp>
      <p:sp>
        <p:nvSpPr>
          <p:cNvPr id="30" name="Text 28"/>
          <p:cNvSpPr txBox="1"/>
          <p:nvPr/>
        </p:nvSpPr>
        <p:spPr>
          <a:xfrm>
            <a:off x="4315968" y="1527048"/>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financial-fraud complaints on NCRP in 2025, 9.1× the 2021 count</a:t>
            </a:r>
            <a:endParaRPr lang="en-US" sz="750" dirty="0"/>
          </a:p>
        </p:txBody>
      </p:sp>
      <p:sp>
        <p:nvSpPr>
          <p:cNvPr id="31" name="Shape 29"/>
          <p:cNvSpPr/>
          <p:nvPr/>
        </p:nvSpPr>
        <p:spPr>
          <a:xfrm>
            <a:off x="6190488" y="1188720"/>
            <a:ext cx="1901952" cy="640080"/>
          </a:xfrm>
          <a:prstGeom prst="roundRect">
            <a:avLst>
              <a:gd name="adj" fmla="val 8571"/>
            </a:avLst>
          </a:prstGeom>
          <a:solidFill>
            <a:srgbClr val="F6F7F9"/>
          </a:solidFill>
          <a:ln w="9525">
            <a:solidFill>
              <a:srgbClr val="F6F7F9"/>
            </a:solidFill>
            <a:prstDash val="solid"/>
          </a:ln>
        </p:spPr>
      </p:sp>
      <p:sp>
        <p:nvSpPr>
          <p:cNvPr id="32" name="Text 30"/>
          <p:cNvSpPr txBox="1"/>
          <p:nvPr/>
        </p:nvSpPr>
        <p:spPr>
          <a:xfrm>
            <a:off x="6281928" y="1234440"/>
            <a:ext cx="1737360" cy="292608"/>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₹22,495 cr</a:t>
            </a:r>
            <a:endParaRPr lang="en-US" sz="1700" dirty="0"/>
          </a:p>
        </p:txBody>
      </p:sp>
      <p:sp>
        <p:nvSpPr>
          <p:cNvPr id="33" name="Text 31"/>
          <p:cNvSpPr txBox="1"/>
          <p:nvPr/>
        </p:nvSpPr>
        <p:spPr>
          <a:xfrm>
            <a:off x="6281928" y="1527048"/>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reported lost by citizens to cyber fraud in 2025 (NCRP / CFCFRMS)</a:t>
            </a:r>
            <a:endParaRPr lang="en-US" sz="750" dirty="0"/>
          </a:p>
        </p:txBody>
      </p:sp>
      <p:sp>
        <p:nvSpPr>
          <p:cNvPr id="34" name="Shape 32"/>
          <p:cNvSpPr/>
          <p:nvPr/>
        </p:nvSpPr>
        <p:spPr>
          <a:xfrm>
            <a:off x="4224528" y="1901952"/>
            <a:ext cx="1901952" cy="640080"/>
          </a:xfrm>
          <a:prstGeom prst="roundRect">
            <a:avLst>
              <a:gd name="adj" fmla="val 8571"/>
            </a:avLst>
          </a:prstGeom>
          <a:solidFill>
            <a:srgbClr val="F6F7F9"/>
          </a:solidFill>
          <a:ln w="9525">
            <a:solidFill>
              <a:srgbClr val="F6F7F9"/>
            </a:solidFill>
            <a:prstDash val="solid"/>
          </a:ln>
        </p:spPr>
      </p:sp>
      <p:sp>
        <p:nvSpPr>
          <p:cNvPr id="35" name="Text 33"/>
          <p:cNvSpPr txBox="1"/>
          <p:nvPr/>
        </p:nvSpPr>
        <p:spPr>
          <a:xfrm>
            <a:off x="4315968" y="1947672"/>
            <a:ext cx="1737360" cy="292608"/>
          </a:xfrm>
          <a:prstGeom prst="rect">
            <a:avLst/>
          </a:prstGeom>
          <a:noFill/>
          <a:ln/>
        </p:spPr>
        <p:txBody>
          <a:bodyPr wrap="square" lIns="0" tIns="0" rIns="0" bIns="0" rtlCol="0" anchor="t"/>
          <a:lstStyle/>
          <a:p>
            <a:pPr indent="0" marL="0">
              <a:buNone/>
            </a:pPr>
            <a:r>
              <a:rPr lang="en-US" sz="1700" b="1" dirty="0">
                <a:solidFill>
                  <a:srgbClr val="101828"/>
                </a:solidFill>
                <a:latin typeface="Inter" pitchFamily="34" charset="0"/>
                <a:ea typeface="Inter" pitchFamily="34" charset="-122"/>
                <a:cs typeface="Inter" pitchFamily="34" charset="-120"/>
              </a:rPr>
              <a:t>86,420</a:t>
            </a:r>
            <a:endParaRPr lang="en-US" sz="1700" dirty="0"/>
          </a:p>
        </p:txBody>
      </p:sp>
      <p:sp>
        <p:nvSpPr>
          <p:cNvPr id="36" name="Text 34"/>
          <p:cNvSpPr txBox="1"/>
          <p:nvPr/>
        </p:nvSpPr>
        <p:spPr>
          <a:xfrm>
            <a:off x="4315968" y="2240280"/>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cyber-crime cases registered in 2023, up 31% on 2022</a:t>
            </a:r>
            <a:endParaRPr lang="en-US" sz="750" dirty="0"/>
          </a:p>
        </p:txBody>
      </p:sp>
      <p:sp>
        <p:nvSpPr>
          <p:cNvPr id="37" name="Shape 35"/>
          <p:cNvSpPr/>
          <p:nvPr/>
        </p:nvSpPr>
        <p:spPr>
          <a:xfrm>
            <a:off x="6190488" y="1901952"/>
            <a:ext cx="1901952" cy="640080"/>
          </a:xfrm>
          <a:prstGeom prst="roundRect">
            <a:avLst>
              <a:gd name="adj" fmla="val 8571"/>
            </a:avLst>
          </a:prstGeom>
          <a:solidFill>
            <a:srgbClr val="F6F7F9"/>
          </a:solidFill>
          <a:ln w="9525">
            <a:solidFill>
              <a:srgbClr val="F6F7F9"/>
            </a:solidFill>
            <a:prstDash val="solid"/>
          </a:ln>
        </p:spPr>
      </p:sp>
      <p:sp>
        <p:nvSpPr>
          <p:cNvPr id="38" name="Text 36"/>
          <p:cNvSpPr txBox="1"/>
          <p:nvPr/>
        </p:nvSpPr>
        <p:spPr>
          <a:xfrm>
            <a:off x="6281928" y="1947672"/>
            <a:ext cx="1737360" cy="292608"/>
          </a:xfrm>
          <a:prstGeom prst="rect">
            <a:avLst/>
          </a:prstGeom>
          <a:noFill/>
          <a:ln/>
        </p:spPr>
        <p:txBody>
          <a:bodyPr wrap="square" lIns="0" tIns="0" rIns="0" bIns="0" rtlCol="0" anchor="t"/>
          <a:lstStyle/>
          <a:p>
            <a:pPr indent="0" marL="0">
              <a:buNone/>
            </a:pPr>
            <a:r>
              <a:rPr lang="en-US" sz="1700" b="1" dirty="0">
                <a:solidFill>
                  <a:srgbClr val="101828"/>
                </a:solidFill>
                <a:latin typeface="Inter" pitchFamily="34" charset="0"/>
                <a:ea typeface="Inter" pitchFamily="34" charset="-122"/>
                <a:cs typeface="Inter" pitchFamily="34" charset="-120"/>
              </a:rPr>
              <a:t>68.9%</a:t>
            </a:r>
            <a:endParaRPr lang="en-US" sz="1700" dirty="0"/>
          </a:p>
        </p:txBody>
      </p:sp>
      <p:sp>
        <p:nvSpPr>
          <p:cNvPr id="39" name="Text 37"/>
          <p:cNvSpPr txBox="1"/>
          <p:nvPr/>
        </p:nvSpPr>
        <p:spPr>
          <a:xfrm>
            <a:off x="6281928" y="2240280"/>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of those 2023 cases had fraud as the motive (59,526)</a:t>
            </a:r>
            <a:endParaRPr lang="en-US" sz="750" dirty="0"/>
          </a:p>
        </p:txBody>
      </p:sp>
      <p:sp>
        <p:nvSpPr>
          <p:cNvPr id="40" name="Shape 38"/>
          <p:cNvSpPr/>
          <p:nvPr/>
        </p:nvSpPr>
        <p:spPr>
          <a:xfrm>
            <a:off x="4224528" y="2615184"/>
            <a:ext cx="1901952" cy="640080"/>
          </a:xfrm>
          <a:prstGeom prst="roundRect">
            <a:avLst>
              <a:gd name="adj" fmla="val 8571"/>
            </a:avLst>
          </a:prstGeom>
          <a:solidFill>
            <a:srgbClr val="F6F7F9"/>
          </a:solidFill>
          <a:ln w="9525">
            <a:solidFill>
              <a:srgbClr val="F6F7F9"/>
            </a:solidFill>
            <a:prstDash val="solid"/>
          </a:ln>
        </p:spPr>
      </p:sp>
      <p:sp>
        <p:nvSpPr>
          <p:cNvPr id="41" name="Text 39"/>
          <p:cNvSpPr txBox="1"/>
          <p:nvPr/>
        </p:nvSpPr>
        <p:spPr>
          <a:xfrm>
            <a:off x="4315968" y="2660904"/>
            <a:ext cx="1737360" cy="292608"/>
          </a:xfrm>
          <a:prstGeom prst="rect">
            <a:avLst/>
          </a:prstGeom>
          <a:noFill/>
          <a:ln/>
        </p:spPr>
        <p:txBody>
          <a:bodyPr wrap="square" lIns="0" tIns="0" rIns="0" bIns="0" rtlCol="0" anchor="t"/>
          <a:lstStyle/>
          <a:p>
            <a:pPr indent="0" marL="0">
              <a:buNone/>
            </a:pPr>
            <a:r>
              <a:rPr lang="en-US" sz="1700" b="1" dirty="0">
                <a:solidFill>
                  <a:srgbClr val="B42318"/>
                </a:solidFill>
                <a:latin typeface="Inter" pitchFamily="34" charset="0"/>
                <a:ea typeface="Inter" pitchFamily="34" charset="-122"/>
                <a:cs typeface="Inter" pitchFamily="34" charset="-120"/>
              </a:rPr>
              <a:t>33.9%</a:t>
            </a:r>
            <a:endParaRPr lang="en-US" sz="1700" dirty="0"/>
          </a:p>
        </p:txBody>
      </p:sp>
      <p:sp>
        <p:nvSpPr>
          <p:cNvPr id="42" name="Text 40"/>
          <p:cNvSpPr txBox="1"/>
          <p:nvPr/>
        </p:nvSpPr>
        <p:spPr>
          <a:xfrm>
            <a:off x="4315968" y="2953512"/>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all-India chargesheeting rate for cyber crime, 2023</a:t>
            </a:r>
            <a:endParaRPr lang="en-US" sz="750" dirty="0"/>
          </a:p>
        </p:txBody>
      </p:sp>
      <p:sp>
        <p:nvSpPr>
          <p:cNvPr id="43" name="Shape 41"/>
          <p:cNvSpPr/>
          <p:nvPr/>
        </p:nvSpPr>
        <p:spPr>
          <a:xfrm>
            <a:off x="6190488" y="2615184"/>
            <a:ext cx="1901952" cy="640080"/>
          </a:xfrm>
          <a:prstGeom prst="roundRect">
            <a:avLst>
              <a:gd name="adj" fmla="val 8571"/>
            </a:avLst>
          </a:prstGeom>
          <a:solidFill>
            <a:srgbClr val="F6F7F9"/>
          </a:solidFill>
          <a:ln w="9525">
            <a:solidFill>
              <a:srgbClr val="F6F7F9"/>
            </a:solidFill>
            <a:prstDash val="solid"/>
          </a:ln>
        </p:spPr>
      </p:sp>
      <p:sp>
        <p:nvSpPr>
          <p:cNvPr id="44" name="Text 42"/>
          <p:cNvSpPr txBox="1"/>
          <p:nvPr/>
        </p:nvSpPr>
        <p:spPr>
          <a:xfrm>
            <a:off x="6281928" y="2660904"/>
            <a:ext cx="1737360" cy="292608"/>
          </a:xfrm>
          <a:prstGeom prst="rect">
            <a:avLst/>
          </a:prstGeom>
          <a:noFill/>
          <a:ln/>
        </p:spPr>
        <p:txBody>
          <a:bodyPr wrap="square" lIns="0" tIns="0" rIns="0" bIns="0" rtlCol="0" anchor="t"/>
          <a:lstStyle/>
          <a:p>
            <a:pPr indent="0" marL="0">
              <a:buNone/>
            </a:pPr>
            <a:r>
              <a:rPr lang="en-US" sz="1700" b="1" dirty="0">
                <a:solidFill>
                  <a:srgbClr val="101828"/>
                </a:solidFill>
                <a:latin typeface="Inter" pitchFamily="34" charset="0"/>
                <a:ea typeface="Inter" pitchFamily="34" charset="-122"/>
                <a:cs typeface="Inter" pitchFamily="34" charset="-120"/>
              </a:rPr>
              <a:t>5.2 lakh</a:t>
            </a:r>
            <a:endParaRPr lang="en-US" sz="1700" dirty="0"/>
          </a:p>
        </p:txBody>
      </p:sp>
      <p:sp>
        <p:nvSpPr>
          <p:cNvPr id="45" name="Text 43"/>
          <p:cNvSpPr txBox="1"/>
          <p:nvPr/>
        </p:nvSpPr>
        <p:spPr>
          <a:xfrm>
            <a:off x="6281928" y="2953512"/>
            <a:ext cx="1755648" cy="292608"/>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suspected fraud calls, SMS and WhatsApp reported on Chakshu, 2025</a:t>
            </a:r>
            <a:endParaRPr lang="en-US" sz="750" dirty="0"/>
          </a:p>
        </p:txBody>
      </p:sp>
      <p:sp>
        <p:nvSpPr>
          <p:cNvPr id="46" name="Shape 44"/>
          <p:cNvSpPr/>
          <p:nvPr/>
        </p:nvSpPr>
        <p:spPr>
          <a:xfrm>
            <a:off x="4224528" y="3364992"/>
            <a:ext cx="3886200" cy="2395728"/>
          </a:xfrm>
          <a:prstGeom prst="roundRect">
            <a:avLst>
              <a:gd name="adj" fmla="val 2290"/>
            </a:avLst>
          </a:prstGeom>
          <a:solidFill>
            <a:srgbClr val="FFFFFF"/>
          </a:solidFill>
          <a:ln w="9525">
            <a:solidFill>
              <a:srgbClr val="E4E7EC"/>
            </a:solidFill>
            <a:prstDash val="solid"/>
          </a:ln>
        </p:spPr>
      </p:sp>
      <p:graphicFrame>
        <p:nvGraphicFramePr>
          <p:cNvPr id="47" name="Chart 0" descr=""/>
          <p:cNvGraphicFramePr/>
          <p:nvPr/>
        </p:nvGraphicFramePr>
        <p:xfrm>
          <a:off x="4297680" y="3401568"/>
          <a:ext cx="3739896" cy="1938528"/>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4361688" y="5358384"/>
            <a:ext cx="3611880" cy="182880"/>
          </a:xfrm>
          <a:prstGeom prst="rect">
            <a:avLst/>
          </a:prstGeom>
          <a:noFill/>
          <a:ln/>
        </p:spPr>
        <p:txBody>
          <a:bodyPr wrap="square" lIns="0" tIns="0" rIns="0" bIns="0" rtlCol="0" anchor="t"/>
          <a:lstStyle/>
          <a:p>
            <a:pPr indent="0" marL="0">
              <a:buNone/>
            </a:pPr>
            <a:r>
              <a:rPr lang="en-US" sz="800" b="1" dirty="0">
                <a:solidFill>
                  <a:srgbClr val="475467"/>
                </a:solidFill>
                <a:latin typeface="Inter" pitchFamily="34" charset="0"/>
                <a:ea typeface="Inter" pitchFamily="34" charset="-122"/>
                <a:cs typeface="Inter" pitchFamily="34" charset="-120"/>
              </a:rPr>
              <a:t>Amount reported, ₹ crore:  </a:t>
            </a:r>
            <a:pPr indent="0" marL="0">
              <a:buNone/>
            </a:pPr>
            <a:r>
              <a:rPr lang="en-US" sz="800" dirty="0">
                <a:solidFill>
                  <a:srgbClr val="101828"/>
                </a:solidFill>
                <a:latin typeface="Inter" pitchFamily="34" charset="0"/>
                <a:ea typeface="Inter" pitchFamily="34" charset="-122"/>
                <a:cs typeface="Inter" pitchFamily="34" charset="-120"/>
              </a:rPr>
              <a:t>551  →  2,290  →  7,465  →  22,848  →  22,495</a:t>
            </a:r>
            <a:endParaRPr lang="en-US" sz="800" dirty="0"/>
          </a:p>
        </p:txBody>
      </p:sp>
      <p:sp>
        <p:nvSpPr>
          <p:cNvPr id="49" name="Text 46"/>
          <p:cNvSpPr txBox="1"/>
          <p:nvPr/>
        </p:nvSpPr>
        <p:spPr>
          <a:xfrm>
            <a:off x="4361688" y="5541264"/>
            <a:ext cx="3611880" cy="201168"/>
          </a:xfrm>
          <a:prstGeom prst="rect">
            <a:avLst/>
          </a:prstGeom>
          <a:noFill/>
          <a:ln/>
        </p:spPr>
        <p:txBody>
          <a:bodyPr wrap="square" lIns="0" tIns="0" rIns="0" bIns="0" rtlCol="0" anchor="t"/>
          <a:lstStyle/>
          <a:p>
            <a:pPr indent="0" marL="0">
              <a:buNone/>
            </a:pPr>
            <a:r>
              <a:rPr lang="en-US" sz="750" i="1" dirty="0">
                <a:solidFill>
                  <a:srgbClr val="667085"/>
                </a:solidFill>
                <a:latin typeface="Inter" pitchFamily="34" charset="0"/>
                <a:ea typeface="Inter" pitchFamily="34" charset="-122"/>
                <a:cs typeface="Inter" pitchFamily="34" charset="-120"/>
              </a:rPr>
              <a:t>Complaints in 2025 average about 6,580 a day. Each one begins as a conversation, and most of the facts police need are spoken, not typed.</a:t>
            </a:r>
            <a:endParaRPr lang="en-US" sz="750" dirty="0"/>
          </a:p>
        </p:txBody>
      </p:sp>
      <p:sp>
        <p:nvSpPr>
          <p:cNvPr id="50" name="Text 47"/>
          <p:cNvSpPr txBox="1"/>
          <p:nvPr/>
        </p:nvSpPr>
        <p:spPr>
          <a:xfrm>
            <a:off x="4224528" y="5870448"/>
            <a:ext cx="3886200" cy="365760"/>
          </a:xfrm>
          <a:prstGeom prst="rect">
            <a:avLst/>
          </a:prstGeom>
          <a:noFill/>
          <a:ln/>
        </p:spPr>
        <p:txBody>
          <a:bodyPr wrap="square" lIns="0" tIns="0" rIns="0" bIns="0" rtlCol="0" anchor="t"/>
          <a:lstStyle/>
          <a:p>
            <a:pPr indent="0" marL="0">
              <a:buNone/>
            </a:pPr>
            <a:r>
              <a:rPr lang="en-US" sz="800" b="1" dirty="0">
                <a:solidFill>
                  <a:srgbClr val="475467"/>
                </a:solidFill>
                <a:latin typeface="Inter" pitchFamily="34" charset="0"/>
                <a:ea typeface="Inter" pitchFamily="34" charset="-122"/>
                <a:cs typeface="Inter" pitchFamily="34" charset="-120"/>
              </a:rPr>
              <a:t>Where it concentrates (2023): </a:t>
            </a:r>
            <a:pPr indent="0" marL="0">
              <a:buNone/>
            </a:pPr>
            <a:r>
              <a:rPr lang="en-US" sz="800" dirty="0">
                <a:solidFill>
                  <a:srgbClr val="101828"/>
                </a:solidFill>
                <a:latin typeface="Inter" pitchFamily="34" charset="0"/>
                <a:ea typeface="Inter" pitchFamily="34" charset="-122"/>
                <a:cs typeface="Inter" pitchFamily="34" charset="-120"/>
              </a:rPr>
              <a:t>Karnataka 21,889 · Telangana 18,236 · Uttar Pradesh 10,794 · Maharashtra 8,103 cases</a:t>
            </a:r>
            <a:endParaRPr lang="en-US" sz="800" dirty="0"/>
          </a:p>
        </p:txBody>
      </p:sp>
      <p:sp>
        <p:nvSpPr>
          <p:cNvPr id="51" name="Shape 48"/>
          <p:cNvSpPr/>
          <p:nvPr/>
        </p:nvSpPr>
        <p:spPr>
          <a:xfrm>
            <a:off x="8275320" y="841248"/>
            <a:ext cx="3611880" cy="4297680"/>
          </a:xfrm>
          <a:prstGeom prst="roundRect">
            <a:avLst>
              <a:gd name="adj" fmla="val 1519"/>
            </a:avLst>
          </a:prstGeom>
          <a:solidFill>
            <a:srgbClr val="FFFFFF"/>
          </a:solidFill>
          <a:ln w="9525">
            <a:solidFill>
              <a:srgbClr val="E4E7EC"/>
            </a:solidFill>
            <a:prstDash val="solid"/>
          </a:ln>
        </p:spPr>
      </p:sp>
      <p:sp>
        <p:nvSpPr>
          <p:cNvPr id="52" name="Text 49"/>
          <p:cNvSpPr txBox="1"/>
          <p:nvPr/>
        </p:nvSpPr>
        <p:spPr>
          <a:xfrm>
            <a:off x="8412480" y="932688"/>
            <a:ext cx="3337560" cy="292608"/>
          </a:xfrm>
          <a:prstGeom prst="rect">
            <a:avLst/>
          </a:prstGeom>
          <a:noFill/>
          <a:ln/>
        </p:spPr>
        <p:txBody>
          <a:bodyPr wrap="square" lIns="0" tIns="0" rIns="0" bIns="0" rtlCol="0" anchor="ctr"/>
          <a:lstStyle/>
          <a:p>
            <a:pPr indent="0" marL="0">
              <a:buNone/>
            </a:pPr>
            <a:r>
              <a:rPr lang="en-US" sz="1150" b="1" dirty="0">
                <a:solidFill>
                  <a:srgbClr val="101828"/>
                </a:solidFill>
                <a:latin typeface="Inter" pitchFamily="34" charset="0"/>
                <a:ea typeface="Inter" pitchFamily="34" charset="-122"/>
                <a:cs typeface="Inter" pitchFamily="34" charset="-120"/>
              </a:rPr>
              <a:t>What we understood</a:t>
            </a:r>
            <a:endParaRPr lang="en-US" sz="1150" dirty="0"/>
          </a:p>
        </p:txBody>
      </p:sp>
      <p:sp>
        <p:nvSpPr>
          <p:cNvPr id="53" name="Text 50"/>
          <p:cNvSpPr txBox="1"/>
          <p:nvPr/>
        </p:nvSpPr>
        <p:spPr>
          <a:xfrm>
            <a:off x="8412480" y="1325880"/>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01</a:t>
            </a:r>
            <a:endParaRPr lang="en-US" sz="1300" dirty="0"/>
          </a:p>
        </p:txBody>
      </p:sp>
      <p:sp>
        <p:nvSpPr>
          <p:cNvPr id="54" name="Text 51"/>
          <p:cNvSpPr txBox="1"/>
          <p:nvPr/>
        </p:nvSpPr>
        <p:spPr>
          <a:xfrm>
            <a:off x="8778240" y="1325880"/>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Callers speak Hinglish</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Amounts, phone numbers and UPI IDs arrive as words. Plain keyword search on a transcript misses most of them.</a:t>
            </a:r>
            <a:endParaRPr lang="en-US" sz="950" dirty="0"/>
          </a:p>
        </p:txBody>
      </p:sp>
      <p:sp>
        <p:nvSpPr>
          <p:cNvPr id="55" name="Text 52"/>
          <p:cNvSpPr txBox="1"/>
          <p:nvPr/>
        </p:nvSpPr>
        <p:spPr>
          <a:xfrm>
            <a:off x="8412480" y="1956816"/>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02</a:t>
            </a:r>
            <a:endParaRPr lang="en-US" sz="1300" dirty="0"/>
          </a:p>
        </p:txBody>
      </p:sp>
      <p:sp>
        <p:nvSpPr>
          <p:cNvPr id="56" name="Text 53"/>
          <p:cNvSpPr txBox="1"/>
          <p:nvPr/>
        </p:nvSpPr>
        <p:spPr>
          <a:xfrm>
            <a:off x="8778240" y="1956816"/>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Minutes decide recovery</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The 1930 / NCRP report and the call to the bank have to happen fast. Time since the loss is the real urgency signal.</a:t>
            </a:r>
            <a:endParaRPr lang="en-US" sz="950" dirty="0"/>
          </a:p>
        </p:txBody>
      </p:sp>
      <p:sp>
        <p:nvSpPr>
          <p:cNvPr id="57" name="Text 54"/>
          <p:cNvSpPr txBox="1"/>
          <p:nvPr/>
        </p:nvSpPr>
        <p:spPr>
          <a:xfrm>
            <a:off x="8412480" y="2587752"/>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03</a:t>
            </a:r>
            <a:endParaRPr lang="en-US" sz="1300" dirty="0"/>
          </a:p>
        </p:txBody>
      </p:sp>
      <p:sp>
        <p:nvSpPr>
          <p:cNvPr id="58" name="Text 55"/>
          <p:cNvSpPr txBox="1"/>
          <p:nvPr/>
        </p:nvSpPr>
        <p:spPr>
          <a:xfrm>
            <a:off x="8778240" y="2587752"/>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Some victims are still trapped</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In “digital arrest” calls the scammer may still be on video with the victim. That needs an alert, not a score.</a:t>
            </a:r>
            <a:endParaRPr lang="en-US" sz="950" dirty="0"/>
          </a:p>
        </p:txBody>
      </p:sp>
      <p:sp>
        <p:nvSpPr>
          <p:cNvPr id="59" name="Text 56"/>
          <p:cNvSpPr txBox="1"/>
          <p:nvPr/>
        </p:nvSpPr>
        <p:spPr>
          <a:xfrm>
            <a:off x="8412480" y="3218688"/>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04</a:t>
            </a:r>
            <a:endParaRPr lang="en-US" sz="1300" dirty="0"/>
          </a:p>
        </p:txBody>
      </p:sp>
      <p:sp>
        <p:nvSpPr>
          <p:cNvPr id="60" name="Text 57"/>
          <p:cNvSpPr txBox="1"/>
          <p:nvPr/>
        </p:nvSpPr>
        <p:spPr>
          <a:xfrm>
            <a:off x="8778240" y="3218688"/>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Each call is handled alone</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The same UPI ID can show up in Pune, Nashik and Indore with nobody connecting them.</a:t>
            </a:r>
            <a:endParaRPr lang="en-US" sz="950" dirty="0"/>
          </a:p>
        </p:txBody>
      </p:sp>
      <p:sp>
        <p:nvSpPr>
          <p:cNvPr id="61" name="Text 58"/>
          <p:cNvSpPr txBox="1"/>
          <p:nvPr/>
        </p:nvSpPr>
        <p:spPr>
          <a:xfrm>
            <a:off x="8412480" y="3849624"/>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05</a:t>
            </a:r>
            <a:endParaRPr lang="en-US" sz="1300" dirty="0"/>
          </a:p>
        </p:txBody>
      </p:sp>
      <p:sp>
        <p:nvSpPr>
          <p:cNvPr id="62" name="Text 59"/>
          <p:cNvSpPr txBox="1"/>
          <p:nvPr/>
        </p:nvSpPr>
        <p:spPr>
          <a:xfrm>
            <a:off x="8778240" y="3849624"/>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A bare emotion label misleads</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“Fear 0.81” gives no next step, and on a suspect it can be misread as guilt.</a:t>
            </a:r>
            <a:endParaRPr lang="en-US" sz="950" dirty="0"/>
          </a:p>
        </p:txBody>
      </p:sp>
      <p:sp>
        <p:nvSpPr>
          <p:cNvPr id="63" name="Text 60"/>
          <p:cNvSpPr txBox="1"/>
          <p:nvPr/>
        </p:nvSpPr>
        <p:spPr>
          <a:xfrm>
            <a:off x="8412480" y="4480560"/>
            <a:ext cx="347472" cy="274320"/>
          </a:xfrm>
          <a:prstGeom prst="rect">
            <a:avLst/>
          </a:prstGeom>
          <a:noFill/>
          <a:ln/>
        </p:spPr>
        <p:txBody>
          <a:bodyPr wrap="square" lIns="0" tIns="0" rIns="0" bIns="0" rtlCol="0" anchor="t"/>
          <a:lstStyle/>
          <a:p>
            <a:pPr indent="0" marL="0">
              <a:buNone/>
            </a:pPr>
            <a:r>
              <a:rPr lang="en-US" sz="1300" b="1" dirty="0">
                <a:solidFill>
                  <a:srgbClr val="F97A0F"/>
                </a:solidFill>
                <a:latin typeface="Inter" pitchFamily="34" charset="0"/>
                <a:ea typeface="Inter" pitchFamily="34" charset="-122"/>
                <a:cs typeface="Inter" pitchFamily="34" charset="-120"/>
              </a:rPr>
              <a:t>06</a:t>
            </a:r>
            <a:endParaRPr lang="en-US" sz="1300" dirty="0"/>
          </a:p>
        </p:txBody>
      </p:sp>
      <p:sp>
        <p:nvSpPr>
          <p:cNvPr id="64" name="Text 61"/>
          <p:cNvSpPr txBox="1"/>
          <p:nvPr/>
        </p:nvSpPr>
        <p:spPr>
          <a:xfrm>
            <a:off x="8778240" y="4480560"/>
            <a:ext cx="2971800" cy="603504"/>
          </a:xfrm>
          <a:prstGeom prst="rect">
            <a:avLst/>
          </a:prstGeom>
          <a:noFill/>
          <a:ln/>
        </p:spPr>
        <p:txBody>
          <a:bodyPr wrap="square" lIns="0" tIns="0" rIns="0" bIns="0" rtlCol="0" anchor="t"/>
          <a:lstStyle/>
          <a:p>
            <a:pPr indent="0" marL="0">
              <a:buNone/>
            </a:pPr>
            <a:r>
              <a:rPr lang="en-US" sz="900" b="1" dirty="0">
                <a:solidFill>
                  <a:srgbClr val="101828"/>
                </a:solidFill>
                <a:latin typeface="Inter" pitchFamily="34" charset="0"/>
                <a:ea typeface="Inter" pitchFamily="34" charset="-122"/>
                <a:cs typeface="Inter" pitchFamily="34" charset="-120"/>
              </a:rPr>
              <a:t>Crisis needs a person</a:t>
            </a:r>
            <a:endParaRPr lang="en-US" sz="950" dirty="0"/>
          </a:p>
          <a:p>
            <a:pPr indent="0" marL="0">
              <a:buNone/>
            </a:pPr>
            <a:r>
              <a:rPr lang="en-US" sz="800" dirty="0">
                <a:solidFill>
                  <a:srgbClr val="475467"/>
                </a:solidFill>
                <a:latin typeface="Inter" pitchFamily="34" charset="0"/>
                <a:ea typeface="Inter" pitchFamily="34" charset="-122"/>
                <a:cs typeface="Inter" pitchFamily="34" charset="-120"/>
              </a:rPr>
              <a:t>Lines like “sab khatam ho gaya” call for a trained human hand-over.</a:t>
            </a:r>
            <a:endParaRPr lang="en-US" sz="950" dirty="0"/>
          </a:p>
        </p:txBody>
      </p:sp>
      <p:sp>
        <p:nvSpPr>
          <p:cNvPr id="65" name="Shape 62"/>
          <p:cNvSpPr/>
          <p:nvPr/>
        </p:nvSpPr>
        <p:spPr>
          <a:xfrm>
            <a:off x="8275320" y="5230368"/>
            <a:ext cx="3611880" cy="1024128"/>
          </a:xfrm>
          <a:prstGeom prst="roundRect">
            <a:avLst>
              <a:gd name="adj" fmla="val 5357"/>
            </a:avLst>
          </a:prstGeom>
          <a:solidFill>
            <a:srgbClr val="FFF4EA"/>
          </a:solidFill>
          <a:ln w="9525">
            <a:solidFill>
              <a:srgbClr val="FDD4AE"/>
            </a:solidFill>
            <a:prstDash val="solid"/>
          </a:ln>
        </p:spPr>
      </p:sp>
      <p:sp>
        <p:nvSpPr>
          <p:cNvPr id="66" name="Text 63"/>
          <p:cNvSpPr txBox="1"/>
          <p:nvPr/>
        </p:nvSpPr>
        <p:spPr>
          <a:xfrm>
            <a:off x="8412480" y="5303520"/>
            <a:ext cx="3337560" cy="914400"/>
          </a:xfrm>
          <a:prstGeom prst="rect">
            <a:avLst/>
          </a:prstGeom>
          <a:noFill/>
          <a:ln/>
        </p:spPr>
        <p:txBody>
          <a:bodyPr wrap="square" lIns="0" tIns="0" rIns="0" bIns="0" rtlCol="0" anchor="t"/>
          <a:lstStyle/>
          <a:p>
            <a:pPr indent="0" marL="0">
              <a:spcAft>
                <a:spcPts val="200"/>
              </a:spcAft>
              <a:buNone/>
            </a:pPr>
            <a:r>
              <a:rPr lang="en-US" sz="950" b="1" dirty="0">
                <a:solidFill>
                  <a:srgbClr val="C2570C"/>
                </a:solidFill>
                <a:latin typeface="Inter" pitchFamily="34" charset="0"/>
                <a:ea typeface="Inter" pitchFamily="34" charset="-122"/>
                <a:cs typeface="Inter" pitchFamily="34" charset="-120"/>
              </a:rPr>
              <a:t>Our reading of the problem</a:t>
            </a:r>
            <a:endParaRPr lang="en-US" sz="950" dirty="0"/>
          </a:p>
          <a:p>
            <a:pPr indent="0" marL="0">
              <a:spcAft>
                <a:spcPts val="200"/>
              </a:spcAft>
              <a:buNone/>
            </a:pPr>
            <a:r>
              <a:rPr lang="en-US" sz="850" dirty="0">
                <a:solidFill>
                  <a:srgbClr val="101828"/>
                </a:solidFill>
                <a:latin typeface="Inter" pitchFamily="34" charset="0"/>
                <a:ea typeface="Inter" pitchFamily="34" charset="-122"/>
                <a:cs typeface="Inter" pitchFamily="34" charset="-120"/>
              </a:rPr>
              <a:t>Urgency should come from what happened: how long ago, how much, and whether someone still controls the caller. Voice emotion helps, but as a separate signal that is switched off for suspects and is allowed to say “not sure”.</a:t>
            </a:r>
            <a:endParaRPr lang="en-US" sz="950" dirty="0"/>
          </a:p>
        </p:txBody>
      </p:sp>
      <p:sp>
        <p:nvSpPr>
          <p:cNvPr id="67" name="Text 64"/>
          <p:cNvSpPr txBox="1"/>
          <p:nvPr/>
        </p:nvSpPr>
        <p:spPr>
          <a:xfrm>
            <a:off x="320040" y="6336792"/>
            <a:ext cx="11567160" cy="201168"/>
          </a:xfrm>
          <a:prstGeom prst="rect">
            <a:avLst/>
          </a:prstGeom>
          <a:noFill/>
          <a:ln/>
        </p:spPr>
        <p:txBody>
          <a:bodyPr wrap="square" lIns="0" tIns="0" rIns="0" bIns="0" rtlCol="0" anchor="ctr"/>
          <a:lstStyle/>
          <a:p>
            <a:pPr indent="0" marL="0">
              <a:buNone/>
            </a:pPr>
            <a:r>
              <a:rPr lang="en-US" sz="700" i="1" dirty="0">
                <a:solidFill>
                  <a:srgbClr val="667085"/>
                </a:solidFill>
                <a:latin typeface="Inter" pitchFamily="34" charset="0"/>
                <a:ea typeface="Inter" pitchFamily="34" charset="-122"/>
                <a:cs typeface="Inter" pitchFamily="34" charset="-120"/>
              </a:rPr>
              <a:t>Sources (byte-identical copies in backend/anvesh/data/official, SHA-256 verified at start-up): NCRB Crime in India 2023, Tables 9A.1 and 9A.3; Rajya Sabha USQ 1341 (11 Feb 2026, I4C NCRP/CFCFRMS); Rajya Sabha USQ 647 (5 Feb 2026, DoT Chakshu). data.gov.in, GODL.</a:t>
            </a:r>
            <a:endParaRPr lang="en-US" sz="7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2103120" y="146304"/>
            <a:ext cx="6217920" cy="512064"/>
          </a:xfrm>
          <a:prstGeom prst="rect">
            <a:avLst/>
          </a:prstGeom>
          <a:noFill/>
          <a:ln/>
        </p:spPr>
        <p:txBody>
          <a:bodyPr wrap="square" lIns="0" tIns="0" rIns="0" bIns="0" rtlCol="0" anchor="ctr"/>
          <a:lstStyle/>
          <a:p>
            <a:pPr algn="ctr" indent="0" marL="0">
              <a:buNone/>
            </a:pPr>
            <a:r>
              <a:rPr lang="en-US" sz="2600" b="1" dirty="0">
                <a:solidFill>
                  <a:srgbClr val="101828"/>
                </a:solidFill>
                <a:latin typeface="Inter" pitchFamily="34" charset="0"/>
                <a:ea typeface="Inter" pitchFamily="34" charset="-122"/>
                <a:cs typeface="Inter" pitchFamily="34" charset="-120"/>
              </a:rPr>
              <a:t>Technical Approach</a:t>
            </a:r>
            <a:endParaRPr lang="en-US" sz="2600" dirty="0"/>
          </a:p>
        </p:txBody>
      </p:sp>
      <p:sp>
        <p:nvSpPr>
          <p:cNvPr id="3" name="Shape 1"/>
          <p:cNvSpPr/>
          <p:nvPr/>
        </p:nvSpPr>
        <p:spPr>
          <a:xfrm>
            <a:off x="292608" y="841248"/>
            <a:ext cx="1499616" cy="1901952"/>
          </a:xfrm>
          <a:prstGeom prst="roundRect">
            <a:avLst>
              <a:gd name="adj" fmla="val 3659"/>
            </a:avLst>
          </a:prstGeom>
          <a:solidFill>
            <a:srgbClr val="F6F7F9"/>
          </a:solidFill>
          <a:ln w="9525">
            <a:solidFill>
              <a:srgbClr val="E4E7EC"/>
            </a:solidFill>
            <a:prstDash val="solid"/>
          </a:ln>
        </p:spPr>
      </p:sp>
      <p:sp>
        <p:nvSpPr>
          <p:cNvPr id="4" name="Text 2"/>
          <p:cNvSpPr txBox="1"/>
          <p:nvPr/>
        </p:nvSpPr>
        <p:spPr>
          <a:xfrm>
            <a:off x="38404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01</a:t>
            </a:r>
            <a:endParaRPr lang="en-US" sz="1800" dirty="0"/>
          </a:p>
        </p:txBody>
      </p:sp>
      <p:sp>
        <p:nvSpPr>
          <p:cNvPr id="5" name="Text 3"/>
          <p:cNvSpPr txBox="1"/>
          <p:nvPr/>
        </p:nvSpPr>
        <p:spPr>
          <a:xfrm>
            <a:off x="38404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Capture</a:t>
            </a:r>
            <a:endParaRPr lang="en-US" sz="1000" dirty="0"/>
          </a:p>
        </p:txBody>
      </p:sp>
      <p:sp>
        <p:nvSpPr>
          <p:cNvPr id="6" name="Text 4"/>
          <p:cNvSpPr txBox="1"/>
          <p:nvPr/>
        </p:nvSpPr>
        <p:spPr>
          <a:xfrm>
            <a:off x="38404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Browser mic streams 16 kHz mono PCM16 over a signed-in WebSocket, cut into ~5 s chunks at a natural pause. Uploads (wav, mp3, m4a, ogg, webm) work too. SHA-256 taken on ingest.</a:t>
            </a:r>
            <a:endParaRPr lang="en-US" sz="840" dirty="0"/>
          </a:p>
        </p:txBody>
      </p:sp>
      <p:sp>
        <p:nvSpPr>
          <p:cNvPr id="7" name="Shape 5"/>
          <p:cNvSpPr/>
          <p:nvPr/>
        </p:nvSpPr>
        <p:spPr>
          <a:xfrm>
            <a:off x="1810512" y="1097280"/>
            <a:ext cx="155448" cy="914"/>
          </a:xfrm>
          <a:prstGeom prst="line">
            <a:avLst/>
          </a:prstGeom>
          <a:noFill/>
          <a:ln w="22225">
            <a:solidFill>
              <a:srgbClr val="F97A0F"/>
            </a:solidFill>
            <a:prstDash val="solid"/>
            <a:tailEnd type="triangle"/>
          </a:ln>
        </p:spPr>
      </p:sp>
      <p:sp>
        <p:nvSpPr>
          <p:cNvPr id="8" name="Shape 6"/>
          <p:cNvSpPr/>
          <p:nvPr/>
        </p:nvSpPr>
        <p:spPr>
          <a:xfrm>
            <a:off x="1984248" y="841248"/>
            <a:ext cx="1499616" cy="1901952"/>
          </a:xfrm>
          <a:prstGeom prst="roundRect">
            <a:avLst>
              <a:gd name="adj" fmla="val 3659"/>
            </a:avLst>
          </a:prstGeom>
          <a:solidFill>
            <a:srgbClr val="FFFFFF"/>
          </a:solidFill>
          <a:ln w="9525">
            <a:solidFill>
              <a:srgbClr val="E4E7EC"/>
            </a:solidFill>
            <a:prstDash val="solid"/>
          </a:ln>
        </p:spPr>
      </p:sp>
      <p:sp>
        <p:nvSpPr>
          <p:cNvPr id="9" name="Text 7"/>
          <p:cNvSpPr txBox="1"/>
          <p:nvPr/>
        </p:nvSpPr>
        <p:spPr>
          <a:xfrm>
            <a:off x="207568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02</a:t>
            </a:r>
            <a:endParaRPr lang="en-US" sz="1800" dirty="0"/>
          </a:p>
        </p:txBody>
      </p:sp>
      <p:sp>
        <p:nvSpPr>
          <p:cNvPr id="10" name="Text 8"/>
          <p:cNvSpPr txBox="1"/>
          <p:nvPr/>
        </p:nvSpPr>
        <p:spPr>
          <a:xfrm>
            <a:off x="207568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Speech to text</a:t>
            </a:r>
            <a:endParaRPr lang="en-US" sz="1000" dirty="0"/>
          </a:p>
        </p:txBody>
      </p:sp>
      <p:sp>
        <p:nvSpPr>
          <p:cNvPr id="11" name="Text 9"/>
          <p:cNvSpPr txBox="1"/>
          <p:nvPr/>
        </p:nvSpPr>
        <p:spPr>
          <a:xfrm>
            <a:off x="207568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faster-whisper small, int8 on CPU, Hindi mode, VAD, beam 5, word timestamps. After hang-up, large-v3-turbo re-transcribes the full call. Filters drop Whisper hallucinations.</a:t>
            </a:r>
            <a:endParaRPr lang="en-US" sz="840" dirty="0"/>
          </a:p>
        </p:txBody>
      </p:sp>
      <p:sp>
        <p:nvSpPr>
          <p:cNvPr id="12" name="Shape 10"/>
          <p:cNvSpPr/>
          <p:nvPr/>
        </p:nvSpPr>
        <p:spPr>
          <a:xfrm>
            <a:off x="3502152" y="1097280"/>
            <a:ext cx="155448" cy="914"/>
          </a:xfrm>
          <a:prstGeom prst="line">
            <a:avLst/>
          </a:prstGeom>
          <a:noFill/>
          <a:ln w="22225">
            <a:solidFill>
              <a:srgbClr val="F97A0F"/>
            </a:solidFill>
            <a:prstDash val="solid"/>
            <a:tailEnd type="triangle"/>
          </a:ln>
        </p:spPr>
      </p:sp>
      <p:sp>
        <p:nvSpPr>
          <p:cNvPr id="13" name="Shape 11"/>
          <p:cNvSpPr/>
          <p:nvPr/>
        </p:nvSpPr>
        <p:spPr>
          <a:xfrm>
            <a:off x="3675888" y="841248"/>
            <a:ext cx="1499616" cy="1901952"/>
          </a:xfrm>
          <a:prstGeom prst="roundRect">
            <a:avLst>
              <a:gd name="adj" fmla="val 3659"/>
            </a:avLst>
          </a:prstGeom>
          <a:solidFill>
            <a:srgbClr val="F6F7F9"/>
          </a:solidFill>
          <a:ln w="9525">
            <a:solidFill>
              <a:srgbClr val="E4E7EC"/>
            </a:solidFill>
            <a:prstDash val="solid"/>
          </a:ln>
        </p:spPr>
      </p:sp>
      <p:sp>
        <p:nvSpPr>
          <p:cNvPr id="14" name="Text 12"/>
          <p:cNvSpPr txBox="1"/>
          <p:nvPr/>
        </p:nvSpPr>
        <p:spPr>
          <a:xfrm>
            <a:off x="376732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03</a:t>
            </a:r>
            <a:endParaRPr lang="en-US" sz="1800" dirty="0"/>
          </a:p>
        </p:txBody>
      </p:sp>
      <p:sp>
        <p:nvSpPr>
          <p:cNvPr id="15" name="Text 13"/>
          <p:cNvSpPr txBox="1"/>
          <p:nvPr/>
        </p:nvSpPr>
        <p:spPr>
          <a:xfrm>
            <a:off x="376732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Hinglish layer</a:t>
            </a:r>
            <a:endParaRPr lang="en-US" sz="1000" dirty="0"/>
          </a:p>
        </p:txBody>
      </p:sp>
      <p:sp>
        <p:nvSpPr>
          <p:cNvPr id="16" name="Text 14"/>
          <p:cNvSpPr txBox="1"/>
          <p:nvPr/>
        </p:nvSpPr>
        <p:spPr>
          <a:xfrm>
            <a:off x="376732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Devanagari is transliterated to Roman Hinglish. The normaliser turns spoken numbers, “at the rate” and time phrases into values and keeps a character map back to the words.</a:t>
            </a:r>
            <a:endParaRPr lang="en-US" sz="840" dirty="0"/>
          </a:p>
        </p:txBody>
      </p:sp>
      <p:sp>
        <p:nvSpPr>
          <p:cNvPr id="17" name="Shape 15"/>
          <p:cNvSpPr/>
          <p:nvPr/>
        </p:nvSpPr>
        <p:spPr>
          <a:xfrm>
            <a:off x="5193792" y="1097280"/>
            <a:ext cx="155448" cy="914"/>
          </a:xfrm>
          <a:prstGeom prst="line">
            <a:avLst/>
          </a:prstGeom>
          <a:noFill/>
          <a:ln w="22225">
            <a:solidFill>
              <a:srgbClr val="F97A0F"/>
            </a:solidFill>
            <a:prstDash val="solid"/>
            <a:tailEnd type="triangle"/>
          </a:ln>
        </p:spPr>
      </p:sp>
      <p:sp>
        <p:nvSpPr>
          <p:cNvPr id="18" name="Shape 16"/>
          <p:cNvSpPr/>
          <p:nvPr/>
        </p:nvSpPr>
        <p:spPr>
          <a:xfrm>
            <a:off x="5367528" y="841248"/>
            <a:ext cx="1499616" cy="1901952"/>
          </a:xfrm>
          <a:prstGeom prst="roundRect">
            <a:avLst>
              <a:gd name="adj" fmla="val 3659"/>
            </a:avLst>
          </a:prstGeom>
          <a:solidFill>
            <a:srgbClr val="FFFFFF"/>
          </a:solidFill>
          <a:ln w="9525">
            <a:solidFill>
              <a:srgbClr val="E4E7EC"/>
            </a:solidFill>
            <a:prstDash val="solid"/>
          </a:ln>
        </p:spPr>
      </p:sp>
      <p:sp>
        <p:nvSpPr>
          <p:cNvPr id="19" name="Text 17"/>
          <p:cNvSpPr txBox="1"/>
          <p:nvPr/>
        </p:nvSpPr>
        <p:spPr>
          <a:xfrm>
            <a:off x="545896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04</a:t>
            </a:r>
            <a:endParaRPr lang="en-US" sz="1800" dirty="0"/>
          </a:p>
        </p:txBody>
      </p:sp>
      <p:sp>
        <p:nvSpPr>
          <p:cNvPr id="20" name="Text 18"/>
          <p:cNvSpPr txBox="1"/>
          <p:nvPr/>
        </p:nvSpPr>
        <p:spPr>
          <a:xfrm>
            <a:off x="545896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Fact extraction</a:t>
            </a:r>
            <a:endParaRPr lang="en-US" sz="1000" dirty="0"/>
          </a:p>
        </p:txBody>
      </p:sp>
      <p:sp>
        <p:nvSpPr>
          <p:cNvPr id="21" name="Text 19"/>
          <p:cNvSpPr txBox="1"/>
          <p:nvPr/>
        </p:nvSpPr>
        <p:spPr>
          <a:xfrm>
            <a:off x="545896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12 fields: amount, time, UPI, phone, account, IFSC, UTR, bank, app, agency, platform, email. Each keeps its segment, character span and audio second.</a:t>
            </a:r>
            <a:endParaRPr lang="en-US" sz="840" dirty="0"/>
          </a:p>
        </p:txBody>
      </p:sp>
      <p:sp>
        <p:nvSpPr>
          <p:cNvPr id="22" name="Shape 20"/>
          <p:cNvSpPr/>
          <p:nvPr/>
        </p:nvSpPr>
        <p:spPr>
          <a:xfrm>
            <a:off x="6885432" y="1097280"/>
            <a:ext cx="155448" cy="914"/>
          </a:xfrm>
          <a:prstGeom prst="line">
            <a:avLst/>
          </a:prstGeom>
          <a:noFill/>
          <a:ln w="22225">
            <a:solidFill>
              <a:srgbClr val="F97A0F"/>
            </a:solidFill>
            <a:prstDash val="solid"/>
            <a:tailEnd type="triangle"/>
          </a:ln>
        </p:spPr>
      </p:sp>
      <p:sp>
        <p:nvSpPr>
          <p:cNvPr id="23" name="Shape 21"/>
          <p:cNvSpPr/>
          <p:nvPr/>
        </p:nvSpPr>
        <p:spPr>
          <a:xfrm>
            <a:off x="7059168" y="841248"/>
            <a:ext cx="1499616" cy="1901952"/>
          </a:xfrm>
          <a:prstGeom prst="roundRect">
            <a:avLst>
              <a:gd name="adj" fmla="val 3659"/>
            </a:avLst>
          </a:prstGeom>
          <a:solidFill>
            <a:srgbClr val="F6F7F9"/>
          </a:solidFill>
          <a:ln w="9525">
            <a:solidFill>
              <a:srgbClr val="E4E7EC"/>
            </a:solidFill>
            <a:prstDash val="solid"/>
          </a:ln>
        </p:spPr>
      </p:sp>
      <p:sp>
        <p:nvSpPr>
          <p:cNvPr id="24" name="Text 22"/>
          <p:cNvSpPr txBox="1"/>
          <p:nvPr/>
        </p:nvSpPr>
        <p:spPr>
          <a:xfrm>
            <a:off x="715060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05</a:t>
            </a:r>
            <a:endParaRPr lang="en-US" sz="1800" dirty="0"/>
          </a:p>
        </p:txBody>
      </p:sp>
      <p:sp>
        <p:nvSpPr>
          <p:cNvPr id="25" name="Text 23"/>
          <p:cNvSpPr txBox="1"/>
          <p:nvPr/>
        </p:nvSpPr>
        <p:spPr>
          <a:xfrm>
            <a:off x="715060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Signals</a:t>
            </a:r>
            <a:endParaRPr lang="en-US" sz="1000" dirty="0"/>
          </a:p>
        </p:txBody>
      </p:sp>
      <p:sp>
        <p:nvSpPr>
          <p:cNvPr id="26" name="Text 24"/>
          <p:cNvSpPr txBox="1"/>
          <p:nvPr/>
        </p:nvSpPr>
        <p:spPr>
          <a:xfrm>
            <a:off x="715060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8 scam playbooks drive next questions. Safety scan finds coercion and crisis phrases. Live fear, anger, distress and nervousness from voice, plus a synthetic-voice check.</a:t>
            </a:r>
            <a:endParaRPr lang="en-US" sz="840" dirty="0"/>
          </a:p>
        </p:txBody>
      </p:sp>
      <p:sp>
        <p:nvSpPr>
          <p:cNvPr id="27" name="Shape 25"/>
          <p:cNvSpPr/>
          <p:nvPr/>
        </p:nvSpPr>
        <p:spPr>
          <a:xfrm>
            <a:off x="8577072" y="1097280"/>
            <a:ext cx="155448" cy="914"/>
          </a:xfrm>
          <a:prstGeom prst="line">
            <a:avLst/>
          </a:prstGeom>
          <a:noFill/>
          <a:ln w="22225">
            <a:solidFill>
              <a:srgbClr val="F97A0F"/>
            </a:solidFill>
            <a:prstDash val="solid"/>
            <a:tailEnd type="triangle"/>
          </a:ln>
        </p:spPr>
      </p:sp>
      <p:sp>
        <p:nvSpPr>
          <p:cNvPr id="28" name="Shape 26"/>
          <p:cNvSpPr/>
          <p:nvPr/>
        </p:nvSpPr>
        <p:spPr>
          <a:xfrm>
            <a:off x="8750808" y="841248"/>
            <a:ext cx="1499616" cy="1901952"/>
          </a:xfrm>
          <a:prstGeom prst="roundRect">
            <a:avLst>
              <a:gd name="adj" fmla="val 3659"/>
            </a:avLst>
          </a:prstGeom>
          <a:solidFill>
            <a:srgbClr val="101828"/>
          </a:solidFill>
          <a:ln w="9525">
            <a:solidFill>
              <a:srgbClr val="101828"/>
            </a:solidFill>
            <a:prstDash val="solid"/>
          </a:ln>
        </p:spPr>
      </p:sp>
      <p:sp>
        <p:nvSpPr>
          <p:cNvPr id="29" name="Text 27"/>
          <p:cNvSpPr txBox="1"/>
          <p:nvPr/>
        </p:nvSpPr>
        <p:spPr>
          <a:xfrm>
            <a:off x="884224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06</a:t>
            </a:r>
            <a:endParaRPr lang="en-US" sz="1800" dirty="0"/>
          </a:p>
        </p:txBody>
      </p:sp>
      <p:sp>
        <p:nvSpPr>
          <p:cNvPr id="30" name="Text 28"/>
          <p:cNvSpPr txBox="1"/>
          <p:nvPr/>
        </p:nvSpPr>
        <p:spPr>
          <a:xfrm>
            <a:off x="8842248" y="1316736"/>
            <a:ext cx="1316736" cy="228600"/>
          </a:xfrm>
          <a:prstGeom prst="rect">
            <a:avLst/>
          </a:prstGeom>
          <a:noFill/>
          <a:ln/>
        </p:spPr>
        <p:txBody>
          <a:bodyPr wrap="square" lIns="0" tIns="0" rIns="0" bIns="0" rtlCol="0" anchor="t"/>
          <a:lstStyle/>
          <a:p>
            <a:pPr indent="0" marL="0">
              <a:buNone/>
            </a:pPr>
            <a:r>
              <a:rPr lang="en-US" sz="1000" b="1" dirty="0">
                <a:solidFill>
                  <a:srgbClr val="FFFFFF"/>
                </a:solidFill>
                <a:latin typeface="Inter" pitchFamily="34" charset="0"/>
                <a:ea typeface="Inter" pitchFamily="34" charset="-122"/>
                <a:cs typeface="Inter" pitchFamily="34" charset="-120"/>
              </a:rPr>
              <a:t>Decide</a:t>
            </a:r>
            <a:endParaRPr lang="en-US" sz="1000" dirty="0"/>
          </a:p>
        </p:txBody>
      </p:sp>
      <p:sp>
        <p:nvSpPr>
          <p:cNvPr id="31" name="Text 29"/>
          <p:cNvSpPr txBox="1"/>
          <p:nvPr/>
        </p:nvSpPr>
        <p:spPr>
          <a:xfrm>
            <a:off x="8842248" y="1572768"/>
            <a:ext cx="1335024" cy="1115568"/>
          </a:xfrm>
          <a:prstGeom prst="rect">
            <a:avLst/>
          </a:prstGeom>
          <a:noFill/>
          <a:ln/>
        </p:spPr>
        <p:txBody>
          <a:bodyPr wrap="square" lIns="0" tIns="0" rIns="0" bIns="0" rtlCol="0" anchor="t"/>
          <a:lstStyle/>
          <a:p>
            <a:pPr indent="0" marL="0">
              <a:buNone/>
            </a:pPr>
            <a:r>
              <a:rPr lang="en-US" sz="840" dirty="0">
                <a:solidFill>
                  <a:srgbClr val="D0D5DD"/>
                </a:solidFill>
                <a:latin typeface="Inter" pitchFamily="34" charset="0"/>
                <a:ea typeface="Inter" pitchFamily="34" charset="-122"/>
                <a:cs typeface="Inter" pitchFamily="34" charset="-120"/>
              </a:rPr>
              <a:t>Three separate engines: golden-hour triage on facts, a role-gated distress track, and the Ring Linker across all cases (details below).</a:t>
            </a:r>
            <a:endParaRPr lang="en-US" sz="840" dirty="0"/>
          </a:p>
        </p:txBody>
      </p:sp>
      <p:sp>
        <p:nvSpPr>
          <p:cNvPr id="32" name="Shape 30"/>
          <p:cNvSpPr/>
          <p:nvPr/>
        </p:nvSpPr>
        <p:spPr>
          <a:xfrm>
            <a:off x="10268712" y="1097280"/>
            <a:ext cx="155448" cy="914"/>
          </a:xfrm>
          <a:prstGeom prst="line">
            <a:avLst/>
          </a:prstGeom>
          <a:noFill/>
          <a:ln w="22225">
            <a:solidFill>
              <a:srgbClr val="F97A0F"/>
            </a:solidFill>
            <a:prstDash val="solid"/>
            <a:tailEnd type="triangle"/>
          </a:ln>
        </p:spPr>
      </p:sp>
      <p:sp>
        <p:nvSpPr>
          <p:cNvPr id="33" name="Shape 31"/>
          <p:cNvSpPr/>
          <p:nvPr/>
        </p:nvSpPr>
        <p:spPr>
          <a:xfrm>
            <a:off x="10442448" y="841248"/>
            <a:ext cx="1499616" cy="1901952"/>
          </a:xfrm>
          <a:prstGeom prst="roundRect">
            <a:avLst>
              <a:gd name="adj" fmla="val 3659"/>
            </a:avLst>
          </a:prstGeom>
          <a:solidFill>
            <a:srgbClr val="F6F7F9"/>
          </a:solidFill>
          <a:ln w="9525">
            <a:solidFill>
              <a:srgbClr val="E4E7EC"/>
            </a:solidFill>
            <a:prstDash val="solid"/>
          </a:ln>
        </p:spPr>
      </p:sp>
      <p:sp>
        <p:nvSpPr>
          <p:cNvPr id="34" name="Text 32"/>
          <p:cNvSpPr txBox="1"/>
          <p:nvPr/>
        </p:nvSpPr>
        <p:spPr>
          <a:xfrm>
            <a:off x="10533888" y="932688"/>
            <a:ext cx="548640" cy="347472"/>
          </a:xfrm>
          <a:prstGeom prst="rect">
            <a:avLst/>
          </a:prstGeom>
          <a:noFill/>
          <a:ln/>
        </p:spPr>
        <p:txBody>
          <a:bodyPr wrap="square" lIns="0" tIns="0" rIns="0" bIns="0" rtlCol="0" anchor="t"/>
          <a:lstStyle/>
          <a:p>
            <a:pPr indent="0" marL="0">
              <a:buNone/>
            </a:pPr>
            <a:r>
              <a:rPr lang="en-US" sz="1800" b="1" dirty="0">
                <a:solidFill>
                  <a:srgbClr val="F97A0F"/>
                </a:solidFill>
                <a:latin typeface="Inter" pitchFamily="34" charset="0"/>
                <a:ea typeface="Inter" pitchFamily="34" charset="-122"/>
                <a:cs typeface="Inter" pitchFamily="34" charset="-120"/>
              </a:rPr>
              <a:t>07</a:t>
            </a:r>
            <a:endParaRPr lang="en-US" sz="1800" dirty="0"/>
          </a:p>
        </p:txBody>
      </p:sp>
      <p:sp>
        <p:nvSpPr>
          <p:cNvPr id="35" name="Text 33"/>
          <p:cNvSpPr txBox="1"/>
          <p:nvPr/>
        </p:nvSpPr>
        <p:spPr>
          <a:xfrm>
            <a:off x="10533888" y="1316736"/>
            <a:ext cx="1316736" cy="228600"/>
          </a:xfrm>
          <a:prstGeom prst="rect">
            <a:avLst/>
          </a:prstGeom>
          <a:noFill/>
          <a:ln/>
        </p:spPr>
        <p:txBody>
          <a:bodyPr wrap="square" lIns="0" tIns="0" rIns="0" bIns="0" rtlCol="0" anchor="t"/>
          <a:lstStyle/>
          <a:p>
            <a:pPr indent="0" marL="0">
              <a:buNone/>
            </a:pPr>
            <a:r>
              <a:rPr lang="en-US" sz="1000" b="1" dirty="0">
                <a:solidFill>
                  <a:srgbClr val="101828"/>
                </a:solidFill>
                <a:latin typeface="Inter" pitchFamily="34" charset="0"/>
                <a:ea typeface="Inter" pitchFamily="34" charset="-122"/>
                <a:cs typeface="Inter" pitchFamily="34" charset="-120"/>
              </a:rPr>
              <a:t>Officer in control</a:t>
            </a:r>
            <a:endParaRPr lang="en-US" sz="1000" dirty="0"/>
          </a:p>
        </p:txBody>
      </p:sp>
      <p:sp>
        <p:nvSpPr>
          <p:cNvPr id="36" name="Text 34"/>
          <p:cNvSpPr txBox="1"/>
          <p:nvPr/>
        </p:nvSpPr>
        <p:spPr>
          <a:xfrm>
            <a:off x="10533888" y="1572768"/>
            <a:ext cx="1335024" cy="1115568"/>
          </a:xfrm>
          <a:prstGeom prst="rect">
            <a:avLst/>
          </a:prstGeom>
          <a:noFill/>
          <a:ln/>
        </p:spPr>
        <p:txBody>
          <a:bodyPr wrap="square" lIns="0" tIns="0" rIns="0" bIns="0" rtlCol="0" anchor="t"/>
          <a:lstStyle/>
          <a:p>
            <a:pPr indent="0" marL="0">
              <a:buNone/>
            </a:pPr>
            <a:r>
              <a:rPr lang="en-US" sz="840" dirty="0">
                <a:solidFill>
                  <a:srgbClr val="475467"/>
                </a:solidFill>
                <a:latin typeface="Inter" pitchFamily="34" charset="0"/>
                <a:ea typeface="Inter" pitchFamily="34" charset="-122"/>
                <a:cs typeface="Inter" pitchFamily="34" charset="-120"/>
              </a:rPr>
              <a:t>Next.js workspace: verify or correct every field, Hindi read-back to the caller, complaint draft. Every view, AI output and edit goes into the audit chain.</a:t>
            </a:r>
            <a:endParaRPr lang="en-US" sz="840" dirty="0"/>
          </a:p>
        </p:txBody>
      </p:sp>
      <p:sp>
        <p:nvSpPr>
          <p:cNvPr id="37" name="Text 35"/>
          <p:cNvSpPr txBox="1"/>
          <p:nvPr/>
        </p:nvSpPr>
        <p:spPr>
          <a:xfrm>
            <a:off x="292608" y="2834640"/>
            <a:ext cx="1920240" cy="365760"/>
          </a:xfrm>
          <a:prstGeom prst="rect">
            <a:avLst/>
          </a:prstGeom>
          <a:noFill/>
          <a:ln/>
        </p:spPr>
        <p:txBody>
          <a:bodyPr wrap="square" lIns="0" tIns="0" rIns="0" bIns="0" rtlCol="0" anchor="ctr"/>
          <a:lstStyle/>
          <a:p>
            <a:pPr indent="0" marL="0">
              <a:buNone/>
            </a:pPr>
            <a:r>
              <a:rPr lang="en-US" sz="850" b="1" dirty="0">
                <a:solidFill>
                  <a:srgbClr val="C2570C"/>
                </a:solidFill>
                <a:latin typeface="Inter" pitchFamily="34" charset="0"/>
                <a:ea typeface="Inter" pitchFamily="34" charset="-122"/>
                <a:cs typeface="Inter" pitchFamily="34" charset="-120"/>
              </a:rPr>
              <a:t>Hinglish normaliser</a:t>
            </a:r>
            <a:pPr indent="0" marL="0">
              <a:buNone/>
            </a:pPr>
            <a:r>
              <a:rPr lang="en-US" sz="850" dirty="0">
                <a:solidFill>
                  <a:srgbClr val="475467"/>
                </a:solidFill>
                <a:latin typeface="Inter" pitchFamily="34" charset="0"/>
                <a:ea typeface="Inter" pitchFamily="34" charset="-122"/>
                <a:cs typeface="Inter" pitchFamily="34" charset="-120"/>
              </a:rPr>
              <a:t>  real outputs:</a:t>
            </a:r>
            <a:endParaRPr lang="en-US" sz="850" dirty="0"/>
          </a:p>
        </p:txBody>
      </p:sp>
      <p:sp>
        <p:nvSpPr>
          <p:cNvPr id="38" name="Shape 36"/>
          <p:cNvSpPr/>
          <p:nvPr/>
        </p:nvSpPr>
        <p:spPr>
          <a:xfrm>
            <a:off x="2240280" y="2862072"/>
            <a:ext cx="1965960" cy="310896"/>
          </a:xfrm>
          <a:prstGeom prst="roundRect">
            <a:avLst>
              <a:gd name="adj" fmla="val 17647"/>
            </a:avLst>
          </a:prstGeom>
          <a:solidFill>
            <a:srgbClr val="FFF4EA"/>
          </a:solidFill>
          <a:ln w="9525">
            <a:solidFill>
              <a:srgbClr val="FDD4AE"/>
            </a:solidFill>
            <a:prstDash val="solid"/>
          </a:ln>
        </p:spPr>
      </p:sp>
      <p:sp>
        <p:nvSpPr>
          <p:cNvPr id="39" name="Text 37"/>
          <p:cNvSpPr txBox="1"/>
          <p:nvPr/>
        </p:nvSpPr>
        <p:spPr>
          <a:xfrm>
            <a:off x="2276856" y="2862072"/>
            <a:ext cx="1892808" cy="310896"/>
          </a:xfrm>
          <a:prstGeom prst="rect">
            <a:avLst/>
          </a:prstGeom>
          <a:noFill/>
          <a:ln/>
        </p:spPr>
        <p:txBody>
          <a:bodyPr wrap="square" lIns="0" tIns="0" rIns="0" bIns="0" rtlCol="0" anchor="ctr"/>
          <a:lstStyle/>
          <a:p>
            <a:pPr algn="ctr" indent="0" marL="0">
              <a:buNone/>
            </a:pPr>
            <a:r>
              <a:rPr lang="en-US" sz="750" i="1" dirty="0">
                <a:solidFill>
                  <a:srgbClr val="475467"/>
                </a:solidFill>
                <a:latin typeface="Inter" pitchFamily="34" charset="0"/>
                <a:ea typeface="Inter" pitchFamily="34" charset="-122"/>
                <a:cs typeface="Inter" pitchFamily="34" charset="-120"/>
              </a:rPr>
              <a:t>saadhe paanch hazaar</a:t>
            </a:r>
            <a:pPr algn="ctr" indent="0" marL="0">
              <a:buNone/>
            </a:pPr>
            <a:r>
              <a:rPr lang="en-US" sz="750" b="1" dirty="0">
                <a:solidFill>
                  <a:srgbClr val="F97A0F"/>
                </a:solidFill>
                <a:latin typeface="Inter" pitchFamily="34" charset="0"/>
                <a:ea typeface="Inter" pitchFamily="34" charset="-122"/>
                <a:cs typeface="Inter" pitchFamily="34" charset="-120"/>
              </a:rPr>
              <a:t>  →  </a:t>
            </a:r>
            <a:pPr algn="ctr" indent="0" marL="0">
              <a:buNone/>
            </a:pPr>
            <a:r>
              <a:rPr lang="en-US" sz="750" b="1" dirty="0">
                <a:solidFill>
                  <a:srgbClr val="101828"/>
                </a:solidFill>
                <a:latin typeface="Inter" pitchFamily="34" charset="0"/>
                <a:ea typeface="Inter" pitchFamily="34" charset="-122"/>
                <a:cs typeface="Inter" pitchFamily="34" charset="-120"/>
              </a:rPr>
              <a:t>₹5,500</a:t>
            </a:r>
            <a:endParaRPr lang="en-US" sz="750" dirty="0"/>
          </a:p>
        </p:txBody>
      </p:sp>
      <p:sp>
        <p:nvSpPr>
          <p:cNvPr id="40" name="Shape 38"/>
          <p:cNvSpPr/>
          <p:nvPr/>
        </p:nvSpPr>
        <p:spPr>
          <a:xfrm>
            <a:off x="4279392" y="2862072"/>
            <a:ext cx="1463040" cy="310896"/>
          </a:xfrm>
          <a:prstGeom prst="roundRect">
            <a:avLst>
              <a:gd name="adj" fmla="val 17647"/>
            </a:avLst>
          </a:prstGeom>
          <a:solidFill>
            <a:srgbClr val="FFF4EA"/>
          </a:solidFill>
          <a:ln w="9525">
            <a:solidFill>
              <a:srgbClr val="FDD4AE"/>
            </a:solidFill>
            <a:prstDash val="solid"/>
          </a:ln>
        </p:spPr>
      </p:sp>
      <p:sp>
        <p:nvSpPr>
          <p:cNvPr id="41" name="Text 39"/>
          <p:cNvSpPr txBox="1"/>
          <p:nvPr/>
        </p:nvSpPr>
        <p:spPr>
          <a:xfrm>
            <a:off x="4315968" y="2862072"/>
            <a:ext cx="1389888" cy="310896"/>
          </a:xfrm>
          <a:prstGeom prst="rect">
            <a:avLst/>
          </a:prstGeom>
          <a:noFill/>
          <a:ln/>
        </p:spPr>
        <p:txBody>
          <a:bodyPr wrap="square" lIns="0" tIns="0" rIns="0" bIns="0" rtlCol="0" anchor="ctr"/>
          <a:lstStyle/>
          <a:p>
            <a:pPr algn="ctr" indent="0" marL="0">
              <a:buNone/>
            </a:pPr>
            <a:r>
              <a:rPr lang="en-US" sz="750" i="1" dirty="0">
                <a:solidFill>
                  <a:srgbClr val="475467"/>
                </a:solidFill>
                <a:latin typeface="Inter" pitchFamily="34" charset="0"/>
                <a:ea typeface="Inter" pitchFamily="34" charset="-122"/>
                <a:cs typeface="Inter" pitchFamily="34" charset="-120"/>
              </a:rPr>
              <a:t>dedh lakh</a:t>
            </a:r>
            <a:pPr algn="ctr" indent="0" marL="0">
              <a:buNone/>
            </a:pPr>
            <a:r>
              <a:rPr lang="en-US" sz="750" b="1" dirty="0">
                <a:solidFill>
                  <a:srgbClr val="F97A0F"/>
                </a:solidFill>
                <a:latin typeface="Inter" pitchFamily="34" charset="0"/>
                <a:ea typeface="Inter" pitchFamily="34" charset="-122"/>
                <a:cs typeface="Inter" pitchFamily="34" charset="-120"/>
              </a:rPr>
              <a:t>  →  </a:t>
            </a:r>
            <a:pPr algn="ctr" indent="0" marL="0">
              <a:buNone/>
            </a:pPr>
            <a:r>
              <a:rPr lang="en-US" sz="750" b="1" dirty="0">
                <a:solidFill>
                  <a:srgbClr val="101828"/>
                </a:solidFill>
                <a:latin typeface="Inter" pitchFamily="34" charset="0"/>
                <a:ea typeface="Inter" pitchFamily="34" charset="-122"/>
                <a:cs typeface="Inter" pitchFamily="34" charset="-120"/>
              </a:rPr>
              <a:t>₹1,50,000</a:t>
            </a:r>
            <a:endParaRPr lang="en-US" sz="750" dirty="0"/>
          </a:p>
        </p:txBody>
      </p:sp>
      <p:sp>
        <p:nvSpPr>
          <p:cNvPr id="42" name="Shape 40"/>
          <p:cNvSpPr/>
          <p:nvPr/>
        </p:nvSpPr>
        <p:spPr>
          <a:xfrm>
            <a:off x="5815584" y="2862072"/>
            <a:ext cx="2514600" cy="310896"/>
          </a:xfrm>
          <a:prstGeom prst="roundRect">
            <a:avLst>
              <a:gd name="adj" fmla="val 17647"/>
            </a:avLst>
          </a:prstGeom>
          <a:solidFill>
            <a:srgbClr val="FFF4EA"/>
          </a:solidFill>
          <a:ln w="9525">
            <a:solidFill>
              <a:srgbClr val="FDD4AE"/>
            </a:solidFill>
            <a:prstDash val="solid"/>
          </a:ln>
        </p:spPr>
      </p:sp>
      <p:sp>
        <p:nvSpPr>
          <p:cNvPr id="43" name="Text 41"/>
          <p:cNvSpPr txBox="1"/>
          <p:nvPr/>
        </p:nvSpPr>
        <p:spPr>
          <a:xfrm>
            <a:off x="5852160" y="2862072"/>
            <a:ext cx="2441448" cy="310896"/>
          </a:xfrm>
          <a:prstGeom prst="rect">
            <a:avLst/>
          </a:prstGeom>
          <a:noFill/>
          <a:ln/>
        </p:spPr>
        <p:txBody>
          <a:bodyPr wrap="square" lIns="0" tIns="0" rIns="0" bIns="0" rtlCol="0" anchor="ctr"/>
          <a:lstStyle/>
          <a:p>
            <a:pPr algn="ctr" indent="0" marL="0">
              <a:buNone/>
            </a:pPr>
            <a:r>
              <a:rPr lang="en-US" sz="750" i="1" dirty="0">
                <a:solidFill>
                  <a:srgbClr val="475467"/>
                </a:solidFill>
                <a:latin typeface="Inter" pitchFamily="34" charset="0"/>
                <a:ea typeface="Inter" pitchFamily="34" charset="-122"/>
                <a:cs typeface="Inter" pitchFamily="34" charset="-120"/>
              </a:rPr>
              <a:t>ramesh at the rate okaxis</a:t>
            </a:r>
            <a:pPr algn="ctr" indent="0" marL="0">
              <a:buNone/>
            </a:pPr>
            <a:r>
              <a:rPr lang="en-US" sz="750" b="1" dirty="0">
                <a:solidFill>
                  <a:srgbClr val="F97A0F"/>
                </a:solidFill>
                <a:latin typeface="Inter" pitchFamily="34" charset="0"/>
                <a:ea typeface="Inter" pitchFamily="34" charset="-122"/>
                <a:cs typeface="Inter" pitchFamily="34" charset="-120"/>
              </a:rPr>
              <a:t>  →  </a:t>
            </a:r>
            <a:pPr algn="ctr" indent="0" marL="0">
              <a:buNone/>
            </a:pPr>
            <a:r>
              <a:rPr lang="en-US" sz="750" b="1" dirty="0">
                <a:solidFill>
                  <a:srgbClr val="101828"/>
                </a:solidFill>
                <a:latin typeface="Inter" pitchFamily="34" charset="0"/>
                <a:ea typeface="Inter" pitchFamily="34" charset="-122"/>
                <a:cs typeface="Inter" pitchFamily="34" charset="-120"/>
              </a:rPr>
              <a:t>ramesh@okaxis</a:t>
            </a:r>
            <a:endParaRPr lang="en-US" sz="750" dirty="0"/>
          </a:p>
        </p:txBody>
      </p:sp>
      <p:sp>
        <p:nvSpPr>
          <p:cNvPr id="44" name="Shape 42"/>
          <p:cNvSpPr/>
          <p:nvPr/>
        </p:nvSpPr>
        <p:spPr>
          <a:xfrm>
            <a:off x="8403336" y="2862072"/>
            <a:ext cx="1371600" cy="310896"/>
          </a:xfrm>
          <a:prstGeom prst="roundRect">
            <a:avLst>
              <a:gd name="adj" fmla="val 17647"/>
            </a:avLst>
          </a:prstGeom>
          <a:solidFill>
            <a:srgbClr val="FFF4EA"/>
          </a:solidFill>
          <a:ln w="9525">
            <a:solidFill>
              <a:srgbClr val="FDD4AE"/>
            </a:solidFill>
            <a:prstDash val="solid"/>
          </a:ln>
        </p:spPr>
      </p:sp>
      <p:sp>
        <p:nvSpPr>
          <p:cNvPr id="45" name="Text 43"/>
          <p:cNvSpPr txBox="1"/>
          <p:nvPr/>
        </p:nvSpPr>
        <p:spPr>
          <a:xfrm>
            <a:off x="8439912" y="2862072"/>
            <a:ext cx="1298448" cy="310896"/>
          </a:xfrm>
          <a:prstGeom prst="rect">
            <a:avLst/>
          </a:prstGeom>
          <a:noFill/>
          <a:ln/>
        </p:spPr>
        <p:txBody>
          <a:bodyPr wrap="square" lIns="0" tIns="0" rIns="0" bIns="0" rtlCol="0" anchor="ctr"/>
          <a:lstStyle/>
          <a:p>
            <a:pPr algn="ctr" indent="0" marL="0">
              <a:buNone/>
            </a:pPr>
            <a:r>
              <a:rPr lang="en-US" sz="750" i="1" dirty="0">
                <a:solidFill>
                  <a:srgbClr val="475467"/>
                </a:solidFill>
                <a:latin typeface="Inter" pitchFamily="34" charset="0"/>
                <a:ea typeface="Inter" pitchFamily="34" charset="-122"/>
                <a:cs typeface="Inter" pitchFamily="34" charset="-120"/>
              </a:rPr>
              <a:t>nau aath saat…</a:t>
            </a:r>
            <a:pPr algn="ctr" indent="0" marL="0">
              <a:buNone/>
            </a:pPr>
            <a:r>
              <a:rPr lang="en-US" sz="750" b="1" dirty="0">
                <a:solidFill>
                  <a:srgbClr val="F97A0F"/>
                </a:solidFill>
                <a:latin typeface="Inter" pitchFamily="34" charset="0"/>
                <a:ea typeface="Inter" pitchFamily="34" charset="-122"/>
                <a:cs typeface="Inter" pitchFamily="34" charset="-120"/>
              </a:rPr>
              <a:t>  →  </a:t>
            </a:r>
            <a:pPr algn="ctr" indent="0" marL="0">
              <a:buNone/>
            </a:pPr>
            <a:r>
              <a:rPr lang="en-US" sz="750" b="1" dirty="0">
                <a:solidFill>
                  <a:srgbClr val="101828"/>
                </a:solidFill>
                <a:latin typeface="Inter" pitchFamily="34" charset="0"/>
                <a:ea typeface="Inter" pitchFamily="34" charset="-122"/>
                <a:cs typeface="Inter" pitchFamily="34" charset="-120"/>
              </a:rPr>
              <a:t>987…</a:t>
            </a:r>
            <a:endParaRPr lang="en-US" sz="750" dirty="0"/>
          </a:p>
        </p:txBody>
      </p:sp>
      <p:sp>
        <p:nvSpPr>
          <p:cNvPr id="46" name="Shape 44"/>
          <p:cNvSpPr/>
          <p:nvPr/>
        </p:nvSpPr>
        <p:spPr>
          <a:xfrm>
            <a:off x="9848088" y="2862072"/>
            <a:ext cx="2011680" cy="310896"/>
          </a:xfrm>
          <a:prstGeom prst="roundRect">
            <a:avLst>
              <a:gd name="adj" fmla="val 17647"/>
            </a:avLst>
          </a:prstGeom>
          <a:solidFill>
            <a:srgbClr val="FFF4EA"/>
          </a:solidFill>
          <a:ln w="9525">
            <a:solidFill>
              <a:srgbClr val="FDD4AE"/>
            </a:solidFill>
            <a:prstDash val="solid"/>
          </a:ln>
        </p:spPr>
      </p:sp>
      <p:sp>
        <p:nvSpPr>
          <p:cNvPr id="47" name="Text 45"/>
          <p:cNvSpPr txBox="1"/>
          <p:nvPr/>
        </p:nvSpPr>
        <p:spPr>
          <a:xfrm>
            <a:off x="9884664" y="2862072"/>
            <a:ext cx="1938528" cy="310896"/>
          </a:xfrm>
          <a:prstGeom prst="rect">
            <a:avLst/>
          </a:prstGeom>
          <a:noFill/>
          <a:ln/>
        </p:spPr>
        <p:txBody>
          <a:bodyPr wrap="square" lIns="0" tIns="0" rIns="0" bIns="0" rtlCol="0" anchor="ctr"/>
          <a:lstStyle/>
          <a:p>
            <a:pPr algn="ctr" indent="0" marL="0">
              <a:buNone/>
            </a:pPr>
            <a:r>
              <a:rPr lang="en-US" sz="750" i="1" dirty="0">
                <a:solidFill>
                  <a:srgbClr val="475467"/>
                </a:solidFill>
                <a:latin typeface="Inter" pitchFamily="34" charset="0"/>
                <a:ea typeface="Inter" pitchFamily="34" charset="-122"/>
                <a:cs typeface="Inter" pitchFamily="34" charset="-120"/>
              </a:rPr>
              <a:t>aadha ghanta pehle</a:t>
            </a:r>
            <a:pPr algn="ctr" indent="0" marL="0">
              <a:buNone/>
            </a:pPr>
            <a:r>
              <a:rPr lang="en-US" sz="750" b="1" dirty="0">
                <a:solidFill>
                  <a:srgbClr val="F97A0F"/>
                </a:solidFill>
                <a:latin typeface="Inter" pitchFamily="34" charset="0"/>
                <a:ea typeface="Inter" pitchFamily="34" charset="-122"/>
                <a:cs typeface="Inter" pitchFamily="34" charset="-120"/>
              </a:rPr>
              <a:t>  →  </a:t>
            </a:r>
            <a:pPr algn="ctr" indent="0" marL="0">
              <a:buNone/>
            </a:pPr>
            <a:r>
              <a:rPr lang="en-US" sz="750" b="1" dirty="0">
                <a:solidFill>
                  <a:srgbClr val="101828"/>
                </a:solidFill>
                <a:latin typeface="Inter" pitchFamily="34" charset="0"/>
                <a:ea typeface="Inter" pitchFamily="34" charset="-122"/>
                <a:cs typeface="Inter" pitchFamily="34" charset="-120"/>
              </a:rPr>
              <a:t>a clock time</a:t>
            </a:r>
            <a:endParaRPr lang="en-US" sz="750" dirty="0"/>
          </a:p>
        </p:txBody>
      </p:sp>
      <p:sp>
        <p:nvSpPr>
          <p:cNvPr id="48" name="Shape 46"/>
          <p:cNvSpPr/>
          <p:nvPr/>
        </p:nvSpPr>
        <p:spPr>
          <a:xfrm>
            <a:off x="292608" y="3291840"/>
            <a:ext cx="3200400" cy="2990088"/>
          </a:xfrm>
          <a:prstGeom prst="roundRect">
            <a:avLst>
              <a:gd name="adj" fmla="val 1835"/>
            </a:avLst>
          </a:prstGeom>
          <a:solidFill>
            <a:srgbClr val="FFFFFF"/>
          </a:solidFill>
          <a:ln w="9525">
            <a:solidFill>
              <a:srgbClr val="E4E7EC"/>
            </a:solidFill>
            <a:prstDash val="solid"/>
          </a:ln>
        </p:spPr>
      </p:sp>
      <p:sp>
        <p:nvSpPr>
          <p:cNvPr id="49" name="Text 47"/>
          <p:cNvSpPr txBox="1"/>
          <p:nvPr/>
        </p:nvSpPr>
        <p:spPr>
          <a:xfrm>
            <a:off x="402336" y="3383280"/>
            <a:ext cx="3017520" cy="292608"/>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Distress track (victim, informant)</a:t>
            </a:r>
            <a:endParaRPr lang="en-US" sz="1000" dirty="0"/>
          </a:p>
        </p:txBody>
      </p:sp>
      <p:sp>
        <p:nvSpPr>
          <p:cNvPr id="50" name="Shape 48"/>
          <p:cNvSpPr/>
          <p:nvPr/>
        </p:nvSpPr>
        <p:spPr>
          <a:xfrm>
            <a:off x="402336" y="3767328"/>
            <a:ext cx="2980944" cy="384048"/>
          </a:xfrm>
          <a:prstGeom prst="roundRect">
            <a:avLst>
              <a:gd name="adj" fmla="val 14286"/>
            </a:avLst>
          </a:prstGeom>
          <a:solidFill>
            <a:srgbClr val="F6F7F9"/>
          </a:solidFill>
          <a:ln w="9525">
            <a:solidFill>
              <a:srgbClr val="F6F7F9"/>
            </a:solidFill>
            <a:prstDash val="solid"/>
          </a:ln>
        </p:spPr>
      </p:sp>
      <p:sp>
        <p:nvSpPr>
          <p:cNvPr id="51" name="Text 49"/>
          <p:cNvSpPr txBox="1"/>
          <p:nvPr/>
        </p:nvSpPr>
        <p:spPr>
          <a:xfrm>
            <a:off x="475488" y="3794760"/>
            <a:ext cx="2834640" cy="347472"/>
          </a:xfrm>
          <a:prstGeom prst="rect">
            <a:avLst/>
          </a:prstGeom>
          <a:noFill/>
          <a:ln/>
        </p:spPr>
        <p:txBody>
          <a:bodyPr wrap="square" lIns="0" tIns="0" rIns="0" bIns="0" rtlCol="0" anchor="ctr"/>
          <a:lstStyle/>
          <a:p>
            <a:pPr indent="0" marL="0">
              <a:buNone/>
            </a:pPr>
            <a:r>
              <a:rPr lang="en-US" sz="800" b="1" dirty="0">
                <a:solidFill>
                  <a:srgbClr val="101828"/>
                </a:solidFill>
                <a:latin typeface="Inter" pitchFamily="34" charset="0"/>
                <a:ea typeface="Inter" pitchFamily="34" charset="-122"/>
                <a:cs typeface="Inter" pitchFamily="34" charset="-120"/>
              </a:rPr>
              <a:t>Voice emotion: emotion2vec+ per spoken line</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weights  fear 1.0 · sad 0.85 · angry 0.6 · disgust 0.4</a:t>
            </a:r>
            <a:endParaRPr lang="en-US" sz="950" dirty="0"/>
          </a:p>
        </p:txBody>
      </p:sp>
      <p:sp>
        <p:nvSpPr>
          <p:cNvPr id="52" name="Shape 50"/>
          <p:cNvSpPr/>
          <p:nvPr/>
        </p:nvSpPr>
        <p:spPr>
          <a:xfrm>
            <a:off x="402336" y="4224528"/>
            <a:ext cx="2980944" cy="384048"/>
          </a:xfrm>
          <a:prstGeom prst="roundRect">
            <a:avLst>
              <a:gd name="adj" fmla="val 14286"/>
            </a:avLst>
          </a:prstGeom>
          <a:solidFill>
            <a:srgbClr val="F6F7F9"/>
          </a:solidFill>
          <a:ln w="9525">
            <a:solidFill>
              <a:srgbClr val="F6F7F9"/>
            </a:solidFill>
            <a:prstDash val="solid"/>
          </a:ln>
        </p:spPr>
      </p:sp>
      <p:sp>
        <p:nvSpPr>
          <p:cNvPr id="53" name="Text 51"/>
          <p:cNvSpPr txBox="1"/>
          <p:nvPr/>
        </p:nvSpPr>
        <p:spPr>
          <a:xfrm>
            <a:off x="475488" y="4251960"/>
            <a:ext cx="2834640" cy="347472"/>
          </a:xfrm>
          <a:prstGeom prst="rect">
            <a:avLst/>
          </a:prstGeom>
          <a:noFill/>
          <a:ln/>
        </p:spPr>
        <p:txBody>
          <a:bodyPr wrap="square" lIns="0" tIns="0" rIns="0" bIns="0" rtlCol="0" anchor="ctr"/>
          <a:lstStyle/>
          <a:p>
            <a:pPr indent="0" marL="0">
              <a:buNone/>
            </a:pPr>
            <a:r>
              <a:rPr lang="en-US" sz="800" b="1" dirty="0">
                <a:solidFill>
                  <a:srgbClr val="101828"/>
                </a:solidFill>
                <a:latin typeface="Inter" pitchFamily="34" charset="0"/>
                <a:ea typeface="Inter" pitchFamily="34" charset="-122"/>
                <a:cs typeface="Inter" pitchFamily="34" charset="-120"/>
              </a:rPr>
              <a:t>Acoustic change vs the caller’s own first 20%</a:t>
            </a:r>
            <a:endParaRPr lang="en-US" sz="950" dirty="0"/>
          </a:p>
          <a:p>
            <a:pPr indent="0" marL="0">
              <a:buNone/>
            </a:pPr>
            <a:r>
              <a:rPr lang="en-US" sz="750" dirty="0">
                <a:solidFill>
                  <a:srgbClr val="475467"/>
                </a:solidFill>
                <a:latin typeface="Inter" pitchFamily="34" charset="0"/>
                <a:ea typeface="Inter" pitchFamily="34" charset="-122"/>
                <a:cs typeface="Inter" pitchFamily="34" charset="-120"/>
              </a:rPr>
              <a:t>pitch variability 0.35 · energy 0.25 · pace 0.2 · pauses 0.2</a:t>
            </a:r>
            <a:endParaRPr lang="en-US" sz="950" dirty="0"/>
          </a:p>
        </p:txBody>
      </p:sp>
      <p:sp>
        <p:nvSpPr>
          <p:cNvPr id="54" name="Shape 52"/>
          <p:cNvSpPr/>
          <p:nvPr/>
        </p:nvSpPr>
        <p:spPr>
          <a:xfrm>
            <a:off x="402336" y="4690872"/>
            <a:ext cx="2980944" cy="457200"/>
          </a:xfrm>
          <a:prstGeom prst="roundRect">
            <a:avLst>
              <a:gd name="adj" fmla="val 12000"/>
            </a:avLst>
          </a:prstGeom>
          <a:solidFill>
            <a:srgbClr val="101828"/>
          </a:solidFill>
          <a:ln w="9525">
            <a:solidFill>
              <a:srgbClr val="101828"/>
            </a:solidFill>
            <a:prstDash val="solid"/>
          </a:ln>
        </p:spPr>
      </p:sp>
      <p:sp>
        <p:nvSpPr>
          <p:cNvPr id="55" name="Text 53"/>
          <p:cNvSpPr txBox="1"/>
          <p:nvPr/>
        </p:nvSpPr>
        <p:spPr>
          <a:xfrm>
            <a:off x="402336" y="4690872"/>
            <a:ext cx="2980944" cy="457200"/>
          </a:xfrm>
          <a:prstGeom prst="rect">
            <a:avLst/>
          </a:prstGeom>
          <a:noFill/>
          <a:ln/>
        </p:spPr>
        <p:txBody>
          <a:bodyPr wrap="square" lIns="0" tIns="0" rIns="0" bIns="0" rtlCol="0" anchor="ctr"/>
          <a:lstStyle/>
          <a:p>
            <a:pPr algn="ctr" indent="0" marL="0">
              <a:buNone/>
            </a:pPr>
            <a:r>
              <a:rPr lang="en-US" sz="800" b="1" dirty="0">
                <a:solidFill>
                  <a:srgbClr val="FFFFFF"/>
                </a:solidFill>
                <a:latin typeface="Inter" pitchFamily="34" charset="0"/>
                <a:ea typeface="Inter" pitchFamily="34" charset="-122"/>
                <a:cs typeface="Inter" pitchFamily="34" charset="-120"/>
              </a:rPr>
              <a:t>window = 0.55 × emotion + 0.45 × acoustic</a:t>
            </a:r>
            <a:endParaRPr lang="en-US" sz="800" dirty="0"/>
          </a:p>
          <a:p>
            <a:pPr algn="ctr" indent="0" marL="0">
              <a:buNone/>
            </a:pPr>
            <a:r>
              <a:rPr lang="en-US" sz="800" dirty="0">
                <a:solidFill>
                  <a:srgbClr val="FDD4AE"/>
                </a:solidFill>
                <a:latin typeface="Inter" pitchFamily="34" charset="0"/>
                <a:ea typeface="Inter" pitchFamily="34" charset="-122"/>
                <a:cs typeface="Inter" pitchFamily="34" charset="-120"/>
              </a:rPr>
              <a:t>voice = 0.7 × top-25% windows + 0.3 × last 3</a:t>
            </a:r>
            <a:endParaRPr lang="en-US" sz="800" dirty="0"/>
          </a:p>
        </p:txBody>
      </p:sp>
      <p:sp>
        <p:nvSpPr>
          <p:cNvPr id="56" name="Text 54"/>
          <p:cNvSpPr txBox="1"/>
          <p:nvPr/>
        </p:nvSpPr>
        <p:spPr>
          <a:xfrm>
            <a:off x="429768" y="5212080"/>
            <a:ext cx="2926080" cy="274320"/>
          </a:xfrm>
          <a:prstGeom prst="rect">
            <a:avLst/>
          </a:prstGeom>
          <a:noFill/>
          <a:ln/>
        </p:spPr>
        <p:txBody>
          <a:bodyPr wrap="square" lIns="0" tIns="0" rIns="0" bIns="0" rtlCol="0" anchor="t"/>
          <a:lstStyle/>
          <a:p>
            <a:pPr indent="0" marL="0">
              <a:buNone/>
            </a:pPr>
            <a:r>
              <a:rPr lang="en-US" sz="750" dirty="0">
                <a:solidFill>
                  <a:srgbClr val="475467"/>
                </a:solidFill>
                <a:latin typeface="Inter" pitchFamily="34" charset="0"/>
                <a:ea typeface="Inter" pitchFamily="34" charset="-122"/>
                <a:cs typeface="Inter" pitchFamily="34" charset="-120"/>
              </a:rPr>
              <a:t>+0.12 per distress phrase (max 0.36), +0.15 coercion, +0.08 money lost, +0.25 crisis. Sustained, not one spike.</a:t>
            </a:r>
            <a:endParaRPr lang="en-US" sz="750" dirty="0"/>
          </a:p>
        </p:txBody>
      </p:sp>
      <p:sp>
        <p:nvSpPr>
          <p:cNvPr id="57" name="Shape 55"/>
          <p:cNvSpPr/>
          <p:nvPr/>
        </p:nvSpPr>
        <p:spPr>
          <a:xfrm>
            <a:off x="402336" y="5532120"/>
            <a:ext cx="914400" cy="219456"/>
          </a:xfrm>
          <a:prstGeom prst="roundRect">
            <a:avLst>
              <a:gd name="adj" fmla="val 33333"/>
            </a:avLst>
          </a:prstGeom>
          <a:solidFill>
            <a:srgbClr val="FEF3F2"/>
          </a:solidFill>
          <a:ln w="9525">
            <a:solidFill>
              <a:srgbClr val="FECDCA"/>
            </a:solidFill>
            <a:prstDash val="solid"/>
          </a:ln>
        </p:spPr>
      </p:sp>
      <p:sp>
        <p:nvSpPr>
          <p:cNvPr id="58" name="Text 56"/>
          <p:cNvSpPr txBox="1"/>
          <p:nvPr/>
        </p:nvSpPr>
        <p:spPr>
          <a:xfrm>
            <a:off x="402336" y="5532120"/>
            <a:ext cx="914400" cy="219456"/>
          </a:xfrm>
          <a:prstGeom prst="rect">
            <a:avLst/>
          </a:prstGeom>
          <a:noFill/>
          <a:ln/>
        </p:spPr>
        <p:txBody>
          <a:bodyPr wrap="square" lIns="0" tIns="0" rIns="0" bIns="0" rtlCol="0" anchor="ctr"/>
          <a:lstStyle/>
          <a:p>
            <a:pPr algn="ctr" indent="0" marL="0">
              <a:buNone/>
            </a:pPr>
            <a:r>
              <a:rPr lang="en-US" sz="800" b="1" dirty="0">
                <a:solidFill>
                  <a:srgbClr val="B42318"/>
                </a:solidFill>
                <a:latin typeface="Inter" pitchFamily="34" charset="0"/>
                <a:ea typeface="Inter" pitchFamily="34" charset="-122"/>
                <a:cs typeface="Inter" pitchFamily="34" charset="-120"/>
              </a:rPr>
              <a:t>High ≥ 0.70</a:t>
            </a:r>
            <a:endParaRPr lang="en-US" sz="800" dirty="0"/>
          </a:p>
        </p:txBody>
      </p:sp>
      <p:sp>
        <p:nvSpPr>
          <p:cNvPr id="59" name="Shape 57"/>
          <p:cNvSpPr/>
          <p:nvPr/>
        </p:nvSpPr>
        <p:spPr>
          <a:xfrm>
            <a:off x="1389888" y="5532120"/>
            <a:ext cx="1005840" cy="219456"/>
          </a:xfrm>
          <a:prstGeom prst="roundRect">
            <a:avLst>
              <a:gd name="adj" fmla="val 33333"/>
            </a:avLst>
          </a:prstGeom>
          <a:solidFill>
            <a:srgbClr val="FFFAEB"/>
          </a:solidFill>
          <a:ln w="9525">
            <a:solidFill>
              <a:srgbClr val="FEDF89"/>
            </a:solidFill>
            <a:prstDash val="solid"/>
          </a:ln>
        </p:spPr>
      </p:sp>
      <p:sp>
        <p:nvSpPr>
          <p:cNvPr id="60" name="Text 58"/>
          <p:cNvSpPr txBox="1"/>
          <p:nvPr/>
        </p:nvSpPr>
        <p:spPr>
          <a:xfrm>
            <a:off x="1389888" y="5532120"/>
            <a:ext cx="1005840" cy="219456"/>
          </a:xfrm>
          <a:prstGeom prst="rect">
            <a:avLst/>
          </a:prstGeom>
          <a:noFill/>
          <a:ln/>
        </p:spPr>
        <p:txBody>
          <a:bodyPr wrap="square" lIns="0" tIns="0" rIns="0" bIns="0" rtlCol="0" anchor="ctr"/>
          <a:lstStyle/>
          <a:p>
            <a:pPr algn="ctr" indent="0" marL="0">
              <a:buNone/>
            </a:pPr>
            <a:r>
              <a:rPr lang="en-US" sz="800" b="1" dirty="0">
                <a:solidFill>
                  <a:srgbClr val="B54708"/>
                </a:solidFill>
                <a:latin typeface="Inter" pitchFamily="34" charset="0"/>
                <a:ea typeface="Inter" pitchFamily="34" charset="-122"/>
                <a:cs typeface="Inter" pitchFamily="34" charset="-120"/>
              </a:rPr>
              <a:t>Elevated ≥ 0.45</a:t>
            </a:r>
            <a:endParaRPr lang="en-US" sz="800" dirty="0"/>
          </a:p>
        </p:txBody>
      </p:sp>
      <p:sp>
        <p:nvSpPr>
          <p:cNvPr id="61" name="Shape 59"/>
          <p:cNvSpPr/>
          <p:nvPr/>
        </p:nvSpPr>
        <p:spPr>
          <a:xfrm>
            <a:off x="2468880" y="5532120"/>
            <a:ext cx="914400" cy="219456"/>
          </a:xfrm>
          <a:prstGeom prst="roundRect">
            <a:avLst>
              <a:gd name="adj" fmla="val 33333"/>
            </a:avLst>
          </a:prstGeom>
          <a:solidFill>
            <a:srgbClr val="ECFDF3"/>
          </a:solidFill>
          <a:ln w="9525">
            <a:solidFill>
              <a:srgbClr val="ABEFC6"/>
            </a:solidFill>
            <a:prstDash val="solid"/>
          </a:ln>
        </p:spPr>
      </p:sp>
      <p:sp>
        <p:nvSpPr>
          <p:cNvPr id="62" name="Text 60"/>
          <p:cNvSpPr txBox="1"/>
          <p:nvPr/>
        </p:nvSpPr>
        <p:spPr>
          <a:xfrm>
            <a:off x="2468880" y="5532120"/>
            <a:ext cx="914400" cy="219456"/>
          </a:xfrm>
          <a:prstGeom prst="rect">
            <a:avLst/>
          </a:prstGeom>
          <a:noFill/>
          <a:ln/>
        </p:spPr>
        <p:txBody>
          <a:bodyPr wrap="square" lIns="0" tIns="0" rIns="0" bIns="0" rtlCol="0" anchor="ctr"/>
          <a:lstStyle/>
          <a:p>
            <a:pPr algn="ctr" indent="0" marL="0">
              <a:buNone/>
            </a:pPr>
            <a:r>
              <a:rPr lang="en-US" sz="800" b="1" dirty="0">
                <a:solidFill>
                  <a:srgbClr val="067647"/>
                </a:solidFill>
                <a:latin typeface="Inter" pitchFamily="34" charset="0"/>
                <a:ea typeface="Inter" pitchFamily="34" charset="-122"/>
                <a:cs typeface="Inter" pitchFamily="34" charset="-120"/>
              </a:rPr>
              <a:t>Low</a:t>
            </a:r>
            <a:endParaRPr lang="en-US" sz="800" dirty="0"/>
          </a:p>
        </p:txBody>
      </p:sp>
      <p:sp>
        <p:nvSpPr>
          <p:cNvPr id="63" name="Text 61"/>
          <p:cNvSpPr txBox="1"/>
          <p:nvPr/>
        </p:nvSpPr>
        <p:spPr>
          <a:xfrm>
            <a:off x="429768" y="5824728"/>
            <a:ext cx="2926080" cy="402336"/>
          </a:xfrm>
          <a:prstGeom prst="rect">
            <a:avLst/>
          </a:prstGeom>
          <a:noFill/>
          <a:ln/>
        </p:spPr>
        <p:txBody>
          <a:bodyPr wrap="square" lIns="0" tIns="0" rIns="0" bIns="0" rtlCol="0" anchor="t"/>
          <a:lstStyle/>
          <a:p>
            <a:pPr indent="0" marL="0">
              <a:buNone/>
            </a:pPr>
            <a:r>
              <a:rPr lang="en-US" sz="750" b="1" dirty="0">
                <a:solidFill>
                  <a:srgbClr val="B42318"/>
                </a:solidFill>
                <a:latin typeface="Inter" pitchFamily="34" charset="0"/>
                <a:ea typeface="Inter" pitchFamily="34" charset="-122"/>
                <a:cs typeface="Inter" pitchFamily="34" charset="-120"/>
              </a:rPr>
              <a:t>Voice abstains </a:t>
            </a:r>
            <a:pPr indent="0" marL="0">
              <a:buNone/>
            </a:pPr>
            <a:r>
              <a:rPr lang="en-US" sz="750" dirty="0">
                <a:solidFill>
                  <a:srgbClr val="101828"/>
                </a:solidFill>
                <a:latin typeface="Inter" pitchFamily="34" charset="0"/>
                <a:ea typeface="Inter" pitchFamily="34" charset="-122"/>
                <a:cs typeface="Inter" pitchFamily="34" charset="-120"/>
              </a:rPr>
              <a:t>outside en/hi, below 8 dB SNR or with no usable audio; words still count. </a:t>
            </a:r>
            <a:pPr indent="0" marL="0">
              <a:buNone/>
            </a:pPr>
            <a:r>
              <a:rPr lang="en-US" sz="750" b="1" dirty="0">
                <a:solidFill>
                  <a:srgbClr val="B42318"/>
                </a:solidFill>
                <a:latin typeface="Inter" pitchFamily="34" charset="0"/>
                <a:ea typeface="Inter" pitchFamily="34" charset="-122"/>
                <a:cs typeface="Inter" pitchFamily="34" charset="-120"/>
              </a:rPr>
              <a:t>Off for suspect recordings by policy.</a:t>
            </a:r>
            <a:endParaRPr lang="en-US" sz="750" dirty="0"/>
          </a:p>
        </p:txBody>
      </p:sp>
      <p:sp>
        <p:nvSpPr>
          <p:cNvPr id="64" name="Shape 62"/>
          <p:cNvSpPr/>
          <p:nvPr/>
        </p:nvSpPr>
        <p:spPr>
          <a:xfrm>
            <a:off x="3611880" y="3291840"/>
            <a:ext cx="2926080" cy="2990088"/>
          </a:xfrm>
          <a:prstGeom prst="roundRect">
            <a:avLst>
              <a:gd name="adj" fmla="val 1875"/>
            </a:avLst>
          </a:prstGeom>
          <a:solidFill>
            <a:srgbClr val="FFFFFF"/>
          </a:solidFill>
          <a:ln w="9525">
            <a:solidFill>
              <a:srgbClr val="E4E7EC"/>
            </a:solidFill>
            <a:prstDash val="solid"/>
          </a:ln>
        </p:spPr>
      </p:sp>
      <p:sp>
        <p:nvSpPr>
          <p:cNvPr id="65" name="Text 63"/>
          <p:cNvSpPr txBox="1"/>
          <p:nvPr/>
        </p:nvSpPr>
        <p:spPr>
          <a:xfrm>
            <a:off x="3721608" y="3383280"/>
            <a:ext cx="2743200" cy="292608"/>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Golden-hour triage (open rules)</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721608" y="3749040"/>
          <a:ext cx="2706624" cy="914400"/>
        </p:xfrm>
        <a:graphic>
          <a:graphicData uri="http://schemas.openxmlformats.org/drawingml/2006/table">
            <a:tbl>
              <a:tblPr/>
              <a:tblGrid>
                <a:gridCol w="2112264"/>
                <a:gridCol w="594360"/>
              </a:tblGrid>
              <a:tr h="219456">
                <a:tc>
                  <a:txBody>
                    <a:bodyPr/>
                    <a:lstStyle/>
                    <a:p>
                      <a:pPr indent="0" marL="0">
                        <a:buNone/>
                      </a:pPr>
                      <a:r>
                        <a:rPr lang="en-US" sz="750" b="1" dirty="0">
                          <a:solidFill>
                            <a:srgbClr val="FFFFFF"/>
                          </a:solidFill>
                          <a:latin typeface="Inter" pitchFamily="34" charset="0"/>
                          <a:ea typeface="Inter" pitchFamily="34" charset="-122"/>
                          <a:cs typeface="Inter" pitchFamily="34" charset="-120"/>
                        </a:rPr>
                        <a:t>Reported fact</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750" b="1" dirty="0">
                          <a:solidFill>
                            <a:srgbClr val="FFFFFF"/>
                          </a:solidFill>
                          <a:latin typeface="Inter" pitchFamily="34" charset="0"/>
                          <a:ea typeface="Inter" pitchFamily="34" charset="-122"/>
                          <a:cs typeface="Inter" pitchFamily="34" charset="-120"/>
                        </a:rPr>
                        <a:t>Score</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r>
              <a:tr h="219456">
                <a:tc>
                  <a:txBody>
                    <a:bodyPr/>
                    <a:lstStyle/>
                    <a:p>
                      <a:pPr indent="0" marL="0">
                        <a:buNone/>
                      </a:pPr>
                      <a:r>
                        <a:rPr lang="en-US" sz="750" dirty="0">
                          <a:solidFill>
                            <a:srgbClr val="101828"/>
                          </a:solidFill>
                          <a:latin typeface="Inter" pitchFamily="34" charset="0"/>
                          <a:ea typeface="Inter" pitchFamily="34" charset="-122"/>
                          <a:cs typeface="Inter" pitchFamily="34" charset="-120"/>
                        </a:rPr>
                        <a:t>Loss reported within 24 h</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C2570C"/>
                          </a:solidFill>
                          <a:latin typeface="Inter" pitchFamily="34" charset="0"/>
                          <a:ea typeface="Inter" pitchFamily="34" charset="-122"/>
                          <a:cs typeface="Inter" pitchFamily="34" charset="-120"/>
                        </a:rPr>
                        <a:t>+60</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01828"/>
                          </a:solidFill>
                          <a:latin typeface="Inter" pitchFamily="34" charset="0"/>
                          <a:ea typeface="Inter" pitchFamily="34" charset="-122"/>
                          <a:cs typeface="Inter" pitchFamily="34" charset="-120"/>
                        </a:rPr>
                        <a:t>Loss within 7 days</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C2570C"/>
                          </a:solidFill>
                          <a:latin typeface="Inter" pitchFamily="34" charset="0"/>
                          <a:ea typeface="Inter" pitchFamily="34" charset="-122"/>
                          <a:cs typeface="Inter" pitchFamily="34" charset="-120"/>
                        </a:rPr>
                        <a:t>+35</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01828"/>
                          </a:solidFill>
                          <a:latin typeface="Inter" pitchFamily="34" charset="0"/>
                          <a:ea typeface="Inter" pitchFamily="34" charset="-122"/>
                          <a:cs typeface="Inter" pitchFamily="34" charset="-120"/>
                        </a:rPr>
                        <a:t>Older loss, or time not yet known</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C2570C"/>
                          </a:solidFill>
                          <a:latin typeface="Inter" pitchFamily="34" charset="0"/>
                          <a:ea typeface="Inter" pitchFamily="34" charset="-122"/>
                          <a:cs typeface="Inter" pitchFamily="34" charset="-120"/>
                        </a:rPr>
                        <a:t>+20</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01828"/>
                          </a:solidFill>
                          <a:latin typeface="Inter" pitchFamily="34" charset="0"/>
                          <a:ea typeface="Inter" pitchFamily="34" charset="-122"/>
                          <a:cs typeface="Inter" pitchFamily="34" charset="-120"/>
                        </a:rPr>
                        <a:t>Loss of ₹1,00,000 or more</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C2570C"/>
                          </a:solidFill>
                          <a:latin typeface="Inter" pitchFamily="34" charset="0"/>
                          <a:ea typeface="Inter" pitchFamily="34" charset="-122"/>
                          <a:cs typeface="Inter" pitchFamily="34" charset="-120"/>
                        </a:rPr>
                        <a:t>+15</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101828"/>
                          </a:solidFill>
                          <a:latin typeface="Inter" pitchFamily="34" charset="0"/>
                          <a:ea typeface="Inter" pitchFamily="34" charset="-122"/>
                          <a:cs typeface="Inter" pitchFamily="34" charset="-120"/>
                        </a:rPr>
                        <a:t>A critical field still missing</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C2570C"/>
                          </a:solidFill>
                          <a:latin typeface="Inter" pitchFamily="34" charset="0"/>
                          <a:ea typeface="Inter" pitchFamily="34" charset="-122"/>
                          <a:cs typeface="Inter" pitchFamily="34" charset="-120"/>
                        </a:rPr>
                        <a:t>+5</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B42318"/>
                          </a:solidFill>
                          <a:latin typeface="Inter" pitchFamily="34" charset="0"/>
                          <a:ea typeface="Inter" pitchFamily="34" charset="-122"/>
                          <a:cs typeface="Inter" pitchFamily="34" charset="-120"/>
                        </a:rPr>
                        <a:t>Crisis language (call ≤ 6 h old)</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B42318"/>
                          </a:solidFill>
                          <a:latin typeface="Inter" pitchFamily="34" charset="0"/>
                          <a:ea typeface="Inter" pitchFamily="34" charset="-122"/>
                          <a:cs typeface="Inter" pitchFamily="34" charset="-120"/>
                        </a:rPr>
                        <a:t>→ 90</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r h="219456">
                <a:tc>
                  <a:txBody>
                    <a:bodyPr/>
                    <a:lstStyle/>
                    <a:p>
                      <a:pPr indent="0" marL="0">
                        <a:buNone/>
                      </a:pPr>
                      <a:r>
                        <a:rPr lang="en-US" sz="750" dirty="0">
                          <a:solidFill>
                            <a:srgbClr val="B42318"/>
                          </a:solidFill>
                          <a:latin typeface="Inter" pitchFamily="34" charset="0"/>
                          <a:ea typeface="Inter" pitchFamily="34" charset="-122"/>
                          <a:cs typeface="Inter" pitchFamily="34" charset="-120"/>
                        </a:rPr>
                        <a:t>Possible active coercion</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50" b="1" dirty="0">
                          <a:solidFill>
                            <a:srgbClr val="B42318"/>
                          </a:solidFill>
                          <a:latin typeface="Inter" pitchFamily="34" charset="0"/>
                          <a:ea typeface="Inter" pitchFamily="34" charset="-122"/>
                          <a:cs typeface="Inter" pitchFamily="34" charset="-120"/>
                        </a:rPr>
                        <a:t>→ 85</a:t>
                      </a:r>
                      <a:endParaRPr lang="en-US" sz="750" dirty="0">
                        <a:latin typeface="Inter" charset="0"/>
                        <a:ea typeface="Inter" charset="0"/>
                        <a:cs typeface="Inter" charset="0"/>
                      </a:endParaRPr>
                    </a:p>
                  </a:txBody>
                  <a:tcPr marL="45720" marR="45720" marT="18288" marB="18288">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r>
            </a:tbl>
          </a:graphicData>
        </a:graphic>
      </p:graphicFrame>
      <p:sp>
        <p:nvSpPr>
          <p:cNvPr id="67" name="Shape 64"/>
          <p:cNvSpPr/>
          <p:nvPr/>
        </p:nvSpPr>
        <p:spPr>
          <a:xfrm>
            <a:off x="3721608" y="5623560"/>
            <a:ext cx="960120" cy="219456"/>
          </a:xfrm>
          <a:prstGeom prst="roundRect">
            <a:avLst>
              <a:gd name="adj" fmla="val 33333"/>
            </a:avLst>
          </a:prstGeom>
          <a:solidFill>
            <a:srgbClr val="FEF3F2"/>
          </a:solidFill>
          <a:ln w="9525">
            <a:solidFill>
              <a:srgbClr val="FECDCA"/>
            </a:solidFill>
            <a:prstDash val="solid"/>
          </a:ln>
        </p:spPr>
      </p:sp>
      <p:sp>
        <p:nvSpPr>
          <p:cNvPr id="68" name="Text 65"/>
          <p:cNvSpPr txBox="1"/>
          <p:nvPr/>
        </p:nvSpPr>
        <p:spPr>
          <a:xfrm>
            <a:off x="3721608" y="5623560"/>
            <a:ext cx="960120" cy="219456"/>
          </a:xfrm>
          <a:prstGeom prst="rect">
            <a:avLst/>
          </a:prstGeom>
          <a:noFill/>
          <a:ln/>
        </p:spPr>
        <p:txBody>
          <a:bodyPr wrap="square" lIns="0" tIns="0" rIns="0" bIns="0" rtlCol="0" anchor="ctr"/>
          <a:lstStyle/>
          <a:p>
            <a:pPr algn="ctr" indent="0" marL="0">
              <a:buNone/>
            </a:pPr>
            <a:r>
              <a:rPr lang="en-US" sz="800" b="1" dirty="0">
                <a:solidFill>
                  <a:srgbClr val="B42318"/>
                </a:solidFill>
                <a:latin typeface="Inter" pitchFamily="34" charset="0"/>
                <a:ea typeface="Inter" pitchFamily="34" charset="-122"/>
                <a:cs typeface="Inter" pitchFamily="34" charset="-120"/>
              </a:rPr>
              <a:t>IMMEDIATE ≥ 60</a:t>
            </a:r>
            <a:endParaRPr lang="en-US" sz="800" dirty="0"/>
          </a:p>
        </p:txBody>
      </p:sp>
      <p:sp>
        <p:nvSpPr>
          <p:cNvPr id="69" name="Shape 66"/>
          <p:cNvSpPr/>
          <p:nvPr/>
        </p:nvSpPr>
        <p:spPr>
          <a:xfrm>
            <a:off x="4727448" y="5623560"/>
            <a:ext cx="731520" cy="219456"/>
          </a:xfrm>
          <a:prstGeom prst="roundRect">
            <a:avLst>
              <a:gd name="adj" fmla="val 33333"/>
            </a:avLst>
          </a:prstGeom>
          <a:solidFill>
            <a:srgbClr val="FFFAEB"/>
          </a:solidFill>
          <a:ln w="9525">
            <a:solidFill>
              <a:srgbClr val="FEDF89"/>
            </a:solidFill>
            <a:prstDash val="solid"/>
          </a:ln>
        </p:spPr>
      </p:sp>
      <p:sp>
        <p:nvSpPr>
          <p:cNvPr id="70" name="Text 67"/>
          <p:cNvSpPr txBox="1"/>
          <p:nvPr/>
        </p:nvSpPr>
        <p:spPr>
          <a:xfrm>
            <a:off x="4727448" y="5623560"/>
            <a:ext cx="731520" cy="219456"/>
          </a:xfrm>
          <a:prstGeom prst="rect">
            <a:avLst/>
          </a:prstGeom>
          <a:noFill/>
          <a:ln/>
        </p:spPr>
        <p:txBody>
          <a:bodyPr wrap="square" lIns="0" tIns="0" rIns="0" bIns="0" rtlCol="0" anchor="ctr"/>
          <a:lstStyle/>
          <a:p>
            <a:pPr algn="ctr" indent="0" marL="0">
              <a:buNone/>
            </a:pPr>
            <a:r>
              <a:rPr lang="en-US" sz="800" b="1" dirty="0">
                <a:solidFill>
                  <a:srgbClr val="B54708"/>
                </a:solidFill>
                <a:latin typeface="Inter" pitchFamily="34" charset="0"/>
                <a:ea typeface="Inter" pitchFamily="34" charset="-122"/>
                <a:cs typeface="Inter" pitchFamily="34" charset="-120"/>
              </a:rPr>
              <a:t>HIGH ≥ 30</a:t>
            </a:r>
            <a:endParaRPr lang="en-US" sz="800" dirty="0"/>
          </a:p>
        </p:txBody>
      </p:sp>
      <p:sp>
        <p:nvSpPr>
          <p:cNvPr id="71" name="Shape 68"/>
          <p:cNvSpPr/>
          <p:nvPr/>
        </p:nvSpPr>
        <p:spPr>
          <a:xfrm>
            <a:off x="5504688" y="5623560"/>
            <a:ext cx="914400" cy="219456"/>
          </a:xfrm>
          <a:prstGeom prst="roundRect">
            <a:avLst>
              <a:gd name="adj" fmla="val 33333"/>
            </a:avLst>
          </a:prstGeom>
          <a:solidFill>
            <a:srgbClr val="F6F7F9"/>
          </a:solidFill>
          <a:ln w="9525">
            <a:solidFill>
              <a:srgbClr val="D0D5DD"/>
            </a:solidFill>
            <a:prstDash val="solid"/>
          </a:ln>
        </p:spPr>
      </p:sp>
      <p:sp>
        <p:nvSpPr>
          <p:cNvPr id="72" name="Text 69"/>
          <p:cNvSpPr txBox="1"/>
          <p:nvPr/>
        </p:nvSpPr>
        <p:spPr>
          <a:xfrm>
            <a:off x="5504688" y="5623560"/>
            <a:ext cx="914400" cy="219456"/>
          </a:xfrm>
          <a:prstGeom prst="rect">
            <a:avLst/>
          </a:prstGeom>
          <a:noFill/>
          <a:ln/>
        </p:spPr>
        <p:txBody>
          <a:bodyPr wrap="square" lIns="0" tIns="0" rIns="0" bIns="0" rtlCol="0" anchor="ctr"/>
          <a:lstStyle/>
          <a:p>
            <a:pPr algn="ctr" indent="0" marL="0">
              <a:buNone/>
            </a:pPr>
            <a:r>
              <a:rPr lang="en-US" sz="800" b="1" dirty="0">
                <a:solidFill>
                  <a:srgbClr val="475467"/>
                </a:solidFill>
                <a:latin typeface="Inter" pitchFamily="34" charset="0"/>
                <a:ea typeface="Inter" pitchFamily="34" charset="-122"/>
                <a:cs typeface="Inter" pitchFamily="34" charset="-120"/>
              </a:rPr>
              <a:t>STANDARD</a:t>
            </a:r>
            <a:endParaRPr lang="en-US" sz="800" dirty="0"/>
          </a:p>
        </p:txBody>
      </p:sp>
      <p:sp>
        <p:nvSpPr>
          <p:cNvPr id="73" name="Text 70"/>
          <p:cNvSpPr txBox="1"/>
          <p:nvPr/>
        </p:nvSpPr>
        <p:spPr>
          <a:xfrm>
            <a:off x="3749040" y="5888736"/>
            <a:ext cx="2651760" cy="365760"/>
          </a:xfrm>
          <a:prstGeom prst="rect">
            <a:avLst/>
          </a:prstGeom>
          <a:noFill/>
          <a:ln/>
        </p:spPr>
        <p:txBody>
          <a:bodyPr wrap="square" lIns="0" tIns="0" rIns="0" bIns="0" rtlCol="0" anchor="t"/>
          <a:lstStyle/>
          <a:p>
            <a:pPr indent="0" marL="0">
              <a:buNone/>
            </a:pPr>
            <a:r>
              <a:rPr lang="en-US" sz="750" b="1" dirty="0">
                <a:solidFill>
                  <a:srgbClr val="101828"/>
                </a:solidFill>
                <a:latin typeface="Inter" pitchFamily="34" charset="0"/>
                <a:ea typeface="Inter" pitchFamily="34" charset="-122"/>
                <a:cs typeface="Inter" pitchFamily="34" charset="-120"/>
              </a:rPr>
              <a:t>Distress is shown to the officer but never added to this score. </a:t>
            </a:r>
            <a:pPr indent="0" marL="0">
              <a:buNone/>
            </a:pPr>
            <a:r>
              <a:rPr lang="en-US" sz="750" dirty="0">
                <a:solidFill>
                  <a:srgbClr val="475467"/>
                </a:solidFill>
                <a:latin typeface="Inter" pitchFamily="34" charset="0"/>
                <a:ea typeface="Inter" pitchFamily="34" charset="-122"/>
                <a:cs typeface="Inter" pitchFamily="34" charset="-120"/>
              </a:rPr>
              <a:t>No claim is made about whether money can be recovered.</a:t>
            </a:r>
            <a:endParaRPr lang="en-US" sz="750" dirty="0"/>
          </a:p>
        </p:txBody>
      </p:sp>
      <p:sp>
        <p:nvSpPr>
          <p:cNvPr id="74" name="Shape 71"/>
          <p:cNvSpPr/>
          <p:nvPr/>
        </p:nvSpPr>
        <p:spPr>
          <a:xfrm>
            <a:off x="6656832" y="3291840"/>
            <a:ext cx="2560320" cy="2990088"/>
          </a:xfrm>
          <a:prstGeom prst="roundRect">
            <a:avLst>
              <a:gd name="adj" fmla="val 2143"/>
            </a:avLst>
          </a:prstGeom>
          <a:solidFill>
            <a:srgbClr val="FFFFFF"/>
          </a:solidFill>
          <a:ln w="9525">
            <a:solidFill>
              <a:srgbClr val="E4E7EC"/>
            </a:solidFill>
            <a:prstDash val="solid"/>
          </a:ln>
        </p:spPr>
      </p:sp>
      <p:sp>
        <p:nvSpPr>
          <p:cNvPr id="75" name="Text 72"/>
          <p:cNvSpPr txBox="1"/>
          <p:nvPr/>
        </p:nvSpPr>
        <p:spPr>
          <a:xfrm>
            <a:off x="6766560" y="3383280"/>
            <a:ext cx="2377440" cy="292608"/>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Ring Linker</a:t>
            </a:r>
            <a:endParaRPr lang="en-US" sz="1000" dirty="0"/>
          </a:p>
        </p:txBody>
      </p:sp>
      <p:sp>
        <p:nvSpPr>
          <p:cNvPr id="76" name="Shape 73"/>
          <p:cNvSpPr/>
          <p:nvPr/>
        </p:nvSpPr>
        <p:spPr>
          <a:xfrm>
            <a:off x="6793992" y="3831336"/>
            <a:ext cx="365760" cy="914"/>
          </a:xfrm>
          <a:prstGeom prst="line">
            <a:avLst/>
          </a:prstGeom>
          <a:noFill/>
          <a:ln w="25400">
            <a:solidFill>
              <a:srgbClr val="101828"/>
            </a:solidFill>
            <a:prstDash val="solid"/>
          </a:ln>
        </p:spPr>
      </p:sp>
      <p:sp>
        <p:nvSpPr>
          <p:cNvPr id="77" name="Text 74"/>
          <p:cNvSpPr txBox="1"/>
          <p:nvPr/>
        </p:nvSpPr>
        <p:spPr>
          <a:xfrm>
            <a:off x="7223760" y="3749040"/>
            <a:ext cx="1901952" cy="566928"/>
          </a:xfrm>
          <a:prstGeom prst="rect">
            <a:avLst/>
          </a:prstGeom>
          <a:noFill/>
          <a:ln/>
        </p:spPr>
        <p:txBody>
          <a:bodyPr wrap="square" lIns="0" tIns="0" rIns="0" bIns="0" rtlCol="0" anchor="t"/>
          <a:lstStyle/>
          <a:p>
            <a:pPr indent="0" marL="0">
              <a:buNone/>
            </a:pPr>
            <a:r>
              <a:rPr lang="en-US" sz="800" b="1" dirty="0">
                <a:solidFill>
                  <a:srgbClr val="101828"/>
                </a:solidFill>
                <a:latin typeface="Inter" pitchFamily="34" charset="0"/>
                <a:ea typeface="Inter" pitchFamily="34" charset="-122"/>
                <a:cs typeface="Inter" pitchFamily="34" charset="-120"/>
              </a:rPr>
              <a:t>Identifier match  · score 1.0</a:t>
            </a:r>
            <a:endParaRPr lang="en-US" sz="950" dirty="0"/>
          </a:p>
          <a:p>
            <a:pPr indent="0" marL="0">
              <a:buNone/>
            </a:pPr>
            <a:r>
              <a:rPr lang="en-US" sz="730" dirty="0">
                <a:solidFill>
                  <a:srgbClr val="475467"/>
                </a:solidFill>
                <a:latin typeface="Inter" pitchFamily="34" charset="0"/>
                <a:ea typeface="Inter" pitchFamily="34" charset="-122"/>
                <a:cs typeface="Inter" pitchFamily="34" charset="-120"/>
              </a:rPr>
              <a:t>Same UPI, phone, account, IFSC or UTR, matched through an HMAC blind index (plaintext never indexed).</a:t>
            </a:r>
            <a:endParaRPr lang="en-US" sz="950" dirty="0"/>
          </a:p>
        </p:txBody>
      </p:sp>
      <p:sp>
        <p:nvSpPr>
          <p:cNvPr id="78" name="Shape 75"/>
          <p:cNvSpPr/>
          <p:nvPr/>
        </p:nvSpPr>
        <p:spPr>
          <a:xfrm>
            <a:off x="6793992" y="4489704"/>
            <a:ext cx="365760" cy="914"/>
          </a:xfrm>
          <a:prstGeom prst="line">
            <a:avLst/>
          </a:prstGeom>
          <a:noFill/>
          <a:ln w="25400">
            <a:solidFill>
              <a:srgbClr val="2E5AAC"/>
            </a:solidFill>
            <a:prstDash val="dash"/>
          </a:ln>
        </p:spPr>
      </p:sp>
      <p:sp>
        <p:nvSpPr>
          <p:cNvPr id="79" name="Text 76"/>
          <p:cNvSpPr txBox="1"/>
          <p:nvPr/>
        </p:nvSpPr>
        <p:spPr>
          <a:xfrm>
            <a:off x="7223760" y="4407408"/>
            <a:ext cx="1901952" cy="566928"/>
          </a:xfrm>
          <a:prstGeom prst="rect">
            <a:avLst/>
          </a:prstGeom>
          <a:noFill/>
          <a:ln/>
        </p:spPr>
        <p:txBody>
          <a:bodyPr wrap="square" lIns="0" tIns="0" rIns="0" bIns="0" rtlCol="0" anchor="t"/>
          <a:lstStyle/>
          <a:p>
            <a:pPr indent="0" marL="0">
              <a:buNone/>
            </a:pPr>
            <a:r>
              <a:rPr lang="en-US" sz="800" b="1" dirty="0">
                <a:solidFill>
                  <a:srgbClr val="101828"/>
                </a:solidFill>
                <a:latin typeface="Inter" pitchFamily="34" charset="0"/>
                <a:ea typeface="Inter" pitchFamily="34" charset="-122"/>
                <a:cs typeface="Inter" pitchFamily="34" charset="-120"/>
              </a:rPr>
              <a:t>Scam script  · ≥ 0.40</a:t>
            </a:r>
            <a:endParaRPr lang="en-US" sz="950" dirty="0"/>
          </a:p>
          <a:p>
            <a:pPr indent="0" marL="0">
              <a:buNone/>
            </a:pPr>
            <a:r>
              <a:rPr lang="en-US" sz="730" dirty="0">
                <a:solidFill>
                  <a:srgbClr val="475467"/>
                </a:solidFill>
                <a:latin typeface="Inter" pitchFamily="34" charset="0"/>
                <a:ea typeface="Inter" pitchFamily="34" charset="-122"/>
                <a:cs typeface="Inter" pitchFamily="34" charset="-120"/>
              </a:rPr>
              <a:t>Char 3–5-gram TF-IDF within the same scam type, or a multilingual MiniLM if configured.</a:t>
            </a:r>
            <a:endParaRPr lang="en-US" sz="950" dirty="0"/>
          </a:p>
        </p:txBody>
      </p:sp>
      <p:sp>
        <p:nvSpPr>
          <p:cNvPr id="80" name="Shape 77"/>
          <p:cNvSpPr/>
          <p:nvPr/>
        </p:nvSpPr>
        <p:spPr>
          <a:xfrm>
            <a:off x="6793992" y="5148072"/>
            <a:ext cx="365760" cy="914"/>
          </a:xfrm>
          <a:prstGeom prst="line">
            <a:avLst/>
          </a:prstGeom>
          <a:noFill/>
          <a:ln w="25400">
            <a:solidFill>
              <a:srgbClr val="C2570C"/>
            </a:solidFill>
            <a:prstDash val="sysDot"/>
          </a:ln>
        </p:spPr>
      </p:sp>
      <p:sp>
        <p:nvSpPr>
          <p:cNvPr id="81" name="Text 78"/>
          <p:cNvSpPr txBox="1"/>
          <p:nvPr/>
        </p:nvSpPr>
        <p:spPr>
          <a:xfrm>
            <a:off x="7223760" y="5065776"/>
            <a:ext cx="1901952" cy="566928"/>
          </a:xfrm>
          <a:prstGeom prst="rect">
            <a:avLst/>
          </a:prstGeom>
          <a:noFill/>
          <a:ln/>
        </p:spPr>
        <p:txBody>
          <a:bodyPr wrap="square" lIns="0" tIns="0" rIns="0" bIns="0" rtlCol="0" anchor="t"/>
          <a:lstStyle/>
          <a:p>
            <a:pPr indent="0" marL="0">
              <a:buNone/>
            </a:pPr>
            <a:r>
              <a:rPr lang="en-US" sz="800" b="1" dirty="0">
                <a:solidFill>
                  <a:srgbClr val="101828"/>
                </a:solidFill>
                <a:latin typeface="Inter" pitchFamily="34" charset="0"/>
                <a:ea typeface="Inter" pitchFamily="34" charset="-122"/>
                <a:cs typeface="Inter" pitchFamily="34" charset="-120"/>
              </a:rPr>
              <a:t>Caller voice  · ≥ 0.62</a:t>
            </a:r>
            <a:endParaRPr lang="en-US" sz="950" dirty="0"/>
          </a:p>
          <a:p>
            <a:pPr indent="0" marL="0">
              <a:buNone/>
            </a:pPr>
            <a:r>
              <a:rPr lang="en-US" sz="730" dirty="0">
                <a:solidFill>
                  <a:srgbClr val="475467"/>
                </a:solidFill>
                <a:latin typeface="Inter" pitchFamily="34" charset="0"/>
                <a:ea typeface="Inter" pitchFamily="34" charset="-122"/>
                <a:cs typeface="Inter" pitchFamily="34" charset="-120"/>
              </a:rPr>
              <a:t>ECAPA speaker embeddings, cosine. Suspect recordings only, always a lead.</a:t>
            </a:r>
            <a:endParaRPr lang="en-US" sz="950" dirty="0"/>
          </a:p>
        </p:txBody>
      </p:sp>
      <p:sp>
        <p:nvSpPr>
          <p:cNvPr id="82" name="Shape 79"/>
          <p:cNvSpPr/>
          <p:nvPr/>
        </p:nvSpPr>
        <p:spPr>
          <a:xfrm>
            <a:off x="6766560" y="5806440"/>
            <a:ext cx="2340864" cy="384048"/>
          </a:xfrm>
          <a:prstGeom prst="roundRect">
            <a:avLst>
              <a:gd name="adj" fmla="val 14286"/>
            </a:avLst>
          </a:prstGeom>
          <a:solidFill>
            <a:srgbClr val="FFF4EA"/>
          </a:solidFill>
          <a:ln w="9525">
            <a:solidFill>
              <a:srgbClr val="FDD4AE"/>
            </a:solidFill>
            <a:prstDash val="solid"/>
          </a:ln>
        </p:spPr>
      </p:sp>
      <p:sp>
        <p:nvSpPr>
          <p:cNvPr id="83" name="Text 80"/>
          <p:cNvSpPr txBox="1"/>
          <p:nvPr/>
        </p:nvSpPr>
        <p:spPr>
          <a:xfrm>
            <a:off x="6821424" y="5806440"/>
            <a:ext cx="2231136" cy="365760"/>
          </a:xfrm>
          <a:prstGeom prst="rect">
            <a:avLst/>
          </a:prstGeom>
          <a:noFill/>
          <a:ln/>
        </p:spPr>
        <p:txBody>
          <a:bodyPr wrap="square" lIns="0" tIns="0" rIns="0" bIns="0" rtlCol="0" anchor="ctr"/>
          <a:lstStyle/>
          <a:p>
            <a:pPr indent="0" marL="0">
              <a:buNone/>
            </a:pPr>
            <a:r>
              <a:rPr lang="en-US" sz="750" dirty="0">
                <a:solidFill>
                  <a:srgbClr val="101828"/>
                </a:solidFill>
                <a:latin typeface="Inter" pitchFamily="34" charset="0"/>
                <a:ea typeface="Inter" pitchFamily="34" charset="-122"/>
                <a:cs typeface="Inter" pitchFamily="34" charset="-120"/>
              </a:rPr>
              <a:t>Connected cases form a ring. Every link stays a candidate until an officer confirms or rejects it.</a:t>
            </a:r>
            <a:endParaRPr lang="en-US" sz="750" dirty="0"/>
          </a:p>
        </p:txBody>
      </p:sp>
      <p:sp>
        <p:nvSpPr>
          <p:cNvPr id="84" name="Shape 81"/>
          <p:cNvSpPr/>
          <p:nvPr/>
        </p:nvSpPr>
        <p:spPr>
          <a:xfrm>
            <a:off x="9336024" y="3291840"/>
            <a:ext cx="2560320" cy="2990088"/>
          </a:xfrm>
          <a:prstGeom prst="roundRect">
            <a:avLst>
              <a:gd name="adj" fmla="val 2143"/>
            </a:avLst>
          </a:prstGeom>
          <a:solidFill>
            <a:srgbClr val="F6F7F9"/>
          </a:solidFill>
          <a:ln w="9525">
            <a:solidFill>
              <a:srgbClr val="F6F7F9"/>
            </a:solidFill>
            <a:prstDash val="solid"/>
          </a:ln>
        </p:spPr>
      </p:sp>
      <p:sp>
        <p:nvSpPr>
          <p:cNvPr id="85" name="Text 82"/>
          <p:cNvSpPr txBox="1"/>
          <p:nvPr/>
        </p:nvSpPr>
        <p:spPr>
          <a:xfrm>
            <a:off x="9445752" y="3383280"/>
            <a:ext cx="2377440" cy="274320"/>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Tech stack (all in the repo)</a:t>
            </a:r>
            <a:endParaRPr lang="en-US" sz="1000" dirty="0"/>
          </a:p>
        </p:txBody>
      </p:sp>
      <p:pic>
        <p:nvPicPr>
          <p:cNvPr id="86" name="Image 0" descr="preencoded.png">    </p:cNvPr>
          <p:cNvPicPr>
            <a:picLocks noChangeAspect="1"/>
          </p:cNvPicPr>
          <p:nvPr/>
        </p:nvPicPr>
        <p:blipFill>
          <a:blip r:embed="rId1"/>
          <a:stretch>
            <a:fillRect/>
          </a:stretch>
        </p:blipFill>
        <p:spPr>
          <a:xfrm>
            <a:off x="9610344" y="3730752"/>
            <a:ext cx="201168" cy="201168"/>
          </a:xfrm>
          <a:prstGeom prst="rect">
            <a:avLst/>
          </a:prstGeom>
        </p:spPr>
      </p:pic>
      <p:sp>
        <p:nvSpPr>
          <p:cNvPr id="87" name="Text 83"/>
          <p:cNvSpPr txBox="1"/>
          <p:nvPr/>
        </p:nvSpPr>
        <p:spPr>
          <a:xfrm>
            <a:off x="9409176" y="3941064"/>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Python</a:t>
            </a:r>
            <a:endParaRPr lang="en-US" sz="650" dirty="0"/>
          </a:p>
        </p:txBody>
      </p:sp>
      <p:pic>
        <p:nvPicPr>
          <p:cNvPr id="88" name="Image 1" descr="preencoded.png">    </p:cNvPr>
          <p:cNvPicPr>
            <a:picLocks noChangeAspect="1"/>
          </p:cNvPicPr>
          <p:nvPr/>
        </p:nvPicPr>
        <p:blipFill>
          <a:blip r:embed="rId2"/>
          <a:stretch>
            <a:fillRect/>
          </a:stretch>
        </p:blipFill>
        <p:spPr>
          <a:xfrm>
            <a:off x="10213848" y="3730752"/>
            <a:ext cx="201168" cy="201168"/>
          </a:xfrm>
          <a:prstGeom prst="rect">
            <a:avLst/>
          </a:prstGeom>
        </p:spPr>
      </p:pic>
      <p:sp>
        <p:nvSpPr>
          <p:cNvPr id="89" name="Text 84"/>
          <p:cNvSpPr txBox="1"/>
          <p:nvPr/>
        </p:nvSpPr>
        <p:spPr>
          <a:xfrm>
            <a:off x="10012680" y="3941064"/>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FastAPI</a:t>
            </a:r>
            <a:endParaRPr lang="en-US" sz="650" dirty="0"/>
          </a:p>
        </p:txBody>
      </p:sp>
      <p:pic>
        <p:nvPicPr>
          <p:cNvPr id="90" name="Image 2" descr="preencoded.png">    </p:cNvPr>
          <p:cNvPicPr>
            <a:picLocks noChangeAspect="1"/>
          </p:cNvPicPr>
          <p:nvPr/>
        </p:nvPicPr>
        <p:blipFill>
          <a:blip r:embed="rId3"/>
          <a:stretch>
            <a:fillRect/>
          </a:stretch>
        </p:blipFill>
        <p:spPr>
          <a:xfrm>
            <a:off x="10817352" y="3730752"/>
            <a:ext cx="201168" cy="201168"/>
          </a:xfrm>
          <a:prstGeom prst="rect">
            <a:avLst/>
          </a:prstGeom>
        </p:spPr>
      </p:pic>
      <p:sp>
        <p:nvSpPr>
          <p:cNvPr id="91" name="Text 85"/>
          <p:cNvSpPr txBox="1"/>
          <p:nvPr/>
        </p:nvSpPr>
        <p:spPr>
          <a:xfrm>
            <a:off x="10616184" y="3941064"/>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PyTorch</a:t>
            </a:r>
            <a:endParaRPr lang="en-US" sz="650" dirty="0"/>
          </a:p>
        </p:txBody>
      </p:sp>
      <p:pic>
        <p:nvPicPr>
          <p:cNvPr id="92" name="Image 3" descr="preencoded.png">    </p:cNvPr>
          <p:cNvPicPr>
            <a:picLocks noChangeAspect="1"/>
          </p:cNvPicPr>
          <p:nvPr/>
        </p:nvPicPr>
        <p:blipFill>
          <a:blip r:embed="rId4"/>
          <a:stretch>
            <a:fillRect/>
          </a:stretch>
        </p:blipFill>
        <p:spPr>
          <a:xfrm>
            <a:off x="11420856" y="3730752"/>
            <a:ext cx="201168" cy="201168"/>
          </a:xfrm>
          <a:prstGeom prst="rect">
            <a:avLst/>
          </a:prstGeom>
        </p:spPr>
      </p:pic>
      <p:sp>
        <p:nvSpPr>
          <p:cNvPr id="93" name="Text 86"/>
          <p:cNvSpPr txBox="1"/>
          <p:nvPr/>
        </p:nvSpPr>
        <p:spPr>
          <a:xfrm>
            <a:off x="11219688" y="3941064"/>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HF Hub</a:t>
            </a:r>
            <a:endParaRPr lang="en-US" sz="650" dirty="0"/>
          </a:p>
        </p:txBody>
      </p:sp>
      <p:pic>
        <p:nvPicPr>
          <p:cNvPr id="94" name="Image 4" descr="preencoded.png">    </p:cNvPr>
          <p:cNvPicPr>
            <a:picLocks noChangeAspect="1"/>
          </p:cNvPicPr>
          <p:nvPr/>
        </p:nvPicPr>
        <p:blipFill>
          <a:blip r:embed="rId5"/>
          <a:stretch>
            <a:fillRect/>
          </a:stretch>
        </p:blipFill>
        <p:spPr>
          <a:xfrm>
            <a:off x="9610344" y="4151376"/>
            <a:ext cx="201168" cy="201168"/>
          </a:xfrm>
          <a:prstGeom prst="rect">
            <a:avLst/>
          </a:prstGeom>
        </p:spPr>
      </p:pic>
      <p:sp>
        <p:nvSpPr>
          <p:cNvPr id="95" name="Text 87"/>
          <p:cNvSpPr txBox="1"/>
          <p:nvPr/>
        </p:nvSpPr>
        <p:spPr>
          <a:xfrm>
            <a:off x="9409176" y="4361688"/>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scikit-learn</a:t>
            </a:r>
            <a:endParaRPr lang="en-US" sz="650" dirty="0"/>
          </a:p>
        </p:txBody>
      </p:sp>
      <p:pic>
        <p:nvPicPr>
          <p:cNvPr id="96" name="Image 5" descr="preencoded.png">    </p:cNvPr>
          <p:cNvPicPr>
            <a:picLocks noChangeAspect="1"/>
          </p:cNvPicPr>
          <p:nvPr/>
        </p:nvPicPr>
        <p:blipFill>
          <a:blip r:embed="rId6"/>
          <a:stretch>
            <a:fillRect/>
          </a:stretch>
        </p:blipFill>
        <p:spPr>
          <a:xfrm>
            <a:off x="10213848" y="4151376"/>
            <a:ext cx="201168" cy="201168"/>
          </a:xfrm>
          <a:prstGeom prst="rect">
            <a:avLst/>
          </a:prstGeom>
        </p:spPr>
      </p:pic>
      <p:sp>
        <p:nvSpPr>
          <p:cNvPr id="97" name="Text 88"/>
          <p:cNvSpPr txBox="1"/>
          <p:nvPr/>
        </p:nvSpPr>
        <p:spPr>
          <a:xfrm>
            <a:off x="10012680" y="4361688"/>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NumPy</a:t>
            </a:r>
            <a:endParaRPr lang="en-US" sz="650" dirty="0"/>
          </a:p>
        </p:txBody>
      </p:sp>
      <p:pic>
        <p:nvPicPr>
          <p:cNvPr id="98" name="Image 6" descr="preencoded.png">    </p:cNvPr>
          <p:cNvPicPr>
            <a:picLocks noChangeAspect="1"/>
          </p:cNvPicPr>
          <p:nvPr/>
        </p:nvPicPr>
        <p:blipFill>
          <a:blip r:embed="rId7"/>
          <a:stretch>
            <a:fillRect/>
          </a:stretch>
        </p:blipFill>
        <p:spPr>
          <a:xfrm>
            <a:off x="10817352" y="4151376"/>
            <a:ext cx="201168" cy="201168"/>
          </a:xfrm>
          <a:prstGeom prst="rect">
            <a:avLst/>
          </a:prstGeom>
        </p:spPr>
      </p:pic>
      <p:sp>
        <p:nvSpPr>
          <p:cNvPr id="99" name="Text 89"/>
          <p:cNvSpPr txBox="1"/>
          <p:nvPr/>
        </p:nvSpPr>
        <p:spPr>
          <a:xfrm>
            <a:off x="10616184" y="4361688"/>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SQLAlchemy</a:t>
            </a:r>
            <a:endParaRPr lang="en-US" sz="650" dirty="0"/>
          </a:p>
        </p:txBody>
      </p:sp>
      <p:pic>
        <p:nvPicPr>
          <p:cNvPr id="100" name="Image 7" descr="preencoded.png">    </p:cNvPr>
          <p:cNvPicPr>
            <a:picLocks noChangeAspect="1"/>
          </p:cNvPicPr>
          <p:nvPr/>
        </p:nvPicPr>
        <p:blipFill>
          <a:blip r:embed="rId8"/>
          <a:stretch>
            <a:fillRect/>
          </a:stretch>
        </p:blipFill>
        <p:spPr>
          <a:xfrm>
            <a:off x="11420856" y="4151376"/>
            <a:ext cx="201168" cy="201168"/>
          </a:xfrm>
          <a:prstGeom prst="rect">
            <a:avLst/>
          </a:prstGeom>
        </p:spPr>
      </p:pic>
      <p:sp>
        <p:nvSpPr>
          <p:cNvPr id="101" name="Text 90"/>
          <p:cNvSpPr txBox="1"/>
          <p:nvPr/>
        </p:nvSpPr>
        <p:spPr>
          <a:xfrm>
            <a:off x="11219688" y="4361688"/>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Pydantic</a:t>
            </a:r>
            <a:endParaRPr lang="en-US" sz="650" dirty="0"/>
          </a:p>
        </p:txBody>
      </p:sp>
      <p:pic>
        <p:nvPicPr>
          <p:cNvPr id="102" name="Image 8" descr="preencoded.png">    </p:cNvPr>
          <p:cNvPicPr>
            <a:picLocks noChangeAspect="1"/>
          </p:cNvPicPr>
          <p:nvPr/>
        </p:nvPicPr>
        <p:blipFill>
          <a:blip r:embed="rId9"/>
          <a:stretch>
            <a:fillRect/>
          </a:stretch>
        </p:blipFill>
        <p:spPr>
          <a:xfrm>
            <a:off x="9610344" y="4572000"/>
            <a:ext cx="201168" cy="201168"/>
          </a:xfrm>
          <a:prstGeom prst="rect">
            <a:avLst/>
          </a:prstGeom>
        </p:spPr>
      </p:pic>
      <p:sp>
        <p:nvSpPr>
          <p:cNvPr id="103" name="Text 91"/>
          <p:cNvSpPr txBox="1"/>
          <p:nvPr/>
        </p:nvSpPr>
        <p:spPr>
          <a:xfrm>
            <a:off x="9409176" y="4782312"/>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PostgreSQL</a:t>
            </a:r>
            <a:endParaRPr lang="en-US" sz="650" dirty="0"/>
          </a:p>
        </p:txBody>
      </p:sp>
      <p:pic>
        <p:nvPicPr>
          <p:cNvPr id="104" name="Image 9" descr="preencoded.png">    </p:cNvPr>
          <p:cNvPicPr>
            <a:picLocks noChangeAspect="1"/>
          </p:cNvPicPr>
          <p:nvPr/>
        </p:nvPicPr>
        <p:blipFill>
          <a:blip r:embed="rId10"/>
          <a:stretch>
            <a:fillRect/>
          </a:stretch>
        </p:blipFill>
        <p:spPr>
          <a:xfrm>
            <a:off x="10213848" y="4572000"/>
            <a:ext cx="201168" cy="201168"/>
          </a:xfrm>
          <a:prstGeom prst="rect">
            <a:avLst/>
          </a:prstGeom>
        </p:spPr>
      </p:pic>
      <p:sp>
        <p:nvSpPr>
          <p:cNvPr id="105" name="Text 92"/>
          <p:cNvSpPr txBox="1"/>
          <p:nvPr/>
        </p:nvSpPr>
        <p:spPr>
          <a:xfrm>
            <a:off x="10012680" y="4782312"/>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SQLite</a:t>
            </a:r>
            <a:endParaRPr lang="en-US" sz="650" dirty="0"/>
          </a:p>
        </p:txBody>
      </p:sp>
      <p:pic>
        <p:nvPicPr>
          <p:cNvPr id="106" name="Image 10" descr="preencoded.png">    </p:cNvPr>
          <p:cNvPicPr>
            <a:picLocks noChangeAspect="1"/>
          </p:cNvPicPr>
          <p:nvPr/>
        </p:nvPicPr>
        <p:blipFill>
          <a:blip r:embed="rId11"/>
          <a:stretch>
            <a:fillRect/>
          </a:stretch>
        </p:blipFill>
        <p:spPr>
          <a:xfrm>
            <a:off x="10817352" y="4572000"/>
            <a:ext cx="201168" cy="201168"/>
          </a:xfrm>
          <a:prstGeom prst="rect">
            <a:avLst/>
          </a:prstGeom>
        </p:spPr>
      </p:pic>
      <p:sp>
        <p:nvSpPr>
          <p:cNvPr id="107" name="Text 93"/>
          <p:cNvSpPr txBox="1"/>
          <p:nvPr/>
        </p:nvSpPr>
        <p:spPr>
          <a:xfrm>
            <a:off x="10616184" y="4782312"/>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Next.js</a:t>
            </a:r>
            <a:endParaRPr lang="en-US" sz="650" dirty="0"/>
          </a:p>
        </p:txBody>
      </p:sp>
      <p:pic>
        <p:nvPicPr>
          <p:cNvPr id="108" name="Image 11" descr="preencoded.png">    </p:cNvPr>
          <p:cNvPicPr>
            <a:picLocks noChangeAspect="1"/>
          </p:cNvPicPr>
          <p:nvPr/>
        </p:nvPicPr>
        <p:blipFill>
          <a:blip r:embed="rId12"/>
          <a:stretch>
            <a:fillRect/>
          </a:stretch>
        </p:blipFill>
        <p:spPr>
          <a:xfrm>
            <a:off x="11420856" y="4572000"/>
            <a:ext cx="201168" cy="201168"/>
          </a:xfrm>
          <a:prstGeom prst="rect">
            <a:avLst/>
          </a:prstGeom>
        </p:spPr>
      </p:pic>
      <p:sp>
        <p:nvSpPr>
          <p:cNvPr id="109" name="Text 94"/>
          <p:cNvSpPr txBox="1"/>
          <p:nvPr/>
        </p:nvSpPr>
        <p:spPr>
          <a:xfrm>
            <a:off x="11219688" y="4782312"/>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React</a:t>
            </a:r>
            <a:endParaRPr lang="en-US" sz="650" dirty="0"/>
          </a:p>
        </p:txBody>
      </p:sp>
      <p:pic>
        <p:nvPicPr>
          <p:cNvPr id="110" name="Image 12" descr="preencoded.png">    </p:cNvPr>
          <p:cNvPicPr>
            <a:picLocks noChangeAspect="1"/>
          </p:cNvPicPr>
          <p:nvPr/>
        </p:nvPicPr>
        <p:blipFill>
          <a:blip r:embed="rId13"/>
          <a:stretch>
            <a:fillRect/>
          </a:stretch>
        </p:blipFill>
        <p:spPr>
          <a:xfrm>
            <a:off x="9610344" y="4992624"/>
            <a:ext cx="201168" cy="201168"/>
          </a:xfrm>
          <a:prstGeom prst="rect">
            <a:avLst/>
          </a:prstGeom>
        </p:spPr>
      </p:pic>
      <p:sp>
        <p:nvSpPr>
          <p:cNvPr id="111" name="Text 95"/>
          <p:cNvSpPr txBox="1"/>
          <p:nvPr/>
        </p:nvSpPr>
        <p:spPr>
          <a:xfrm>
            <a:off x="9409176" y="5202936"/>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TypeScript</a:t>
            </a:r>
            <a:endParaRPr lang="en-US" sz="650" dirty="0"/>
          </a:p>
        </p:txBody>
      </p:sp>
      <p:pic>
        <p:nvPicPr>
          <p:cNvPr id="112" name="Image 13" descr="preencoded.png">    </p:cNvPr>
          <p:cNvPicPr>
            <a:picLocks noChangeAspect="1"/>
          </p:cNvPicPr>
          <p:nvPr/>
        </p:nvPicPr>
        <p:blipFill>
          <a:blip r:embed="rId14"/>
          <a:stretch>
            <a:fillRect/>
          </a:stretch>
        </p:blipFill>
        <p:spPr>
          <a:xfrm>
            <a:off x="10213848" y="4992624"/>
            <a:ext cx="201168" cy="201168"/>
          </a:xfrm>
          <a:prstGeom prst="rect">
            <a:avLst/>
          </a:prstGeom>
        </p:spPr>
      </p:pic>
      <p:sp>
        <p:nvSpPr>
          <p:cNvPr id="113" name="Text 96"/>
          <p:cNvSpPr txBox="1"/>
          <p:nvPr/>
        </p:nvSpPr>
        <p:spPr>
          <a:xfrm>
            <a:off x="10012680" y="5202936"/>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Tailwind</a:t>
            </a:r>
            <a:endParaRPr lang="en-US" sz="650" dirty="0"/>
          </a:p>
        </p:txBody>
      </p:sp>
      <p:pic>
        <p:nvPicPr>
          <p:cNvPr id="114" name="Image 14" descr="preencoded.png">    </p:cNvPr>
          <p:cNvPicPr>
            <a:picLocks noChangeAspect="1"/>
          </p:cNvPicPr>
          <p:nvPr/>
        </p:nvPicPr>
        <p:blipFill>
          <a:blip r:embed="rId15"/>
          <a:stretch>
            <a:fillRect/>
          </a:stretch>
        </p:blipFill>
        <p:spPr>
          <a:xfrm>
            <a:off x="10817352" y="4992624"/>
            <a:ext cx="201168" cy="201168"/>
          </a:xfrm>
          <a:prstGeom prst="rect">
            <a:avLst/>
          </a:prstGeom>
        </p:spPr>
      </p:pic>
      <p:sp>
        <p:nvSpPr>
          <p:cNvPr id="115" name="Text 97"/>
          <p:cNvSpPr txBox="1"/>
          <p:nvPr/>
        </p:nvSpPr>
        <p:spPr>
          <a:xfrm>
            <a:off x="10616184" y="5202936"/>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d3-force</a:t>
            </a:r>
            <a:endParaRPr lang="en-US" sz="650" dirty="0"/>
          </a:p>
        </p:txBody>
      </p:sp>
      <p:pic>
        <p:nvPicPr>
          <p:cNvPr id="116" name="Image 15" descr="preencoded.png">    </p:cNvPr>
          <p:cNvPicPr>
            <a:picLocks noChangeAspect="1"/>
          </p:cNvPicPr>
          <p:nvPr/>
        </p:nvPicPr>
        <p:blipFill>
          <a:blip r:embed="rId16"/>
          <a:stretch>
            <a:fillRect/>
          </a:stretch>
        </p:blipFill>
        <p:spPr>
          <a:xfrm>
            <a:off x="11420856" y="4992624"/>
            <a:ext cx="201168" cy="201168"/>
          </a:xfrm>
          <a:prstGeom prst="rect">
            <a:avLst/>
          </a:prstGeom>
        </p:spPr>
      </p:pic>
      <p:sp>
        <p:nvSpPr>
          <p:cNvPr id="117" name="Text 98"/>
          <p:cNvSpPr txBox="1"/>
          <p:nvPr/>
        </p:nvSpPr>
        <p:spPr>
          <a:xfrm>
            <a:off x="11219688" y="5202936"/>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Docker</a:t>
            </a:r>
            <a:endParaRPr lang="en-US" sz="650" dirty="0"/>
          </a:p>
        </p:txBody>
      </p:sp>
      <p:pic>
        <p:nvPicPr>
          <p:cNvPr id="118" name="Image 16" descr="preencoded.png">    </p:cNvPr>
          <p:cNvPicPr>
            <a:picLocks noChangeAspect="1"/>
          </p:cNvPicPr>
          <p:nvPr/>
        </p:nvPicPr>
        <p:blipFill>
          <a:blip r:embed="rId17"/>
          <a:stretch>
            <a:fillRect/>
          </a:stretch>
        </p:blipFill>
        <p:spPr>
          <a:xfrm>
            <a:off x="9610344" y="5413248"/>
            <a:ext cx="201168" cy="201168"/>
          </a:xfrm>
          <a:prstGeom prst="rect">
            <a:avLst/>
          </a:prstGeom>
        </p:spPr>
      </p:pic>
      <p:sp>
        <p:nvSpPr>
          <p:cNvPr id="119" name="Text 99"/>
          <p:cNvSpPr txBox="1"/>
          <p:nvPr/>
        </p:nvSpPr>
        <p:spPr>
          <a:xfrm>
            <a:off x="9409176" y="5623560"/>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GH Actions</a:t>
            </a:r>
            <a:endParaRPr lang="en-US" sz="650" dirty="0"/>
          </a:p>
        </p:txBody>
      </p:sp>
      <p:pic>
        <p:nvPicPr>
          <p:cNvPr id="120" name="Image 17" descr="preencoded.png">    </p:cNvPr>
          <p:cNvPicPr>
            <a:picLocks noChangeAspect="1"/>
          </p:cNvPicPr>
          <p:nvPr/>
        </p:nvPicPr>
        <p:blipFill>
          <a:blip r:embed="rId18"/>
          <a:stretch>
            <a:fillRect/>
          </a:stretch>
        </p:blipFill>
        <p:spPr>
          <a:xfrm>
            <a:off x="10213848" y="5413248"/>
            <a:ext cx="201168" cy="201168"/>
          </a:xfrm>
          <a:prstGeom prst="rect">
            <a:avLst/>
          </a:prstGeom>
        </p:spPr>
      </p:pic>
      <p:sp>
        <p:nvSpPr>
          <p:cNvPr id="121" name="Text 100"/>
          <p:cNvSpPr txBox="1"/>
          <p:nvPr/>
        </p:nvSpPr>
        <p:spPr>
          <a:xfrm>
            <a:off x="10012680" y="5623560"/>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pytest</a:t>
            </a:r>
            <a:endParaRPr lang="en-US" sz="650" dirty="0"/>
          </a:p>
        </p:txBody>
      </p:sp>
      <p:pic>
        <p:nvPicPr>
          <p:cNvPr id="122" name="Image 18" descr="preencoded.png">    </p:cNvPr>
          <p:cNvPicPr>
            <a:picLocks noChangeAspect="1"/>
          </p:cNvPicPr>
          <p:nvPr/>
        </p:nvPicPr>
        <p:blipFill>
          <a:blip r:embed="rId19"/>
          <a:stretch>
            <a:fillRect/>
          </a:stretch>
        </p:blipFill>
        <p:spPr>
          <a:xfrm>
            <a:off x="10817352" y="5413248"/>
            <a:ext cx="201168" cy="201168"/>
          </a:xfrm>
          <a:prstGeom prst="rect">
            <a:avLst/>
          </a:prstGeom>
        </p:spPr>
      </p:pic>
      <p:sp>
        <p:nvSpPr>
          <p:cNvPr id="123" name="Text 101"/>
          <p:cNvSpPr txBox="1"/>
          <p:nvPr/>
        </p:nvSpPr>
        <p:spPr>
          <a:xfrm>
            <a:off x="10616184" y="5623560"/>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Ruff</a:t>
            </a:r>
            <a:endParaRPr lang="en-US" sz="650" dirty="0"/>
          </a:p>
        </p:txBody>
      </p:sp>
      <p:pic>
        <p:nvPicPr>
          <p:cNvPr id="124" name="Image 19" descr="preencoded.png">    </p:cNvPr>
          <p:cNvPicPr>
            <a:picLocks noChangeAspect="1"/>
          </p:cNvPicPr>
          <p:nvPr/>
        </p:nvPicPr>
        <p:blipFill>
          <a:blip r:embed="rId20"/>
          <a:stretch>
            <a:fillRect/>
          </a:stretch>
        </p:blipFill>
        <p:spPr>
          <a:xfrm>
            <a:off x="11420856" y="5413248"/>
            <a:ext cx="201168" cy="201168"/>
          </a:xfrm>
          <a:prstGeom prst="rect">
            <a:avLst/>
          </a:prstGeom>
        </p:spPr>
      </p:pic>
      <p:sp>
        <p:nvSpPr>
          <p:cNvPr id="125" name="Text 102"/>
          <p:cNvSpPr txBox="1"/>
          <p:nvPr/>
        </p:nvSpPr>
        <p:spPr>
          <a:xfrm>
            <a:off x="11219688" y="5623560"/>
            <a:ext cx="603504" cy="128016"/>
          </a:xfrm>
          <a:prstGeom prst="rect">
            <a:avLst/>
          </a:prstGeom>
          <a:noFill/>
          <a:ln/>
        </p:spPr>
        <p:txBody>
          <a:bodyPr wrap="square" lIns="0" tIns="0" rIns="0" bIns="0" rtlCol="0" anchor="t"/>
          <a:lstStyle/>
          <a:p>
            <a:pPr algn="ctr" indent="0" marL="0">
              <a:buNone/>
            </a:pPr>
            <a:r>
              <a:rPr lang="en-US" sz="650" dirty="0">
                <a:solidFill>
                  <a:srgbClr val="475467"/>
                </a:solidFill>
                <a:latin typeface="Inter" pitchFamily="34" charset="0"/>
                <a:ea typeface="Inter" pitchFamily="34" charset="-122"/>
                <a:cs typeface="Inter" pitchFamily="34" charset="-120"/>
              </a:rPr>
              <a:t>Web Audio</a:t>
            </a:r>
            <a:endParaRPr lang="en-US" sz="650" dirty="0"/>
          </a:p>
        </p:txBody>
      </p:sp>
      <p:sp>
        <p:nvSpPr>
          <p:cNvPr id="126" name="Shape 103"/>
          <p:cNvSpPr/>
          <p:nvPr/>
        </p:nvSpPr>
        <p:spPr>
          <a:xfrm>
            <a:off x="9427464" y="5852160"/>
            <a:ext cx="768096" cy="164592"/>
          </a:xfrm>
          <a:prstGeom prst="roundRect">
            <a:avLst>
              <a:gd name="adj" fmla="val 44444"/>
            </a:avLst>
          </a:prstGeom>
          <a:solidFill>
            <a:srgbClr val="FFFFFF"/>
          </a:solidFill>
          <a:ln w="9525">
            <a:solidFill>
              <a:srgbClr val="D0D5DD"/>
            </a:solidFill>
            <a:prstDash val="solid"/>
          </a:ln>
        </p:spPr>
      </p:sp>
      <p:sp>
        <p:nvSpPr>
          <p:cNvPr id="127" name="Text 104"/>
          <p:cNvSpPr txBox="1"/>
          <p:nvPr/>
        </p:nvSpPr>
        <p:spPr>
          <a:xfrm>
            <a:off x="9427464" y="5852160"/>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faster-whisper</a:t>
            </a:r>
            <a:endParaRPr lang="en-US" sz="620" dirty="0"/>
          </a:p>
        </p:txBody>
      </p:sp>
      <p:sp>
        <p:nvSpPr>
          <p:cNvPr id="128" name="Shape 105"/>
          <p:cNvSpPr/>
          <p:nvPr/>
        </p:nvSpPr>
        <p:spPr>
          <a:xfrm>
            <a:off x="10232136" y="5852160"/>
            <a:ext cx="768096" cy="164592"/>
          </a:xfrm>
          <a:prstGeom prst="roundRect">
            <a:avLst>
              <a:gd name="adj" fmla="val 44444"/>
            </a:avLst>
          </a:prstGeom>
          <a:solidFill>
            <a:srgbClr val="FFFFFF"/>
          </a:solidFill>
          <a:ln w="9525">
            <a:solidFill>
              <a:srgbClr val="D0D5DD"/>
            </a:solidFill>
            <a:prstDash val="solid"/>
          </a:ln>
        </p:spPr>
      </p:sp>
      <p:sp>
        <p:nvSpPr>
          <p:cNvPr id="129" name="Text 106"/>
          <p:cNvSpPr txBox="1"/>
          <p:nvPr/>
        </p:nvSpPr>
        <p:spPr>
          <a:xfrm>
            <a:off x="10232136" y="5852160"/>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emotion2vec+ / FunASR</a:t>
            </a:r>
            <a:endParaRPr lang="en-US" sz="620" dirty="0"/>
          </a:p>
        </p:txBody>
      </p:sp>
      <p:sp>
        <p:nvSpPr>
          <p:cNvPr id="130" name="Shape 107"/>
          <p:cNvSpPr/>
          <p:nvPr/>
        </p:nvSpPr>
        <p:spPr>
          <a:xfrm>
            <a:off x="11036808" y="5852160"/>
            <a:ext cx="768096" cy="164592"/>
          </a:xfrm>
          <a:prstGeom prst="roundRect">
            <a:avLst>
              <a:gd name="adj" fmla="val 44444"/>
            </a:avLst>
          </a:prstGeom>
          <a:solidFill>
            <a:srgbClr val="FFFFFF"/>
          </a:solidFill>
          <a:ln w="9525">
            <a:solidFill>
              <a:srgbClr val="D0D5DD"/>
            </a:solidFill>
            <a:prstDash val="solid"/>
          </a:ln>
        </p:spPr>
      </p:sp>
      <p:sp>
        <p:nvSpPr>
          <p:cNvPr id="131" name="Text 108"/>
          <p:cNvSpPr txBox="1"/>
          <p:nvPr/>
        </p:nvSpPr>
        <p:spPr>
          <a:xfrm>
            <a:off x="11036808" y="5852160"/>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SpeechBrain ECAPA</a:t>
            </a:r>
            <a:endParaRPr lang="en-US" sz="620" dirty="0"/>
          </a:p>
        </p:txBody>
      </p:sp>
      <p:sp>
        <p:nvSpPr>
          <p:cNvPr id="132" name="Shape 109"/>
          <p:cNvSpPr/>
          <p:nvPr/>
        </p:nvSpPr>
        <p:spPr>
          <a:xfrm>
            <a:off x="9427464" y="6053328"/>
            <a:ext cx="768096" cy="164592"/>
          </a:xfrm>
          <a:prstGeom prst="roundRect">
            <a:avLst>
              <a:gd name="adj" fmla="val 44444"/>
            </a:avLst>
          </a:prstGeom>
          <a:solidFill>
            <a:srgbClr val="FFFFFF"/>
          </a:solidFill>
          <a:ln w="9525">
            <a:solidFill>
              <a:srgbClr val="D0D5DD"/>
            </a:solidFill>
            <a:prstDash val="solid"/>
          </a:ln>
        </p:spPr>
      </p:sp>
      <p:sp>
        <p:nvSpPr>
          <p:cNvPr id="133" name="Text 110"/>
          <p:cNvSpPr txBox="1"/>
          <p:nvPr/>
        </p:nvSpPr>
        <p:spPr>
          <a:xfrm>
            <a:off x="9427464" y="6053328"/>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AES-256-GCM</a:t>
            </a:r>
            <a:endParaRPr lang="en-US" sz="620" dirty="0"/>
          </a:p>
        </p:txBody>
      </p:sp>
      <p:sp>
        <p:nvSpPr>
          <p:cNvPr id="134" name="Shape 111"/>
          <p:cNvSpPr/>
          <p:nvPr/>
        </p:nvSpPr>
        <p:spPr>
          <a:xfrm>
            <a:off x="10232136" y="6053328"/>
            <a:ext cx="768096" cy="164592"/>
          </a:xfrm>
          <a:prstGeom prst="roundRect">
            <a:avLst>
              <a:gd name="adj" fmla="val 44444"/>
            </a:avLst>
          </a:prstGeom>
          <a:solidFill>
            <a:srgbClr val="FFFFFF"/>
          </a:solidFill>
          <a:ln w="9525">
            <a:solidFill>
              <a:srgbClr val="D0D5DD"/>
            </a:solidFill>
            <a:prstDash val="solid"/>
          </a:ln>
        </p:spPr>
      </p:sp>
      <p:sp>
        <p:nvSpPr>
          <p:cNvPr id="135" name="Text 112"/>
          <p:cNvSpPr txBox="1"/>
          <p:nvPr/>
        </p:nvSpPr>
        <p:spPr>
          <a:xfrm>
            <a:off x="10232136" y="6053328"/>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HKDF · HMAC</a:t>
            </a:r>
            <a:endParaRPr lang="en-US" sz="620" dirty="0"/>
          </a:p>
        </p:txBody>
      </p:sp>
      <p:sp>
        <p:nvSpPr>
          <p:cNvPr id="136" name="Shape 113"/>
          <p:cNvSpPr/>
          <p:nvPr/>
        </p:nvSpPr>
        <p:spPr>
          <a:xfrm>
            <a:off x="11036808" y="6053328"/>
            <a:ext cx="768096" cy="164592"/>
          </a:xfrm>
          <a:prstGeom prst="roundRect">
            <a:avLst>
              <a:gd name="adj" fmla="val 44444"/>
            </a:avLst>
          </a:prstGeom>
          <a:solidFill>
            <a:srgbClr val="FFFFFF"/>
          </a:solidFill>
          <a:ln w="9525">
            <a:solidFill>
              <a:srgbClr val="D0D5DD"/>
            </a:solidFill>
            <a:prstDash val="solid"/>
          </a:ln>
        </p:spPr>
      </p:sp>
      <p:sp>
        <p:nvSpPr>
          <p:cNvPr id="137" name="Text 114"/>
          <p:cNvSpPr txBox="1"/>
          <p:nvPr/>
        </p:nvSpPr>
        <p:spPr>
          <a:xfrm>
            <a:off x="11036808" y="6053328"/>
            <a:ext cx="768096" cy="164592"/>
          </a:xfrm>
          <a:prstGeom prst="rect">
            <a:avLst/>
          </a:prstGeom>
          <a:noFill/>
          <a:ln/>
        </p:spPr>
        <p:txBody>
          <a:bodyPr wrap="square" lIns="0" tIns="0" rIns="0" bIns="0" rtlCol="0" anchor="ctr"/>
          <a:lstStyle/>
          <a:p>
            <a:pPr algn="ctr" indent="0" marL="0">
              <a:buNone/>
            </a:pPr>
            <a:r>
              <a:rPr lang="en-US" sz="620" b="1" dirty="0">
                <a:solidFill>
                  <a:srgbClr val="101828"/>
                </a:solidFill>
                <a:latin typeface="Inter" pitchFamily="34" charset="0"/>
                <a:ea typeface="Inter" pitchFamily="34" charset="-122"/>
                <a:cs typeface="Inter" pitchFamily="34" charset="-120"/>
              </a:rPr>
              <a:t>Fernet</a:t>
            </a:r>
            <a:endParaRPr lang="en-US" sz="620" dirty="0"/>
          </a:p>
        </p:txBody>
      </p:sp>
      <p:sp>
        <p:nvSpPr>
          <p:cNvPr id="138" name="Text 115"/>
          <p:cNvSpPr txBox="1"/>
          <p:nvPr/>
        </p:nvSpPr>
        <p:spPr>
          <a:xfrm>
            <a:off x="320040" y="6336792"/>
            <a:ext cx="11567160" cy="201168"/>
          </a:xfrm>
          <a:prstGeom prst="rect">
            <a:avLst/>
          </a:prstGeom>
          <a:noFill/>
          <a:ln/>
        </p:spPr>
        <p:txBody>
          <a:bodyPr wrap="square" lIns="0" tIns="0" rIns="0" bIns="0" rtlCol="0" anchor="ctr"/>
          <a:lstStyle/>
          <a:p>
            <a:pPr indent="0" marL="0">
              <a:buNone/>
            </a:pPr>
            <a:r>
              <a:rPr lang="en-US" sz="700" i="1" dirty="0">
                <a:solidFill>
                  <a:srgbClr val="667085"/>
                </a:solidFill>
                <a:latin typeface="Inter" pitchFamily="34" charset="0"/>
                <a:ea typeface="Inter" pitchFamily="34" charset="-122"/>
                <a:cs typeface="Inter" pitchFamily="34" charset="-120"/>
              </a:rPr>
              <a:t>Thresholds and weights are copied from backend/anvesh/distress.py, triage.py and linker.py. Models load lazily in the background; /api/health reports what is loaded, and a missing model is reported, never simulated.</a:t>
            </a:r>
            <a:endParaRPr lang="en-US" sz="7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2103120" y="146304"/>
            <a:ext cx="6217920" cy="512064"/>
          </a:xfrm>
          <a:prstGeom prst="rect">
            <a:avLst/>
          </a:prstGeom>
          <a:noFill/>
          <a:ln/>
        </p:spPr>
        <p:txBody>
          <a:bodyPr wrap="square" lIns="0" tIns="0" rIns="0" bIns="0" rtlCol="0" anchor="ctr"/>
          <a:lstStyle/>
          <a:p>
            <a:pPr algn="ctr" indent="0" marL="0">
              <a:buNone/>
            </a:pPr>
            <a:r>
              <a:rPr lang="en-US" sz="2600" b="1" dirty="0">
                <a:solidFill>
                  <a:srgbClr val="101828"/>
                </a:solidFill>
                <a:latin typeface="Inter" pitchFamily="34" charset="0"/>
                <a:ea typeface="Inter" pitchFamily="34" charset="-122"/>
                <a:cs typeface="Inter" pitchFamily="34" charset="-120"/>
              </a:rPr>
              <a:t>Feasibility &amp; Viability</a:t>
            </a:r>
            <a:endParaRPr lang="en-US" sz="2600" dirty="0"/>
          </a:p>
        </p:txBody>
      </p:sp>
      <p:sp>
        <p:nvSpPr>
          <p:cNvPr id="3" name="Shape 1"/>
          <p:cNvSpPr/>
          <p:nvPr/>
        </p:nvSpPr>
        <p:spPr>
          <a:xfrm>
            <a:off x="320040" y="868680"/>
            <a:ext cx="1051560" cy="201168"/>
          </a:xfrm>
          <a:prstGeom prst="roundRect">
            <a:avLst>
              <a:gd name="adj" fmla="val 36364"/>
            </a:avLst>
          </a:prstGeom>
          <a:solidFill>
            <a:srgbClr val="F97A0F"/>
          </a:solidFill>
          <a:ln w="9525">
            <a:solidFill>
              <a:srgbClr val="F97A0F"/>
            </a:solidFill>
            <a:prstDash val="solid"/>
          </a:ln>
        </p:spPr>
      </p:sp>
      <p:sp>
        <p:nvSpPr>
          <p:cNvPr id="4" name="Text 2"/>
          <p:cNvSpPr txBox="1"/>
          <p:nvPr/>
        </p:nvSpPr>
        <p:spPr>
          <a:xfrm>
            <a:off x="320040" y="868680"/>
            <a:ext cx="10515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Inter" pitchFamily="34" charset="0"/>
                <a:ea typeface="Inter" pitchFamily="34" charset="-122"/>
                <a:cs typeface="Inter" pitchFamily="34" charset="-120"/>
              </a:rPr>
              <a:t>FEASIBILITY</a:t>
            </a:r>
            <a:endParaRPr lang="en-US" sz="750" dirty="0"/>
          </a:p>
        </p:txBody>
      </p:sp>
      <p:sp>
        <p:nvSpPr>
          <p:cNvPr id="5" name="Text 3"/>
          <p:cNvSpPr txBox="1"/>
          <p:nvPr/>
        </p:nvSpPr>
        <p:spPr>
          <a:xfrm>
            <a:off x="1463040" y="841248"/>
            <a:ext cx="2377440" cy="256032"/>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It already runs</a:t>
            </a:r>
            <a:endParaRPr lang="en-US" sz="1100" dirty="0"/>
          </a:p>
        </p:txBody>
      </p:sp>
      <p:pic>
        <p:nvPicPr>
          <p:cNvPr id="6" name="Image 0" descr="shot_user.png">    </p:cNvPr>
          <p:cNvPicPr>
            <a:picLocks noChangeAspect="1"/>
          </p:cNvPicPr>
          <p:nvPr/>
        </p:nvPicPr>
        <p:blipFill>
          <a:blip r:embed="rId1"/>
          <a:stretch>
            <a:fillRect/>
          </a:stretch>
        </p:blipFill>
        <p:spPr>
          <a:xfrm>
            <a:off x="320040" y="1143000"/>
            <a:ext cx="3520440" cy="2200046"/>
          </a:xfrm>
          <a:prstGeom prst="rect">
            <a:avLst/>
          </a:prstGeom>
        </p:spPr>
      </p:pic>
      <p:sp>
        <p:nvSpPr>
          <p:cNvPr id="7" name="Shape 4"/>
          <p:cNvSpPr/>
          <p:nvPr/>
        </p:nvSpPr>
        <p:spPr>
          <a:xfrm>
            <a:off x="320040" y="1143000"/>
            <a:ext cx="3520440" cy="2200046"/>
          </a:xfrm>
          <a:prstGeom prst="rect">
            <a:avLst/>
          </a:prstGeom>
          <a:solidFill>
            <a:srgbClr val="FFFFFF">
              <a:alpha val="0"/>
            </a:srgbClr>
          </a:solidFill>
          <a:ln w="9525">
            <a:solidFill>
              <a:srgbClr val="D0D5DD"/>
            </a:solidFill>
            <a:prstDash val="solid"/>
          </a:ln>
        </p:spPr>
      </p:sp>
      <p:sp>
        <p:nvSpPr>
          <p:cNvPr id="8" name="Shape 5"/>
          <p:cNvSpPr/>
          <p:nvPr/>
        </p:nvSpPr>
        <p:spPr>
          <a:xfrm>
            <a:off x="320040" y="3383280"/>
            <a:ext cx="1143000" cy="329184"/>
          </a:xfrm>
          <a:prstGeom prst="roundRect">
            <a:avLst>
              <a:gd name="adj" fmla="val 16667"/>
            </a:avLst>
          </a:prstGeom>
          <a:solidFill>
            <a:srgbClr val="FFF4EA"/>
          </a:solidFill>
          <a:ln w="9525">
            <a:solidFill>
              <a:srgbClr val="FDD4AE"/>
            </a:solidFill>
            <a:prstDash val="solid"/>
          </a:ln>
        </p:spPr>
      </p:sp>
      <p:sp>
        <p:nvSpPr>
          <p:cNvPr id="9" name="Text 6"/>
          <p:cNvSpPr txBox="1"/>
          <p:nvPr/>
        </p:nvSpPr>
        <p:spPr>
          <a:xfrm>
            <a:off x="374904" y="3383280"/>
            <a:ext cx="1051560" cy="329184"/>
          </a:xfrm>
          <a:prstGeom prst="rect">
            <a:avLst/>
          </a:prstGeom>
          <a:noFill/>
          <a:ln/>
        </p:spPr>
        <p:txBody>
          <a:bodyPr wrap="square" lIns="0" tIns="0" rIns="0" bIns="0" rtlCol="0" anchor="ctr"/>
          <a:lstStyle/>
          <a:p>
            <a:pPr indent="0" marL="0">
              <a:buNone/>
            </a:pPr>
            <a:r>
              <a:rPr lang="en-US" sz="1100" b="1" dirty="0">
                <a:solidFill>
                  <a:srgbClr val="C2570C"/>
                </a:solidFill>
                <a:latin typeface="Inter" pitchFamily="34" charset="0"/>
                <a:ea typeface="Inter" pitchFamily="34" charset="-122"/>
                <a:cs typeface="Inter" pitchFamily="34" charset="-120"/>
              </a:rPr>
              <a:t>5,322 </a:t>
            </a:r>
            <a:pPr indent="0" marL="0">
              <a:buNone/>
            </a:pPr>
            <a:r>
              <a:rPr lang="en-US" sz="660" dirty="0">
                <a:solidFill>
                  <a:srgbClr val="475467"/>
                </a:solidFill>
                <a:latin typeface="Inter" pitchFamily="34" charset="0"/>
                <a:ea typeface="Inter" pitchFamily="34" charset="-122"/>
                <a:cs typeface="Inter" pitchFamily="34" charset="-120"/>
              </a:rPr>
              <a:t>lines of backend Python</a:t>
            </a:r>
            <a:endParaRPr lang="en-US" sz="950" dirty="0"/>
          </a:p>
        </p:txBody>
      </p:sp>
      <p:sp>
        <p:nvSpPr>
          <p:cNvPr id="10" name="Shape 7"/>
          <p:cNvSpPr/>
          <p:nvPr/>
        </p:nvSpPr>
        <p:spPr>
          <a:xfrm>
            <a:off x="1508760" y="3383280"/>
            <a:ext cx="1143000" cy="329184"/>
          </a:xfrm>
          <a:prstGeom prst="roundRect">
            <a:avLst>
              <a:gd name="adj" fmla="val 16667"/>
            </a:avLst>
          </a:prstGeom>
          <a:solidFill>
            <a:srgbClr val="FFF4EA"/>
          </a:solidFill>
          <a:ln w="9525">
            <a:solidFill>
              <a:srgbClr val="FDD4AE"/>
            </a:solidFill>
            <a:prstDash val="solid"/>
          </a:ln>
        </p:spPr>
      </p:sp>
      <p:sp>
        <p:nvSpPr>
          <p:cNvPr id="11" name="Text 8"/>
          <p:cNvSpPr txBox="1"/>
          <p:nvPr/>
        </p:nvSpPr>
        <p:spPr>
          <a:xfrm>
            <a:off x="1563624" y="3383280"/>
            <a:ext cx="1051560" cy="329184"/>
          </a:xfrm>
          <a:prstGeom prst="rect">
            <a:avLst/>
          </a:prstGeom>
          <a:noFill/>
          <a:ln/>
        </p:spPr>
        <p:txBody>
          <a:bodyPr wrap="square" lIns="0" tIns="0" rIns="0" bIns="0" rtlCol="0" anchor="ctr"/>
          <a:lstStyle/>
          <a:p>
            <a:pPr indent="0" marL="0">
              <a:buNone/>
            </a:pPr>
            <a:r>
              <a:rPr lang="en-US" sz="1100" b="1" dirty="0">
                <a:solidFill>
                  <a:srgbClr val="C2570C"/>
                </a:solidFill>
                <a:latin typeface="Inter" pitchFamily="34" charset="0"/>
                <a:ea typeface="Inter" pitchFamily="34" charset="-122"/>
                <a:cs typeface="Inter" pitchFamily="34" charset="-120"/>
              </a:rPr>
              <a:t>10 </a:t>
            </a:r>
            <a:pPr indent="0" marL="0">
              <a:buNone/>
            </a:pPr>
            <a:r>
              <a:rPr lang="en-US" sz="660" dirty="0">
                <a:solidFill>
                  <a:srgbClr val="475467"/>
                </a:solidFill>
                <a:latin typeface="Inter" pitchFamily="34" charset="0"/>
                <a:ea typeface="Inter" pitchFamily="34" charset="-122"/>
                <a:cs typeface="Inter" pitchFamily="34" charset="-120"/>
              </a:rPr>
              <a:t>app pages, Next.js 15</a:t>
            </a:r>
            <a:endParaRPr lang="en-US" sz="950" dirty="0"/>
          </a:p>
        </p:txBody>
      </p:sp>
      <p:sp>
        <p:nvSpPr>
          <p:cNvPr id="12" name="Shape 9"/>
          <p:cNvSpPr/>
          <p:nvPr/>
        </p:nvSpPr>
        <p:spPr>
          <a:xfrm>
            <a:off x="2697480" y="3383280"/>
            <a:ext cx="1143000" cy="329184"/>
          </a:xfrm>
          <a:prstGeom prst="roundRect">
            <a:avLst>
              <a:gd name="adj" fmla="val 16667"/>
            </a:avLst>
          </a:prstGeom>
          <a:solidFill>
            <a:srgbClr val="FFF4EA"/>
          </a:solidFill>
          <a:ln w="9525">
            <a:solidFill>
              <a:srgbClr val="FDD4AE"/>
            </a:solidFill>
            <a:prstDash val="solid"/>
          </a:ln>
        </p:spPr>
      </p:sp>
      <p:sp>
        <p:nvSpPr>
          <p:cNvPr id="13" name="Text 10"/>
          <p:cNvSpPr txBox="1"/>
          <p:nvPr/>
        </p:nvSpPr>
        <p:spPr>
          <a:xfrm>
            <a:off x="2752344" y="3383280"/>
            <a:ext cx="1051560" cy="329184"/>
          </a:xfrm>
          <a:prstGeom prst="rect">
            <a:avLst/>
          </a:prstGeom>
          <a:noFill/>
          <a:ln/>
        </p:spPr>
        <p:txBody>
          <a:bodyPr wrap="square" lIns="0" tIns="0" rIns="0" bIns="0" rtlCol="0" anchor="ctr"/>
          <a:lstStyle/>
          <a:p>
            <a:pPr indent="0" marL="0">
              <a:buNone/>
            </a:pPr>
            <a:r>
              <a:rPr lang="en-US" sz="1100" b="1" dirty="0">
                <a:solidFill>
                  <a:srgbClr val="C2570C"/>
                </a:solidFill>
                <a:latin typeface="Inter" pitchFamily="34" charset="0"/>
                <a:ea typeface="Inter" pitchFamily="34" charset="-122"/>
                <a:cs typeface="Inter" pitchFamily="34" charset="-120"/>
              </a:rPr>
              <a:t>6 </a:t>
            </a:r>
            <a:pPr indent="0" marL="0">
              <a:buNone/>
            </a:pPr>
            <a:r>
              <a:rPr lang="en-US" sz="660" dirty="0">
                <a:solidFill>
                  <a:srgbClr val="475467"/>
                </a:solidFill>
                <a:latin typeface="Inter" pitchFamily="34" charset="0"/>
                <a:ea typeface="Inter" pitchFamily="34" charset="-122"/>
                <a:cs typeface="Inter" pitchFamily="34" charset="-120"/>
              </a:rPr>
              <a:t>official datasets, SHA-256 checked</a:t>
            </a:r>
            <a:endParaRPr lang="en-US" sz="950" dirty="0"/>
          </a:p>
        </p:txBody>
      </p:sp>
      <p:sp>
        <p:nvSpPr>
          <p:cNvPr id="14" name="Text 11"/>
          <p:cNvSpPr txBox="1"/>
          <p:nvPr/>
        </p:nvSpPr>
        <p:spPr>
          <a:xfrm>
            <a:off x="4005072" y="841248"/>
            <a:ext cx="4206240" cy="256032"/>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Feasible on three fronts</a:t>
            </a:r>
            <a:endParaRPr lang="en-US" sz="1100" dirty="0"/>
          </a:p>
        </p:txBody>
      </p:sp>
      <p:sp>
        <p:nvSpPr>
          <p:cNvPr id="15" name="Shape 12"/>
          <p:cNvSpPr/>
          <p:nvPr/>
        </p:nvSpPr>
        <p:spPr>
          <a:xfrm>
            <a:off x="4005072" y="1161288"/>
            <a:ext cx="1353312" cy="2450592"/>
          </a:xfrm>
          <a:prstGeom prst="roundRect">
            <a:avLst>
              <a:gd name="adj" fmla="val 4054"/>
            </a:avLst>
          </a:prstGeom>
          <a:solidFill>
            <a:srgbClr val="F6F7F9"/>
          </a:solidFill>
          <a:ln w="9525">
            <a:solidFill>
              <a:srgbClr val="F6F7F9"/>
            </a:solidFill>
            <a:prstDash val="solid"/>
          </a:ln>
        </p:spPr>
      </p:sp>
      <p:sp>
        <p:nvSpPr>
          <p:cNvPr id="16" name="Text 13"/>
          <p:cNvSpPr txBox="1"/>
          <p:nvPr/>
        </p:nvSpPr>
        <p:spPr>
          <a:xfrm>
            <a:off x="4096512" y="1252728"/>
            <a:ext cx="118872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Technical</a:t>
            </a:r>
            <a:endParaRPr lang="en-US" sz="950" dirty="0"/>
          </a:p>
        </p:txBody>
      </p:sp>
      <p:sp>
        <p:nvSpPr>
          <p:cNvPr id="17" name="Text 14"/>
          <p:cNvSpPr txBox="1"/>
          <p:nvPr/>
        </p:nvSpPr>
        <p:spPr>
          <a:xfrm>
            <a:off x="4078224" y="1600200"/>
            <a:ext cx="1243584" cy="1965960"/>
          </a:xfrm>
          <a:prstGeom prst="rect">
            <a:avLst/>
          </a:prstGeom>
          <a:noFill/>
          <a:ln/>
        </p:spPr>
        <p:txBody>
          <a:bodyPr wrap="square" lIns="0" tIns="0" rIns="0" bIns="0" rtlCol="0" anchor="t"/>
          <a:lstStyle/>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Open models: faster-whisper, emotion2vec+, ECAPA</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Runs on a laptop CPU (int8); “base” model for low RAM</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Live text every ~5 s; full re-transcribe after the call</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Models load in the background; /api/health shows status</a:t>
            </a:r>
            <a:endParaRPr lang="en-US" sz="790" dirty="0"/>
          </a:p>
        </p:txBody>
      </p:sp>
      <p:sp>
        <p:nvSpPr>
          <p:cNvPr id="18" name="Shape 15"/>
          <p:cNvSpPr/>
          <p:nvPr/>
        </p:nvSpPr>
        <p:spPr>
          <a:xfrm>
            <a:off x="5422392" y="1161288"/>
            <a:ext cx="1353312" cy="2450592"/>
          </a:xfrm>
          <a:prstGeom prst="roundRect">
            <a:avLst>
              <a:gd name="adj" fmla="val 4054"/>
            </a:avLst>
          </a:prstGeom>
          <a:solidFill>
            <a:srgbClr val="FFFFFF"/>
          </a:solidFill>
          <a:ln w="9525">
            <a:solidFill>
              <a:srgbClr val="E4E7EC"/>
            </a:solidFill>
            <a:prstDash val="solid"/>
          </a:ln>
        </p:spPr>
      </p:sp>
      <p:sp>
        <p:nvSpPr>
          <p:cNvPr id="19" name="Text 16"/>
          <p:cNvSpPr txBox="1"/>
          <p:nvPr/>
        </p:nvSpPr>
        <p:spPr>
          <a:xfrm>
            <a:off x="5513832" y="1252728"/>
            <a:ext cx="118872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Operational</a:t>
            </a:r>
            <a:endParaRPr lang="en-US" sz="950" dirty="0"/>
          </a:p>
        </p:txBody>
      </p:sp>
      <p:sp>
        <p:nvSpPr>
          <p:cNvPr id="20" name="Text 17"/>
          <p:cNvSpPr txBox="1"/>
          <p:nvPr/>
        </p:nvSpPr>
        <p:spPr>
          <a:xfrm>
            <a:off x="5495544" y="1600200"/>
            <a:ext cx="1243584" cy="1965960"/>
          </a:xfrm>
          <a:prstGeom prst="rect">
            <a:avLst/>
          </a:prstGeom>
          <a:noFill/>
          <a:ln/>
        </p:spPr>
        <p:txBody>
          <a:bodyPr wrap="square" lIns="0" tIns="0" rIns="0" bIns="0" rtlCol="0" anchor="t"/>
          <a:lstStyle/>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Officer stays in charge: verify, edit or reject any field</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Fits today’s 1930 / NCRP and bank-reporting steps</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Three roles: operator, supervisor, administrator</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One-click setup.bat; docker compose for servers</a:t>
            </a:r>
            <a:endParaRPr lang="en-US" sz="790" dirty="0"/>
          </a:p>
        </p:txBody>
      </p:sp>
      <p:sp>
        <p:nvSpPr>
          <p:cNvPr id="21" name="Shape 18"/>
          <p:cNvSpPr/>
          <p:nvPr/>
        </p:nvSpPr>
        <p:spPr>
          <a:xfrm>
            <a:off x="6839712" y="1161288"/>
            <a:ext cx="1353312" cy="2450592"/>
          </a:xfrm>
          <a:prstGeom prst="roundRect">
            <a:avLst>
              <a:gd name="adj" fmla="val 4054"/>
            </a:avLst>
          </a:prstGeom>
          <a:solidFill>
            <a:srgbClr val="F6F7F9"/>
          </a:solidFill>
          <a:ln w="9525">
            <a:solidFill>
              <a:srgbClr val="F6F7F9"/>
            </a:solidFill>
            <a:prstDash val="solid"/>
          </a:ln>
        </p:spPr>
      </p:sp>
      <p:sp>
        <p:nvSpPr>
          <p:cNvPr id="22" name="Text 19"/>
          <p:cNvSpPr txBox="1"/>
          <p:nvPr/>
        </p:nvSpPr>
        <p:spPr>
          <a:xfrm>
            <a:off x="6931152" y="1252728"/>
            <a:ext cx="1188720" cy="310896"/>
          </a:xfrm>
          <a:prstGeom prst="rect">
            <a:avLst/>
          </a:prstGeom>
          <a:noFill/>
          <a:ln/>
        </p:spPr>
        <p:txBody>
          <a:bodyPr wrap="square" lIns="0" tIns="0" rIns="0" bIns="0" rtlCol="0" anchor="ctr"/>
          <a:lstStyle/>
          <a:p>
            <a:pPr indent="0" marL="0">
              <a:buNone/>
            </a:pPr>
            <a:r>
              <a:rPr lang="en-US" sz="950" b="1" dirty="0">
                <a:solidFill>
                  <a:srgbClr val="101828"/>
                </a:solidFill>
                <a:latin typeface="Inter" pitchFamily="34" charset="0"/>
                <a:ea typeface="Inter" pitchFamily="34" charset="-122"/>
                <a:cs typeface="Inter" pitchFamily="34" charset="-120"/>
              </a:rPr>
              <a:t>Legal &amp; ethical</a:t>
            </a:r>
            <a:endParaRPr lang="en-US" sz="950" dirty="0"/>
          </a:p>
        </p:txBody>
      </p:sp>
      <p:sp>
        <p:nvSpPr>
          <p:cNvPr id="23" name="Text 20"/>
          <p:cNvSpPr txBox="1"/>
          <p:nvPr/>
        </p:nvSpPr>
        <p:spPr>
          <a:xfrm>
            <a:off x="6912864" y="1600200"/>
            <a:ext cx="1243584" cy="1965960"/>
          </a:xfrm>
          <a:prstGeom prst="rect">
            <a:avLst/>
          </a:prstGeom>
          <a:noFill/>
          <a:ln/>
        </p:spPr>
        <p:txBody>
          <a:bodyPr wrap="square" lIns="0" tIns="0" rIns="0" bIns="0" rtlCol="0" anchor="t"/>
          <a:lstStyle/>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Outputs are indicative only, never evidence of guilt</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Emotion scoring off for suspects by design</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Controls shaped around the DPDP Act 2023</a:t>
            </a:r>
            <a:endParaRPr lang="en-US" sz="790" dirty="0"/>
          </a:p>
          <a:p>
            <a:pPr marL="101600" indent="-101600">
              <a:spcAft>
                <a:spcPts val="300"/>
              </a:spcAft>
              <a:buSzPct val="100000"/>
              <a:buChar char="•"/>
            </a:pPr>
            <a:r>
              <a:rPr lang="en-US" sz="790" dirty="0">
                <a:solidFill>
                  <a:srgbClr val="475467"/>
                </a:solidFill>
                <a:latin typeface="Inter" pitchFamily="34" charset="0"/>
                <a:ea typeface="Inter" pitchFamily="34" charset="-122"/>
                <a:cs typeface="Inter" pitchFamily="34" charset="-120"/>
              </a:rPr>
              <a:t>Only GODL open data; licence of every model listed</a:t>
            </a:r>
            <a:endParaRPr lang="en-US" sz="790" dirty="0"/>
          </a:p>
        </p:txBody>
      </p:sp>
      <p:sp>
        <p:nvSpPr>
          <p:cNvPr id="24" name="Text 21"/>
          <p:cNvSpPr txBox="1"/>
          <p:nvPr/>
        </p:nvSpPr>
        <p:spPr>
          <a:xfrm>
            <a:off x="8366760" y="841248"/>
            <a:ext cx="3520440" cy="256032"/>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Quality gate on every push</a:t>
            </a:r>
            <a:endParaRPr lang="en-US" sz="1100" dirty="0"/>
          </a:p>
        </p:txBody>
      </p:sp>
      <p:sp>
        <p:nvSpPr>
          <p:cNvPr id="25" name="Shape 22"/>
          <p:cNvSpPr/>
          <p:nvPr/>
        </p:nvSpPr>
        <p:spPr>
          <a:xfrm>
            <a:off x="8366760" y="1161288"/>
            <a:ext cx="3520440" cy="2450592"/>
          </a:xfrm>
          <a:prstGeom prst="roundRect">
            <a:avLst>
              <a:gd name="adj" fmla="val 2239"/>
            </a:avLst>
          </a:prstGeom>
          <a:solidFill>
            <a:srgbClr val="FFFFFF"/>
          </a:solidFill>
          <a:ln w="9525">
            <a:solidFill>
              <a:srgbClr val="E4E7EC"/>
            </a:solidFill>
            <a:prstDash val="solid"/>
          </a:ln>
        </p:spPr>
      </p:sp>
      <p:sp>
        <p:nvSpPr>
          <p:cNvPr id="26" name="Shape 23"/>
          <p:cNvSpPr/>
          <p:nvPr/>
        </p:nvSpPr>
        <p:spPr>
          <a:xfrm>
            <a:off x="8613648" y="1353312"/>
            <a:ext cx="914" cy="1810512"/>
          </a:xfrm>
          <a:prstGeom prst="line">
            <a:avLst/>
          </a:prstGeom>
          <a:noFill/>
          <a:ln w="25400">
            <a:solidFill>
              <a:srgbClr val="FDD4AE"/>
            </a:solidFill>
            <a:prstDash val="solid"/>
          </a:ln>
        </p:spPr>
      </p:sp>
      <p:sp>
        <p:nvSpPr>
          <p:cNvPr id="27" name="Shape 24"/>
          <p:cNvSpPr/>
          <p:nvPr/>
        </p:nvSpPr>
        <p:spPr>
          <a:xfrm>
            <a:off x="8513064" y="1261872"/>
            <a:ext cx="201168" cy="201168"/>
          </a:xfrm>
          <a:prstGeom prst="ellipse">
            <a:avLst/>
          </a:prstGeom>
          <a:solidFill>
            <a:srgbClr val="F97A0F"/>
          </a:solidFill>
          <a:ln w="12700">
            <a:solidFill>
              <a:srgbClr val="FFFFFF"/>
            </a:solidFill>
            <a:prstDash val="solid"/>
          </a:ln>
        </p:spPr>
      </p:sp>
      <p:sp>
        <p:nvSpPr>
          <p:cNvPr id="28" name="Text 25"/>
          <p:cNvSpPr txBox="1"/>
          <p:nvPr/>
        </p:nvSpPr>
        <p:spPr>
          <a:xfrm>
            <a:off x="8513064" y="1261872"/>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1</a:t>
            </a:r>
            <a:endParaRPr lang="en-US" sz="700" dirty="0"/>
          </a:p>
        </p:txBody>
      </p:sp>
      <p:sp>
        <p:nvSpPr>
          <p:cNvPr id="29" name="Text 26"/>
          <p:cNvSpPr txBox="1"/>
          <p:nvPr/>
        </p:nvSpPr>
        <p:spPr>
          <a:xfrm>
            <a:off x="8796528" y="1243584"/>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Ruff lint</a:t>
            </a:r>
            <a:endParaRPr lang="en-US" sz="780" dirty="0"/>
          </a:p>
        </p:txBody>
      </p:sp>
      <p:sp>
        <p:nvSpPr>
          <p:cNvPr id="30" name="Shape 27"/>
          <p:cNvSpPr/>
          <p:nvPr/>
        </p:nvSpPr>
        <p:spPr>
          <a:xfrm>
            <a:off x="11109960" y="1271016"/>
            <a:ext cx="685800" cy="182880"/>
          </a:xfrm>
          <a:prstGeom prst="roundRect">
            <a:avLst>
              <a:gd name="adj" fmla="val 40000"/>
            </a:avLst>
          </a:prstGeom>
          <a:solidFill>
            <a:srgbClr val="FFF4EA"/>
          </a:solidFill>
          <a:ln w="9525">
            <a:solidFill>
              <a:srgbClr val="FFF4EA"/>
            </a:solidFill>
            <a:prstDash val="solid"/>
          </a:ln>
        </p:spPr>
      </p:sp>
      <p:sp>
        <p:nvSpPr>
          <p:cNvPr id="31" name="Text 28"/>
          <p:cNvSpPr txBox="1"/>
          <p:nvPr/>
        </p:nvSpPr>
        <p:spPr>
          <a:xfrm>
            <a:off x="11109960" y="1271016"/>
            <a:ext cx="685800" cy="182880"/>
          </a:xfrm>
          <a:prstGeom prst="rect">
            <a:avLst/>
          </a:prstGeom>
          <a:noFill/>
          <a:ln/>
        </p:spPr>
        <p:txBody>
          <a:bodyPr wrap="square" lIns="0" tIns="0" rIns="0" bIns="0" rtlCol="0" anchor="ctr"/>
          <a:lstStyle/>
          <a:p>
            <a:pPr algn="ctr" indent="0" marL="0">
              <a:buNone/>
            </a:pPr>
            <a:r>
              <a:rPr lang="en-US" sz="650" b="1" dirty="0">
                <a:solidFill>
                  <a:srgbClr val="C2570C"/>
                </a:solidFill>
                <a:latin typeface="Inter" pitchFamily="34" charset="0"/>
                <a:ea typeface="Inter" pitchFamily="34" charset="-122"/>
                <a:cs typeface="Inter" pitchFamily="34" charset="-120"/>
              </a:rPr>
              <a:t>backend</a:t>
            </a:r>
            <a:endParaRPr lang="en-US" sz="650" dirty="0"/>
          </a:p>
        </p:txBody>
      </p:sp>
      <p:sp>
        <p:nvSpPr>
          <p:cNvPr id="32" name="Shape 29"/>
          <p:cNvSpPr/>
          <p:nvPr/>
        </p:nvSpPr>
        <p:spPr>
          <a:xfrm>
            <a:off x="8513064" y="1563624"/>
            <a:ext cx="201168" cy="201168"/>
          </a:xfrm>
          <a:prstGeom prst="ellipse">
            <a:avLst/>
          </a:prstGeom>
          <a:solidFill>
            <a:srgbClr val="F97A0F"/>
          </a:solidFill>
          <a:ln w="12700">
            <a:solidFill>
              <a:srgbClr val="FFFFFF"/>
            </a:solidFill>
            <a:prstDash val="solid"/>
          </a:ln>
        </p:spPr>
      </p:sp>
      <p:sp>
        <p:nvSpPr>
          <p:cNvPr id="33" name="Text 30"/>
          <p:cNvSpPr txBox="1"/>
          <p:nvPr/>
        </p:nvSpPr>
        <p:spPr>
          <a:xfrm>
            <a:off x="8513064" y="1563624"/>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2</a:t>
            </a:r>
            <a:endParaRPr lang="en-US" sz="700" dirty="0"/>
          </a:p>
        </p:txBody>
      </p:sp>
      <p:sp>
        <p:nvSpPr>
          <p:cNvPr id="34" name="Text 31"/>
          <p:cNvSpPr txBox="1"/>
          <p:nvPr/>
        </p:nvSpPr>
        <p:spPr>
          <a:xfrm>
            <a:off x="8796528" y="1545336"/>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pytest: 87 tests (unit, API, live, security)</a:t>
            </a:r>
            <a:endParaRPr lang="en-US" sz="780" dirty="0"/>
          </a:p>
        </p:txBody>
      </p:sp>
      <p:sp>
        <p:nvSpPr>
          <p:cNvPr id="35" name="Shape 32"/>
          <p:cNvSpPr/>
          <p:nvPr/>
        </p:nvSpPr>
        <p:spPr>
          <a:xfrm>
            <a:off x="11109960" y="1572768"/>
            <a:ext cx="685800" cy="182880"/>
          </a:xfrm>
          <a:prstGeom prst="roundRect">
            <a:avLst>
              <a:gd name="adj" fmla="val 40000"/>
            </a:avLst>
          </a:prstGeom>
          <a:solidFill>
            <a:srgbClr val="FFF4EA"/>
          </a:solidFill>
          <a:ln w="9525">
            <a:solidFill>
              <a:srgbClr val="FFF4EA"/>
            </a:solidFill>
            <a:prstDash val="solid"/>
          </a:ln>
        </p:spPr>
      </p:sp>
      <p:sp>
        <p:nvSpPr>
          <p:cNvPr id="36" name="Text 33"/>
          <p:cNvSpPr txBox="1"/>
          <p:nvPr/>
        </p:nvSpPr>
        <p:spPr>
          <a:xfrm>
            <a:off x="11109960" y="1572768"/>
            <a:ext cx="685800" cy="182880"/>
          </a:xfrm>
          <a:prstGeom prst="rect">
            <a:avLst/>
          </a:prstGeom>
          <a:noFill/>
          <a:ln/>
        </p:spPr>
        <p:txBody>
          <a:bodyPr wrap="square" lIns="0" tIns="0" rIns="0" bIns="0" rtlCol="0" anchor="ctr"/>
          <a:lstStyle/>
          <a:p>
            <a:pPr algn="ctr" indent="0" marL="0">
              <a:buNone/>
            </a:pPr>
            <a:r>
              <a:rPr lang="en-US" sz="650" b="1" dirty="0">
                <a:solidFill>
                  <a:srgbClr val="C2570C"/>
                </a:solidFill>
                <a:latin typeface="Inter" pitchFamily="34" charset="0"/>
                <a:ea typeface="Inter" pitchFamily="34" charset="-122"/>
                <a:cs typeface="Inter" pitchFamily="34" charset="-120"/>
              </a:rPr>
              <a:t>backend</a:t>
            </a:r>
            <a:endParaRPr lang="en-US" sz="650" dirty="0"/>
          </a:p>
        </p:txBody>
      </p:sp>
      <p:sp>
        <p:nvSpPr>
          <p:cNvPr id="37" name="Shape 34"/>
          <p:cNvSpPr/>
          <p:nvPr/>
        </p:nvSpPr>
        <p:spPr>
          <a:xfrm>
            <a:off x="8513064" y="1865376"/>
            <a:ext cx="201168" cy="201168"/>
          </a:xfrm>
          <a:prstGeom prst="ellipse">
            <a:avLst/>
          </a:prstGeom>
          <a:solidFill>
            <a:srgbClr val="F97A0F"/>
          </a:solidFill>
          <a:ln w="12700">
            <a:solidFill>
              <a:srgbClr val="FFFFFF"/>
            </a:solidFill>
            <a:prstDash val="solid"/>
          </a:ln>
        </p:spPr>
      </p:sp>
      <p:sp>
        <p:nvSpPr>
          <p:cNvPr id="38" name="Text 35"/>
          <p:cNvSpPr txBox="1"/>
          <p:nvPr/>
        </p:nvSpPr>
        <p:spPr>
          <a:xfrm>
            <a:off x="8513064" y="1865376"/>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3</a:t>
            </a:r>
            <a:endParaRPr lang="en-US" sz="700" dirty="0"/>
          </a:p>
        </p:txBody>
      </p:sp>
      <p:sp>
        <p:nvSpPr>
          <p:cNvPr id="39" name="Text 36"/>
          <p:cNvSpPr txBox="1"/>
          <p:nvPr/>
        </p:nvSpPr>
        <p:spPr>
          <a:xfrm>
            <a:off x="8796528" y="1847088"/>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Extraction eval: 38/38 field checks*</a:t>
            </a:r>
            <a:endParaRPr lang="en-US" sz="780" dirty="0"/>
          </a:p>
        </p:txBody>
      </p:sp>
      <p:sp>
        <p:nvSpPr>
          <p:cNvPr id="40" name="Shape 37"/>
          <p:cNvSpPr/>
          <p:nvPr/>
        </p:nvSpPr>
        <p:spPr>
          <a:xfrm>
            <a:off x="11109960" y="1874520"/>
            <a:ext cx="685800" cy="182880"/>
          </a:xfrm>
          <a:prstGeom prst="roundRect">
            <a:avLst>
              <a:gd name="adj" fmla="val 40000"/>
            </a:avLst>
          </a:prstGeom>
          <a:solidFill>
            <a:srgbClr val="FFF4EA"/>
          </a:solidFill>
          <a:ln w="9525">
            <a:solidFill>
              <a:srgbClr val="FFF4EA"/>
            </a:solidFill>
            <a:prstDash val="solid"/>
          </a:ln>
        </p:spPr>
      </p:sp>
      <p:sp>
        <p:nvSpPr>
          <p:cNvPr id="41" name="Text 38"/>
          <p:cNvSpPr txBox="1"/>
          <p:nvPr/>
        </p:nvSpPr>
        <p:spPr>
          <a:xfrm>
            <a:off x="11109960" y="1874520"/>
            <a:ext cx="685800" cy="182880"/>
          </a:xfrm>
          <a:prstGeom prst="rect">
            <a:avLst/>
          </a:prstGeom>
          <a:noFill/>
          <a:ln/>
        </p:spPr>
        <p:txBody>
          <a:bodyPr wrap="square" lIns="0" tIns="0" rIns="0" bIns="0" rtlCol="0" anchor="ctr"/>
          <a:lstStyle/>
          <a:p>
            <a:pPr algn="ctr" indent="0" marL="0">
              <a:buNone/>
            </a:pPr>
            <a:r>
              <a:rPr lang="en-US" sz="650" b="1" dirty="0">
                <a:solidFill>
                  <a:srgbClr val="C2570C"/>
                </a:solidFill>
                <a:latin typeface="Inter" pitchFamily="34" charset="0"/>
                <a:ea typeface="Inter" pitchFamily="34" charset="-122"/>
                <a:cs typeface="Inter" pitchFamily="34" charset="-120"/>
              </a:rPr>
              <a:t>backend</a:t>
            </a:r>
            <a:endParaRPr lang="en-US" sz="650" dirty="0"/>
          </a:p>
        </p:txBody>
      </p:sp>
      <p:sp>
        <p:nvSpPr>
          <p:cNvPr id="42" name="Shape 39"/>
          <p:cNvSpPr/>
          <p:nvPr/>
        </p:nvSpPr>
        <p:spPr>
          <a:xfrm>
            <a:off x="8513064" y="2167128"/>
            <a:ext cx="201168" cy="201168"/>
          </a:xfrm>
          <a:prstGeom prst="ellipse">
            <a:avLst/>
          </a:prstGeom>
          <a:solidFill>
            <a:srgbClr val="F97A0F"/>
          </a:solidFill>
          <a:ln w="12700">
            <a:solidFill>
              <a:srgbClr val="FFFFFF"/>
            </a:solidFill>
            <a:prstDash val="solid"/>
          </a:ln>
        </p:spPr>
      </p:sp>
      <p:sp>
        <p:nvSpPr>
          <p:cNvPr id="43" name="Text 40"/>
          <p:cNvSpPr txBox="1"/>
          <p:nvPr/>
        </p:nvSpPr>
        <p:spPr>
          <a:xfrm>
            <a:off x="8513064" y="2167128"/>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4</a:t>
            </a:r>
            <a:endParaRPr lang="en-US" sz="700" dirty="0"/>
          </a:p>
        </p:txBody>
      </p:sp>
      <p:sp>
        <p:nvSpPr>
          <p:cNvPr id="44" name="Text 41"/>
          <p:cNvSpPr txBox="1"/>
          <p:nvPr/>
        </p:nvSpPr>
        <p:spPr>
          <a:xfrm>
            <a:off x="8796528" y="2148840"/>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bandit: no medium or high findings</a:t>
            </a:r>
            <a:endParaRPr lang="en-US" sz="780" dirty="0"/>
          </a:p>
        </p:txBody>
      </p:sp>
      <p:sp>
        <p:nvSpPr>
          <p:cNvPr id="45" name="Shape 42"/>
          <p:cNvSpPr/>
          <p:nvPr/>
        </p:nvSpPr>
        <p:spPr>
          <a:xfrm>
            <a:off x="11109960" y="2176272"/>
            <a:ext cx="685800" cy="182880"/>
          </a:xfrm>
          <a:prstGeom prst="roundRect">
            <a:avLst>
              <a:gd name="adj" fmla="val 40000"/>
            </a:avLst>
          </a:prstGeom>
          <a:solidFill>
            <a:srgbClr val="FEF3F2"/>
          </a:solidFill>
          <a:ln w="9525">
            <a:solidFill>
              <a:srgbClr val="FEF3F2"/>
            </a:solidFill>
            <a:prstDash val="solid"/>
          </a:ln>
        </p:spPr>
      </p:sp>
      <p:sp>
        <p:nvSpPr>
          <p:cNvPr id="46" name="Text 43"/>
          <p:cNvSpPr txBox="1"/>
          <p:nvPr/>
        </p:nvSpPr>
        <p:spPr>
          <a:xfrm>
            <a:off x="11109960" y="2176272"/>
            <a:ext cx="685800" cy="182880"/>
          </a:xfrm>
          <a:prstGeom prst="rect">
            <a:avLst/>
          </a:prstGeom>
          <a:noFill/>
          <a:ln/>
        </p:spPr>
        <p:txBody>
          <a:bodyPr wrap="square" lIns="0" tIns="0" rIns="0" bIns="0" rtlCol="0" anchor="ctr"/>
          <a:lstStyle/>
          <a:p>
            <a:pPr algn="ctr" indent="0" marL="0">
              <a:buNone/>
            </a:pPr>
            <a:r>
              <a:rPr lang="en-US" sz="650" b="1" dirty="0">
                <a:solidFill>
                  <a:srgbClr val="B42318"/>
                </a:solidFill>
                <a:latin typeface="Inter" pitchFamily="34" charset="0"/>
                <a:ea typeface="Inter" pitchFamily="34" charset="-122"/>
                <a:cs typeface="Inter" pitchFamily="34" charset="-120"/>
              </a:rPr>
              <a:t>security</a:t>
            </a:r>
            <a:endParaRPr lang="en-US" sz="650" dirty="0"/>
          </a:p>
        </p:txBody>
      </p:sp>
      <p:sp>
        <p:nvSpPr>
          <p:cNvPr id="47" name="Shape 44"/>
          <p:cNvSpPr/>
          <p:nvPr/>
        </p:nvSpPr>
        <p:spPr>
          <a:xfrm>
            <a:off x="8513064" y="2468880"/>
            <a:ext cx="201168" cy="201168"/>
          </a:xfrm>
          <a:prstGeom prst="ellipse">
            <a:avLst/>
          </a:prstGeom>
          <a:solidFill>
            <a:srgbClr val="F97A0F"/>
          </a:solidFill>
          <a:ln w="12700">
            <a:solidFill>
              <a:srgbClr val="FFFFFF"/>
            </a:solidFill>
            <a:prstDash val="solid"/>
          </a:ln>
        </p:spPr>
      </p:sp>
      <p:sp>
        <p:nvSpPr>
          <p:cNvPr id="48" name="Text 45"/>
          <p:cNvSpPr txBox="1"/>
          <p:nvPr/>
        </p:nvSpPr>
        <p:spPr>
          <a:xfrm>
            <a:off x="8513064" y="2468880"/>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5</a:t>
            </a:r>
            <a:endParaRPr lang="en-US" sz="700" dirty="0"/>
          </a:p>
        </p:txBody>
      </p:sp>
      <p:sp>
        <p:nvSpPr>
          <p:cNvPr id="49" name="Text 46"/>
          <p:cNvSpPr txBox="1"/>
          <p:nvPr/>
        </p:nvSpPr>
        <p:spPr>
          <a:xfrm>
            <a:off x="8796528" y="2450592"/>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pip-audit + npm audit (production)</a:t>
            </a:r>
            <a:endParaRPr lang="en-US" sz="780" dirty="0"/>
          </a:p>
        </p:txBody>
      </p:sp>
      <p:sp>
        <p:nvSpPr>
          <p:cNvPr id="50" name="Shape 47"/>
          <p:cNvSpPr/>
          <p:nvPr/>
        </p:nvSpPr>
        <p:spPr>
          <a:xfrm>
            <a:off x="11109960" y="2478024"/>
            <a:ext cx="685800" cy="182880"/>
          </a:xfrm>
          <a:prstGeom prst="roundRect">
            <a:avLst>
              <a:gd name="adj" fmla="val 40000"/>
            </a:avLst>
          </a:prstGeom>
          <a:solidFill>
            <a:srgbClr val="FEF3F2"/>
          </a:solidFill>
          <a:ln w="9525">
            <a:solidFill>
              <a:srgbClr val="FEF3F2"/>
            </a:solidFill>
            <a:prstDash val="solid"/>
          </a:ln>
        </p:spPr>
      </p:sp>
      <p:sp>
        <p:nvSpPr>
          <p:cNvPr id="51" name="Text 48"/>
          <p:cNvSpPr txBox="1"/>
          <p:nvPr/>
        </p:nvSpPr>
        <p:spPr>
          <a:xfrm>
            <a:off x="11109960" y="2478024"/>
            <a:ext cx="685800" cy="182880"/>
          </a:xfrm>
          <a:prstGeom prst="rect">
            <a:avLst/>
          </a:prstGeom>
          <a:noFill/>
          <a:ln/>
        </p:spPr>
        <p:txBody>
          <a:bodyPr wrap="square" lIns="0" tIns="0" rIns="0" bIns="0" rtlCol="0" anchor="ctr"/>
          <a:lstStyle/>
          <a:p>
            <a:pPr algn="ctr" indent="0" marL="0">
              <a:buNone/>
            </a:pPr>
            <a:r>
              <a:rPr lang="en-US" sz="650" b="1" dirty="0">
                <a:solidFill>
                  <a:srgbClr val="B42318"/>
                </a:solidFill>
                <a:latin typeface="Inter" pitchFamily="34" charset="0"/>
                <a:ea typeface="Inter" pitchFamily="34" charset="-122"/>
                <a:cs typeface="Inter" pitchFamily="34" charset="-120"/>
              </a:rPr>
              <a:t>security</a:t>
            </a:r>
            <a:endParaRPr lang="en-US" sz="650" dirty="0"/>
          </a:p>
        </p:txBody>
      </p:sp>
      <p:sp>
        <p:nvSpPr>
          <p:cNvPr id="52" name="Shape 49"/>
          <p:cNvSpPr/>
          <p:nvPr/>
        </p:nvSpPr>
        <p:spPr>
          <a:xfrm>
            <a:off x="8513064" y="2770632"/>
            <a:ext cx="201168" cy="201168"/>
          </a:xfrm>
          <a:prstGeom prst="ellipse">
            <a:avLst/>
          </a:prstGeom>
          <a:solidFill>
            <a:srgbClr val="F97A0F"/>
          </a:solidFill>
          <a:ln w="12700">
            <a:solidFill>
              <a:srgbClr val="FFFFFF"/>
            </a:solidFill>
            <a:prstDash val="solid"/>
          </a:ln>
        </p:spPr>
      </p:sp>
      <p:sp>
        <p:nvSpPr>
          <p:cNvPr id="53" name="Text 50"/>
          <p:cNvSpPr txBox="1"/>
          <p:nvPr/>
        </p:nvSpPr>
        <p:spPr>
          <a:xfrm>
            <a:off x="8513064" y="2770632"/>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6</a:t>
            </a:r>
            <a:endParaRPr lang="en-US" sz="700" dirty="0"/>
          </a:p>
        </p:txBody>
      </p:sp>
      <p:sp>
        <p:nvSpPr>
          <p:cNvPr id="54" name="Text 51"/>
          <p:cNvSpPr txBox="1"/>
          <p:nvPr/>
        </p:nvSpPr>
        <p:spPr>
          <a:xfrm>
            <a:off x="8796528" y="2752344"/>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TypeScript typecheck</a:t>
            </a:r>
            <a:endParaRPr lang="en-US" sz="780" dirty="0"/>
          </a:p>
        </p:txBody>
      </p:sp>
      <p:sp>
        <p:nvSpPr>
          <p:cNvPr id="55" name="Shape 52"/>
          <p:cNvSpPr/>
          <p:nvPr/>
        </p:nvSpPr>
        <p:spPr>
          <a:xfrm>
            <a:off x="11109960" y="2779776"/>
            <a:ext cx="685800" cy="182880"/>
          </a:xfrm>
          <a:prstGeom prst="roundRect">
            <a:avLst>
              <a:gd name="adj" fmla="val 40000"/>
            </a:avLst>
          </a:prstGeom>
          <a:solidFill>
            <a:srgbClr val="ECFDF3"/>
          </a:solidFill>
          <a:ln w="9525">
            <a:solidFill>
              <a:srgbClr val="ECFDF3"/>
            </a:solidFill>
            <a:prstDash val="solid"/>
          </a:ln>
        </p:spPr>
      </p:sp>
      <p:sp>
        <p:nvSpPr>
          <p:cNvPr id="56" name="Text 53"/>
          <p:cNvSpPr txBox="1"/>
          <p:nvPr/>
        </p:nvSpPr>
        <p:spPr>
          <a:xfrm>
            <a:off x="11109960" y="2779776"/>
            <a:ext cx="685800" cy="182880"/>
          </a:xfrm>
          <a:prstGeom prst="rect">
            <a:avLst/>
          </a:prstGeom>
          <a:noFill/>
          <a:ln/>
        </p:spPr>
        <p:txBody>
          <a:bodyPr wrap="square" lIns="0" tIns="0" rIns="0" bIns="0" rtlCol="0" anchor="ctr"/>
          <a:lstStyle/>
          <a:p>
            <a:pPr algn="ctr" indent="0" marL="0">
              <a:buNone/>
            </a:pPr>
            <a:r>
              <a:rPr lang="en-US" sz="650" b="1" dirty="0">
                <a:solidFill>
                  <a:srgbClr val="067647"/>
                </a:solidFill>
                <a:latin typeface="Inter" pitchFamily="34" charset="0"/>
                <a:ea typeface="Inter" pitchFamily="34" charset="-122"/>
                <a:cs typeface="Inter" pitchFamily="34" charset="-120"/>
              </a:rPr>
              <a:t>frontend</a:t>
            </a:r>
            <a:endParaRPr lang="en-US" sz="650" dirty="0"/>
          </a:p>
        </p:txBody>
      </p:sp>
      <p:sp>
        <p:nvSpPr>
          <p:cNvPr id="57" name="Shape 54"/>
          <p:cNvSpPr/>
          <p:nvPr/>
        </p:nvSpPr>
        <p:spPr>
          <a:xfrm>
            <a:off x="8513064" y="3072384"/>
            <a:ext cx="201168" cy="201168"/>
          </a:xfrm>
          <a:prstGeom prst="ellipse">
            <a:avLst/>
          </a:prstGeom>
          <a:solidFill>
            <a:srgbClr val="F97A0F"/>
          </a:solidFill>
          <a:ln w="12700">
            <a:solidFill>
              <a:srgbClr val="FFFFFF"/>
            </a:solidFill>
            <a:prstDash val="solid"/>
          </a:ln>
        </p:spPr>
      </p:sp>
      <p:sp>
        <p:nvSpPr>
          <p:cNvPr id="58" name="Text 55"/>
          <p:cNvSpPr txBox="1"/>
          <p:nvPr/>
        </p:nvSpPr>
        <p:spPr>
          <a:xfrm>
            <a:off x="8513064" y="3072384"/>
            <a:ext cx="20116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Inter" pitchFamily="34" charset="0"/>
                <a:ea typeface="Inter" pitchFamily="34" charset="-122"/>
                <a:cs typeface="Inter" pitchFamily="34" charset="-120"/>
              </a:rPr>
              <a:t>7</a:t>
            </a:r>
            <a:endParaRPr lang="en-US" sz="700" dirty="0"/>
          </a:p>
        </p:txBody>
      </p:sp>
      <p:sp>
        <p:nvSpPr>
          <p:cNvPr id="59" name="Text 56"/>
          <p:cNvSpPr txBox="1"/>
          <p:nvPr/>
        </p:nvSpPr>
        <p:spPr>
          <a:xfrm>
            <a:off x="8796528" y="3054096"/>
            <a:ext cx="2286000" cy="237744"/>
          </a:xfrm>
          <a:prstGeom prst="rect">
            <a:avLst/>
          </a:prstGeom>
          <a:noFill/>
          <a:ln/>
        </p:spPr>
        <p:txBody>
          <a:bodyPr wrap="square" lIns="0" tIns="0" rIns="0" bIns="0" rtlCol="0" anchor="ctr"/>
          <a:lstStyle/>
          <a:p>
            <a:pPr indent="0" marL="0">
              <a:buNone/>
            </a:pPr>
            <a:r>
              <a:rPr lang="en-US" sz="780" dirty="0">
                <a:solidFill>
                  <a:srgbClr val="101828"/>
                </a:solidFill>
                <a:latin typeface="Inter" pitchFamily="34" charset="0"/>
                <a:ea typeface="Inter" pitchFamily="34" charset="-122"/>
                <a:cs typeface="Inter" pitchFamily="34" charset="-120"/>
              </a:rPr>
              <a:t>Next.js production build</a:t>
            </a:r>
            <a:endParaRPr lang="en-US" sz="780" dirty="0"/>
          </a:p>
        </p:txBody>
      </p:sp>
      <p:sp>
        <p:nvSpPr>
          <p:cNvPr id="60" name="Shape 57"/>
          <p:cNvSpPr/>
          <p:nvPr/>
        </p:nvSpPr>
        <p:spPr>
          <a:xfrm>
            <a:off x="11109960" y="3081528"/>
            <a:ext cx="685800" cy="182880"/>
          </a:xfrm>
          <a:prstGeom prst="roundRect">
            <a:avLst>
              <a:gd name="adj" fmla="val 40000"/>
            </a:avLst>
          </a:prstGeom>
          <a:solidFill>
            <a:srgbClr val="ECFDF3"/>
          </a:solidFill>
          <a:ln w="9525">
            <a:solidFill>
              <a:srgbClr val="ECFDF3"/>
            </a:solidFill>
            <a:prstDash val="solid"/>
          </a:ln>
        </p:spPr>
      </p:sp>
      <p:sp>
        <p:nvSpPr>
          <p:cNvPr id="61" name="Text 58"/>
          <p:cNvSpPr txBox="1"/>
          <p:nvPr/>
        </p:nvSpPr>
        <p:spPr>
          <a:xfrm>
            <a:off x="11109960" y="3081528"/>
            <a:ext cx="685800" cy="182880"/>
          </a:xfrm>
          <a:prstGeom prst="rect">
            <a:avLst/>
          </a:prstGeom>
          <a:noFill/>
          <a:ln/>
        </p:spPr>
        <p:txBody>
          <a:bodyPr wrap="square" lIns="0" tIns="0" rIns="0" bIns="0" rtlCol="0" anchor="ctr"/>
          <a:lstStyle/>
          <a:p>
            <a:pPr algn="ctr" indent="0" marL="0">
              <a:buNone/>
            </a:pPr>
            <a:r>
              <a:rPr lang="en-US" sz="650" b="1" dirty="0">
                <a:solidFill>
                  <a:srgbClr val="067647"/>
                </a:solidFill>
                <a:latin typeface="Inter" pitchFamily="34" charset="0"/>
                <a:ea typeface="Inter" pitchFamily="34" charset="-122"/>
                <a:cs typeface="Inter" pitchFamily="34" charset="-120"/>
              </a:rPr>
              <a:t>frontend</a:t>
            </a:r>
            <a:endParaRPr lang="en-US" sz="650" dirty="0"/>
          </a:p>
        </p:txBody>
      </p:sp>
      <p:sp>
        <p:nvSpPr>
          <p:cNvPr id="62" name="Text 59"/>
          <p:cNvSpPr txBox="1"/>
          <p:nvPr/>
        </p:nvSpPr>
        <p:spPr>
          <a:xfrm>
            <a:off x="8796528" y="3355848"/>
            <a:ext cx="2926080" cy="182880"/>
          </a:xfrm>
          <a:prstGeom prst="rect">
            <a:avLst/>
          </a:prstGeom>
          <a:noFill/>
          <a:ln/>
        </p:spPr>
        <p:txBody>
          <a:bodyPr wrap="square" lIns="0" tIns="0" rIns="0" bIns="0" rtlCol="0" anchor="t"/>
          <a:lstStyle/>
          <a:p>
            <a:pPr indent="0" marL="0">
              <a:buNone/>
            </a:pPr>
            <a:r>
              <a:rPr lang="en-US" sz="750" b="1" dirty="0">
                <a:solidFill>
                  <a:srgbClr val="067647"/>
                </a:solidFill>
                <a:latin typeface="Inter" pitchFamily="34" charset="0"/>
                <a:ea typeface="Inter" pitchFamily="34" charset="-122"/>
                <a:cs typeface="Inter" pitchFamily="34" charset="-120"/>
              </a:rPr>
              <a:t>Runs on every push and pull request</a:t>
            </a:r>
            <a:endParaRPr lang="en-US" sz="750" dirty="0"/>
          </a:p>
        </p:txBody>
      </p:sp>
      <p:sp>
        <p:nvSpPr>
          <p:cNvPr id="63" name="Text 60"/>
          <p:cNvSpPr txBox="1"/>
          <p:nvPr/>
        </p:nvSpPr>
        <p:spPr>
          <a:xfrm>
            <a:off x="320040" y="3767328"/>
            <a:ext cx="5806440" cy="256032"/>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Risks we planned for, and the fix in the code</a:t>
            </a:r>
            <a:endParaRPr lang="en-US" sz="1100" dirty="0"/>
          </a:p>
        </p:txBody>
      </p:sp>
      <p:sp>
        <p:nvSpPr>
          <p:cNvPr id="64" name="Shape 61"/>
          <p:cNvSpPr/>
          <p:nvPr/>
        </p:nvSpPr>
        <p:spPr>
          <a:xfrm>
            <a:off x="320040" y="4069080"/>
            <a:ext cx="2862072" cy="493776"/>
          </a:xfrm>
          <a:prstGeom prst="roundRect">
            <a:avLst>
              <a:gd name="adj" fmla="val 11111"/>
            </a:avLst>
          </a:prstGeom>
          <a:solidFill>
            <a:srgbClr val="F6F7F9"/>
          </a:solidFill>
          <a:ln w="9525">
            <a:solidFill>
              <a:srgbClr val="E4E7EC"/>
            </a:solidFill>
            <a:prstDash val="solid"/>
          </a:ln>
        </p:spPr>
      </p:sp>
      <p:sp>
        <p:nvSpPr>
          <p:cNvPr id="65" name="Text 62"/>
          <p:cNvSpPr txBox="1"/>
          <p:nvPr/>
        </p:nvSpPr>
        <p:spPr>
          <a:xfrm>
            <a:off x="429768" y="409651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Noisy phone audio</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VAD, Whisper hallucination filter; voice track abstains below 8 dB SNR</a:t>
            </a:r>
            <a:endParaRPr lang="en-US" sz="950" dirty="0"/>
          </a:p>
        </p:txBody>
      </p:sp>
      <p:sp>
        <p:nvSpPr>
          <p:cNvPr id="66" name="Shape 63"/>
          <p:cNvSpPr/>
          <p:nvPr/>
        </p:nvSpPr>
        <p:spPr>
          <a:xfrm>
            <a:off x="3246120" y="4069080"/>
            <a:ext cx="2862072" cy="493776"/>
          </a:xfrm>
          <a:prstGeom prst="roundRect">
            <a:avLst>
              <a:gd name="adj" fmla="val 11111"/>
            </a:avLst>
          </a:prstGeom>
          <a:solidFill>
            <a:srgbClr val="FFFFFF"/>
          </a:solidFill>
          <a:ln w="9525">
            <a:solidFill>
              <a:srgbClr val="E4E7EC"/>
            </a:solidFill>
            <a:prstDash val="solid"/>
          </a:ln>
        </p:spPr>
      </p:sp>
      <p:sp>
        <p:nvSpPr>
          <p:cNvPr id="67" name="Text 64"/>
          <p:cNvSpPr txBox="1"/>
          <p:nvPr/>
        </p:nvSpPr>
        <p:spPr>
          <a:xfrm>
            <a:off x="3355848" y="409651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Hindi–English mixing</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Hindi-mode ASR, transliteration, spoken-number normaliser</a:t>
            </a:r>
            <a:endParaRPr lang="en-US" sz="950" dirty="0"/>
          </a:p>
        </p:txBody>
      </p:sp>
      <p:sp>
        <p:nvSpPr>
          <p:cNvPr id="68" name="Shape 65"/>
          <p:cNvSpPr/>
          <p:nvPr/>
        </p:nvSpPr>
        <p:spPr>
          <a:xfrm>
            <a:off x="320040" y="4617720"/>
            <a:ext cx="2862072" cy="493776"/>
          </a:xfrm>
          <a:prstGeom prst="roundRect">
            <a:avLst>
              <a:gd name="adj" fmla="val 11111"/>
            </a:avLst>
          </a:prstGeom>
          <a:solidFill>
            <a:srgbClr val="FFFFFF"/>
          </a:solidFill>
          <a:ln w="9525">
            <a:solidFill>
              <a:srgbClr val="E4E7EC"/>
            </a:solidFill>
            <a:prstDash val="solid"/>
          </a:ln>
        </p:spPr>
      </p:sp>
      <p:sp>
        <p:nvSpPr>
          <p:cNvPr id="69" name="Text 66"/>
          <p:cNvSpPr txBox="1"/>
          <p:nvPr/>
        </p:nvSpPr>
        <p:spPr>
          <a:xfrm>
            <a:off x="429768" y="464515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Emotion model untested on a language</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Voice scoring only for validated en / hi; word cues still shown</a:t>
            </a:r>
            <a:endParaRPr lang="en-US" sz="950" dirty="0"/>
          </a:p>
        </p:txBody>
      </p:sp>
      <p:sp>
        <p:nvSpPr>
          <p:cNvPr id="70" name="Shape 67"/>
          <p:cNvSpPr/>
          <p:nvPr/>
        </p:nvSpPr>
        <p:spPr>
          <a:xfrm>
            <a:off x="3246120" y="4617720"/>
            <a:ext cx="2862072" cy="493776"/>
          </a:xfrm>
          <a:prstGeom prst="roundRect">
            <a:avLst>
              <a:gd name="adj" fmla="val 11111"/>
            </a:avLst>
          </a:prstGeom>
          <a:solidFill>
            <a:srgbClr val="F6F7F9"/>
          </a:solidFill>
          <a:ln w="9525">
            <a:solidFill>
              <a:srgbClr val="E4E7EC"/>
            </a:solidFill>
            <a:prstDash val="solid"/>
          </a:ln>
        </p:spPr>
      </p:sp>
      <p:sp>
        <p:nvSpPr>
          <p:cNvPr id="71" name="Text 68"/>
          <p:cNvSpPr txBox="1"/>
          <p:nvPr/>
        </p:nvSpPr>
        <p:spPr>
          <a:xfrm>
            <a:off x="3355848" y="464515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Misuse against suspects</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No emotion or stress score for suspects; voice match is a lead only</a:t>
            </a:r>
            <a:endParaRPr lang="en-US" sz="950" dirty="0"/>
          </a:p>
        </p:txBody>
      </p:sp>
      <p:sp>
        <p:nvSpPr>
          <p:cNvPr id="72" name="Shape 69"/>
          <p:cNvSpPr/>
          <p:nvPr/>
        </p:nvSpPr>
        <p:spPr>
          <a:xfrm>
            <a:off x="320040" y="5166360"/>
            <a:ext cx="2862072" cy="493776"/>
          </a:xfrm>
          <a:prstGeom prst="roundRect">
            <a:avLst>
              <a:gd name="adj" fmla="val 11111"/>
            </a:avLst>
          </a:prstGeom>
          <a:solidFill>
            <a:srgbClr val="F6F7F9"/>
          </a:solidFill>
          <a:ln w="9525">
            <a:solidFill>
              <a:srgbClr val="E4E7EC"/>
            </a:solidFill>
            <a:prstDash val="solid"/>
          </a:ln>
        </p:spPr>
      </p:sp>
      <p:sp>
        <p:nvSpPr>
          <p:cNvPr id="73" name="Text 70"/>
          <p:cNvSpPr txBox="1"/>
          <p:nvPr/>
        </p:nvSpPr>
        <p:spPr>
          <a:xfrm>
            <a:off x="429768" y="519379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Leak of victim data</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AES-256-GCM per field, master key outside the data folder, blind index</a:t>
            </a:r>
            <a:endParaRPr lang="en-US" sz="950" dirty="0"/>
          </a:p>
        </p:txBody>
      </p:sp>
      <p:sp>
        <p:nvSpPr>
          <p:cNvPr id="74" name="Shape 71"/>
          <p:cNvSpPr/>
          <p:nvPr/>
        </p:nvSpPr>
        <p:spPr>
          <a:xfrm>
            <a:off x="3246120" y="5166360"/>
            <a:ext cx="2862072" cy="493776"/>
          </a:xfrm>
          <a:prstGeom prst="roundRect">
            <a:avLst>
              <a:gd name="adj" fmla="val 11111"/>
            </a:avLst>
          </a:prstGeom>
          <a:solidFill>
            <a:srgbClr val="FFFFFF"/>
          </a:solidFill>
          <a:ln w="9525">
            <a:solidFill>
              <a:srgbClr val="E4E7EC"/>
            </a:solidFill>
            <a:prstDash val="solid"/>
          </a:ln>
        </p:spPr>
      </p:sp>
      <p:sp>
        <p:nvSpPr>
          <p:cNvPr id="75" name="Text 72"/>
          <p:cNvSpPr txBox="1"/>
          <p:nvPr/>
        </p:nvSpPr>
        <p:spPr>
          <a:xfrm>
            <a:off x="3355848" y="519379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Evidence edited later</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SHA-256 per recording, encrypted evidence, HMAC-signed audit chain</a:t>
            </a:r>
            <a:endParaRPr lang="en-US" sz="950" dirty="0"/>
          </a:p>
        </p:txBody>
      </p:sp>
      <p:sp>
        <p:nvSpPr>
          <p:cNvPr id="76" name="Shape 73"/>
          <p:cNvSpPr/>
          <p:nvPr/>
        </p:nvSpPr>
        <p:spPr>
          <a:xfrm>
            <a:off x="320040" y="5715000"/>
            <a:ext cx="2862072" cy="493776"/>
          </a:xfrm>
          <a:prstGeom prst="roundRect">
            <a:avLst>
              <a:gd name="adj" fmla="val 11111"/>
            </a:avLst>
          </a:prstGeom>
          <a:solidFill>
            <a:srgbClr val="FFFFFF"/>
          </a:solidFill>
          <a:ln w="9525">
            <a:solidFill>
              <a:srgbClr val="E4E7EC"/>
            </a:solidFill>
            <a:prstDash val="solid"/>
          </a:ln>
        </p:spPr>
      </p:sp>
      <p:sp>
        <p:nvSpPr>
          <p:cNvPr id="77" name="Text 74"/>
          <p:cNvSpPr txBox="1"/>
          <p:nvPr/>
        </p:nvSpPr>
        <p:spPr>
          <a:xfrm>
            <a:off x="429768" y="574243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Insider snooping</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Named logins, scrypt, lockout after 5 tries, need-to-know roles</a:t>
            </a:r>
            <a:endParaRPr lang="en-US" sz="950" dirty="0"/>
          </a:p>
        </p:txBody>
      </p:sp>
      <p:sp>
        <p:nvSpPr>
          <p:cNvPr id="78" name="Shape 75"/>
          <p:cNvSpPr/>
          <p:nvPr/>
        </p:nvSpPr>
        <p:spPr>
          <a:xfrm>
            <a:off x="3246120" y="5715000"/>
            <a:ext cx="2862072" cy="493776"/>
          </a:xfrm>
          <a:prstGeom prst="roundRect">
            <a:avLst>
              <a:gd name="adj" fmla="val 11111"/>
            </a:avLst>
          </a:prstGeom>
          <a:solidFill>
            <a:srgbClr val="F6F7F9"/>
          </a:solidFill>
          <a:ln w="9525">
            <a:solidFill>
              <a:srgbClr val="E4E7EC"/>
            </a:solidFill>
            <a:prstDash val="solid"/>
          </a:ln>
        </p:spPr>
      </p:sp>
      <p:sp>
        <p:nvSpPr>
          <p:cNvPr id="79" name="Text 76"/>
          <p:cNvSpPr txBox="1"/>
          <p:nvPr/>
        </p:nvSpPr>
        <p:spPr>
          <a:xfrm>
            <a:off x="3355848" y="5742432"/>
            <a:ext cx="2697480" cy="457200"/>
          </a:xfrm>
          <a:prstGeom prst="rect">
            <a:avLst/>
          </a:prstGeom>
          <a:noFill/>
          <a:ln/>
        </p:spPr>
        <p:txBody>
          <a:bodyPr wrap="square" lIns="0" tIns="0" rIns="0" bIns="0" rtlCol="0" anchor="ctr"/>
          <a:lstStyle/>
          <a:p>
            <a:pPr indent="0" marL="0">
              <a:buNone/>
            </a:pPr>
            <a:r>
              <a:rPr lang="en-US" sz="830" b="1" dirty="0">
                <a:solidFill>
                  <a:srgbClr val="B42318"/>
                </a:solidFill>
                <a:latin typeface="Inter" pitchFamily="34" charset="0"/>
                <a:ea typeface="Inter" pitchFamily="34" charset="-122"/>
                <a:cs typeface="Inter" pitchFamily="34" charset="-120"/>
              </a:rPr>
              <a:t>No public victim-call data</a:t>
            </a:r>
            <a:endParaRPr lang="en-US" sz="950" dirty="0"/>
          </a:p>
          <a:p>
            <a:pPr indent="0" marL="0">
              <a:buNone/>
            </a:pPr>
            <a:r>
              <a:rPr lang="en-US" sz="740" dirty="0">
                <a:solidFill>
                  <a:srgbClr val="475467"/>
                </a:solidFill>
                <a:latin typeface="Inter" pitchFamily="34" charset="0"/>
                <a:ea typeface="Inter" pitchFamily="34" charset="-122"/>
                <a:cs typeface="Inter" pitchFamily="34" charset="-120"/>
              </a:rPr>
              <a:t>Labelled training calls built from Chakshu and NCRB data, kept apart</a:t>
            </a:r>
            <a:endParaRPr lang="en-US" sz="950" dirty="0"/>
          </a:p>
        </p:txBody>
      </p:sp>
      <p:sp>
        <p:nvSpPr>
          <p:cNvPr id="80" name="Shape 77"/>
          <p:cNvSpPr/>
          <p:nvPr/>
        </p:nvSpPr>
        <p:spPr>
          <a:xfrm>
            <a:off x="6309360" y="3794760"/>
            <a:ext cx="1051560" cy="201168"/>
          </a:xfrm>
          <a:prstGeom prst="roundRect">
            <a:avLst>
              <a:gd name="adj" fmla="val 36364"/>
            </a:avLst>
          </a:prstGeom>
          <a:solidFill>
            <a:srgbClr val="101828"/>
          </a:solidFill>
          <a:ln w="9525">
            <a:solidFill>
              <a:srgbClr val="101828"/>
            </a:solidFill>
            <a:prstDash val="solid"/>
          </a:ln>
        </p:spPr>
      </p:sp>
      <p:sp>
        <p:nvSpPr>
          <p:cNvPr id="81" name="Text 78"/>
          <p:cNvSpPr txBox="1"/>
          <p:nvPr/>
        </p:nvSpPr>
        <p:spPr>
          <a:xfrm>
            <a:off x="6309360" y="3794760"/>
            <a:ext cx="105156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Inter" pitchFamily="34" charset="0"/>
                <a:ea typeface="Inter" pitchFamily="34" charset="-122"/>
                <a:cs typeface="Inter" pitchFamily="34" charset="-120"/>
              </a:rPr>
              <a:t>VIABILITY</a:t>
            </a:r>
            <a:endParaRPr lang="en-US" sz="750" dirty="0"/>
          </a:p>
        </p:txBody>
      </p:sp>
      <p:sp>
        <p:nvSpPr>
          <p:cNvPr id="82" name="Text 79"/>
          <p:cNvSpPr txBox="1"/>
          <p:nvPr/>
        </p:nvSpPr>
        <p:spPr>
          <a:xfrm>
            <a:off x="7452360" y="3767328"/>
            <a:ext cx="4434840" cy="256032"/>
          </a:xfrm>
          <a:prstGeom prst="rect">
            <a:avLst/>
          </a:prstGeom>
          <a:noFill/>
          <a:ln/>
        </p:spPr>
        <p:txBody>
          <a:bodyPr wrap="square" lIns="0" tIns="0" rIns="0" bIns="0" rtlCol="0" anchor="ctr"/>
          <a:lstStyle/>
          <a:p>
            <a:pPr indent="0" marL="0">
              <a:buNone/>
            </a:pPr>
            <a:r>
              <a:rPr lang="en-US" sz="1100" b="1" dirty="0">
                <a:solidFill>
                  <a:srgbClr val="101828"/>
                </a:solidFill>
                <a:latin typeface="Inter" pitchFamily="34" charset="0"/>
                <a:ea typeface="Inter" pitchFamily="34" charset="-122"/>
                <a:cs typeface="Inter" pitchFamily="34" charset="-120"/>
              </a:rPr>
              <a:t>From one laptop to the 1930 desk</a:t>
            </a:r>
            <a:endParaRPr lang="en-US" sz="1100" dirty="0"/>
          </a:p>
        </p:txBody>
      </p:sp>
      <p:sp>
        <p:nvSpPr>
          <p:cNvPr id="83" name="Shape 80"/>
          <p:cNvSpPr/>
          <p:nvPr/>
        </p:nvSpPr>
        <p:spPr>
          <a:xfrm>
            <a:off x="6309360" y="4069080"/>
            <a:ext cx="1737360" cy="987552"/>
          </a:xfrm>
          <a:prstGeom prst="roundRect">
            <a:avLst>
              <a:gd name="adj" fmla="val 5556"/>
            </a:avLst>
          </a:prstGeom>
          <a:solidFill>
            <a:srgbClr val="F6F7F9"/>
          </a:solidFill>
          <a:ln w="9525">
            <a:solidFill>
              <a:srgbClr val="F6F7F9"/>
            </a:solidFill>
            <a:prstDash val="solid"/>
          </a:ln>
        </p:spPr>
      </p:sp>
      <p:sp>
        <p:nvSpPr>
          <p:cNvPr id="84" name="Text 81"/>
          <p:cNvSpPr txBox="1"/>
          <p:nvPr/>
        </p:nvSpPr>
        <p:spPr>
          <a:xfrm>
            <a:off x="6400800" y="4142232"/>
            <a:ext cx="1600200" cy="292608"/>
          </a:xfrm>
          <a:prstGeom prst="rect">
            <a:avLst/>
          </a:prstGeom>
          <a:noFill/>
          <a:ln/>
        </p:spPr>
        <p:txBody>
          <a:bodyPr wrap="square" lIns="0" tIns="0" rIns="0" bIns="0" rtlCol="0" anchor="ctr"/>
          <a:lstStyle/>
          <a:p>
            <a:pPr indent="0" marL="0">
              <a:buNone/>
            </a:pPr>
            <a:r>
              <a:rPr lang="en-US" sz="860" b="1" dirty="0">
                <a:solidFill>
                  <a:srgbClr val="101828"/>
                </a:solidFill>
                <a:latin typeface="Inter" pitchFamily="34" charset="0"/>
                <a:ea typeface="Inter" pitchFamily="34" charset="-122"/>
                <a:cs typeface="Inter" pitchFamily="34" charset="-120"/>
              </a:rPr>
              <a:t>Cyber-cell laptop</a:t>
            </a:r>
            <a:endParaRPr lang="en-US" sz="860" dirty="0"/>
          </a:p>
        </p:txBody>
      </p:sp>
      <p:sp>
        <p:nvSpPr>
          <p:cNvPr id="85" name="Shape 82"/>
          <p:cNvSpPr/>
          <p:nvPr/>
        </p:nvSpPr>
        <p:spPr>
          <a:xfrm>
            <a:off x="7452360" y="4828032"/>
            <a:ext cx="530352" cy="164592"/>
          </a:xfrm>
          <a:prstGeom prst="roundRect">
            <a:avLst>
              <a:gd name="adj" fmla="val 44444"/>
            </a:avLst>
          </a:prstGeom>
          <a:solidFill>
            <a:srgbClr val="ECFDF3"/>
          </a:solidFill>
          <a:ln w="9525">
            <a:solidFill>
              <a:srgbClr val="ECFDF3"/>
            </a:solidFill>
            <a:prstDash val="solid"/>
          </a:ln>
        </p:spPr>
      </p:sp>
      <p:sp>
        <p:nvSpPr>
          <p:cNvPr id="86" name="Text 83"/>
          <p:cNvSpPr txBox="1"/>
          <p:nvPr/>
        </p:nvSpPr>
        <p:spPr>
          <a:xfrm>
            <a:off x="7452360" y="4828032"/>
            <a:ext cx="530352" cy="164592"/>
          </a:xfrm>
          <a:prstGeom prst="rect">
            <a:avLst/>
          </a:prstGeom>
          <a:noFill/>
          <a:ln/>
        </p:spPr>
        <p:txBody>
          <a:bodyPr wrap="square" lIns="0" tIns="0" rIns="0" bIns="0" rtlCol="0" anchor="ctr"/>
          <a:lstStyle/>
          <a:p>
            <a:pPr algn="ctr" indent="0" marL="0">
              <a:buNone/>
            </a:pPr>
            <a:r>
              <a:rPr lang="en-US" sz="650" b="1" dirty="0">
                <a:solidFill>
                  <a:srgbClr val="067647"/>
                </a:solidFill>
                <a:latin typeface="Inter" pitchFamily="34" charset="0"/>
                <a:ea typeface="Inter" pitchFamily="34" charset="-122"/>
                <a:cs typeface="Inter" pitchFamily="34" charset="-120"/>
              </a:rPr>
              <a:t>Now</a:t>
            </a:r>
            <a:endParaRPr lang="en-US" sz="650" dirty="0"/>
          </a:p>
        </p:txBody>
      </p:sp>
      <p:sp>
        <p:nvSpPr>
          <p:cNvPr id="87" name="Text 84"/>
          <p:cNvSpPr txBox="1"/>
          <p:nvPr/>
        </p:nvSpPr>
        <p:spPr>
          <a:xfrm>
            <a:off x="6400800" y="4471416"/>
            <a:ext cx="1600200" cy="365760"/>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setup.bat, CPU, SQLite. Offline once models are downloaded.</a:t>
            </a:r>
            <a:endParaRPr lang="en-US" sz="740" dirty="0"/>
          </a:p>
        </p:txBody>
      </p:sp>
      <p:sp>
        <p:nvSpPr>
          <p:cNvPr id="88" name="Shape 85"/>
          <p:cNvSpPr/>
          <p:nvPr/>
        </p:nvSpPr>
        <p:spPr>
          <a:xfrm>
            <a:off x="8065008" y="4562856"/>
            <a:ext cx="128016" cy="914"/>
          </a:xfrm>
          <a:prstGeom prst="line">
            <a:avLst/>
          </a:prstGeom>
          <a:noFill/>
          <a:ln w="22225">
            <a:solidFill>
              <a:srgbClr val="F97A0F"/>
            </a:solidFill>
            <a:prstDash val="solid"/>
            <a:tailEnd type="triangle"/>
          </a:ln>
        </p:spPr>
      </p:sp>
      <p:sp>
        <p:nvSpPr>
          <p:cNvPr id="89" name="Shape 86"/>
          <p:cNvSpPr/>
          <p:nvPr/>
        </p:nvSpPr>
        <p:spPr>
          <a:xfrm>
            <a:off x="8211312" y="4069080"/>
            <a:ext cx="1737360" cy="987552"/>
          </a:xfrm>
          <a:prstGeom prst="roundRect">
            <a:avLst>
              <a:gd name="adj" fmla="val 5556"/>
            </a:avLst>
          </a:prstGeom>
          <a:solidFill>
            <a:srgbClr val="F6F7F9"/>
          </a:solidFill>
          <a:ln w="9525">
            <a:solidFill>
              <a:srgbClr val="F6F7F9"/>
            </a:solidFill>
            <a:prstDash val="solid"/>
          </a:ln>
        </p:spPr>
      </p:sp>
      <p:sp>
        <p:nvSpPr>
          <p:cNvPr id="90" name="Text 87"/>
          <p:cNvSpPr txBox="1"/>
          <p:nvPr/>
        </p:nvSpPr>
        <p:spPr>
          <a:xfrm>
            <a:off x="8302752" y="4142232"/>
            <a:ext cx="1600200" cy="292608"/>
          </a:xfrm>
          <a:prstGeom prst="rect">
            <a:avLst/>
          </a:prstGeom>
          <a:noFill/>
          <a:ln/>
        </p:spPr>
        <p:txBody>
          <a:bodyPr wrap="square" lIns="0" tIns="0" rIns="0" bIns="0" rtlCol="0" anchor="ctr"/>
          <a:lstStyle/>
          <a:p>
            <a:pPr indent="0" marL="0">
              <a:buNone/>
            </a:pPr>
            <a:r>
              <a:rPr lang="en-US" sz="860" b="1" dirty="0">
                <a:solidFill>
                  <a:srgbClr val="101828"/>
                </a:solidFill>
                <a:latin typeface="Inter" pitchFamily="34" charset="0"/>
                <a:ea typeface="Inter" pitchFamily="34" charset="-122"/>
                <a:cs typeface="Inter" pitchFamily="34" charset="-120"/>
              </a:rPr>
              <a:t>District server</a:t>
            </a:r>
            <a:endParaRPr lang="en-US" sz="860" dirty="0"/>
          </a:p>
        </p:txBody>
      </p:sp>
      <p:sp>
        <p:nvSpPr>
          <p:cNvPr id="91" name="Shape 88"/>
          <p:cNvSpPr/>
          <p:nvPr/>
        </p:nvSpPr>
        <p:spPr>
          <a:xfrm>
            <a:off x="9354312" y="4828032"/>
            <a:ext cx="530352" cy="164592"/>
          </a:xfrm>
          <a:prstGeom prst="roundRect">
            <a:avLst>
              <a:gd name="adj" fmla="val 44444"/>
            </a:avLst>
          </a:prstGeom>
          <a:solidFill>
            <a:srgbClr val="ECFDF3"/>
          </a:solidFill>
          <a:ln w="9525">
            <a:solidFill>
              <a:srgbClr val="ECFDF3"/>
            </a:solidFill>
            <a:prstDash val="solid"/>
          </a:ln>
        </p:spPr>
      </p:sp>
      <p:sp>
        <p:nvSpPr>
          <p:cNvPr id="92" name="Text 89"/>
          <p:cNvSpPr txBox="1"/>
          <p:nvPr/>
        </p:nvSpPr>
        <p:spPr>
          <a:xfrm>
            <a:off x="9354312" y="4828032"/>
            <a:ext cx="530352" cy="164592"/>
          </a:xfrm>
          <a:prstGeom prst="rect">
            <a:avLst/>
          </a:prstGeom>
          <a:noFill/>
          <a:ln/>
        </p:spPr>
        <p:txBody>
          <a:bodyPr wrap="square" lIns="0" tIns="0" rIns="0" bIns="0" rtlCol="0" anchor="ctr"/>
          <a:lstStyle/>
          <a:p>
            <a:pPr algn="ctr" indent="0" marL="0">
              <a:buNone/>
            </a:pPr>
            <a:r>
              <a:rPr lang="en-US" sz="650" b="1" dirty="0">
                <a:solidFill>
                  <a:srgbClr val="067647"/>
                </a:solidFill>
                <a:latin typeface="Inter" pitchFamily="34" charset="0"/>
                <a:ea typeface="Inter" pitchFamily="34" charset="-122"/>
                <a:cs typeface="Inter" pitchFamily="34" charset="-120"/>
              </a:rPr>
              <a:t>Ready</a:t>
            </a:r>
            <a:endParaRPr lang="en-US" sz="650" dirty="0"/>
          </a:p>
        </p:txBody>
      </p:sp>
      <p:sp>
        <p:nvSpPr>
          <p:cNvPr id="93" name="Text 90"/>
          <p:cNvSpPr txBox="1"/>
          <p:nvPr/>
        </p:nvSpPr>
        <p:spPr>
          <a:xfrm>
            <a:off x="8302752" y="4471416"/>
            <a:ext cx="1600200" cy="365760"/>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docker compose: PostgreSQL 16 + API + web, own keys.</a:t>
            </a:r>
            <a:endParaRPr lang="en-US" sz="740" dirty="0"/>
          </a:p>
        </p:txBody>
      </p:sp>
      <p:sp>
        <p:nvSpPr>
          <p:cNvPr id="94" name="Shape 91"/>
          <p:cNvSpPr/>
          <p:nvPr/>
        </p:nvSpPr>
        <p:spPr>
          <a:xfrm>
            <a:off x="9966960" y="4562856"/>
            <a:ext cx="128016" cy="914"/>
          </a:xfrm>
          <a:prstGeom prst="line">
            <a:avLst/>
          </a:prstGeom>
          <a:noFill/>
          <a:ln w="22225">
            <a:solidFill>
              <a:srgbClr val="F97A0F"/>
            </a:solidFill>
            <a:prstDash val="solid"/>
            <a:tailEnd type="triangle"/>
          </a:ln>
        </p:spPr>
      </p:sp>
      <p:sp>
        <p:nvSpPr>
          <p:cNvPr id="95" name="Shape 92"/>
          <p:cNvSpPr/>
          <p:nvPr/>
        </p:nvSpPr>
        <p:spPr>
          <a:xfrm>
            <a:off x="10113264" y="4069080"/>
            <a:ext cx="1737360" cy="987552"/>
          </a:xfrm>
          <a:prstGeom prst="roundRect">
            <a:avLst>
              <a:gd name="adj" fmla="val 5556"/>
            </a:avLst>
          </a:prstGeom>
          <a:solidFill>
            <a:srgbClr val="FFFFFF"/>
          </a:solidFill>
          <a:ln w="9525">
            <a:solidFill>
              <a:srgbClr val="FDD4AE"/>
            </a:solidFill>
            <a:prstDash val="dash"/>
          </a:ln>
        </p:spPr>
      </p:sp>
      <p:sp>
        <p:nvSpPr>
          <p:cNvPr id="96" name="Text 93"/>
          <p:cNvSpPr txBox="1"/>
          <p:nvPr/>
        </p:nvSpPr>
        <p:spPr>
          <a:xfrm>
            <a:off x="10204704" y="4142232"/>
            <a:ext cx="1600200" cy="292608"/>
          </a:xfrm>
          <a:prstGeom prst="rect">
            <a:avLst/>
          </a:prstGeom>
          <a:noFill/>
          <a:ln/>
        </p:spPr>
        <p:txBody>
          <a:bodyPr wrap="square" lIns="0" tIns="0" rIns="0" bIns="0" rtlCol="0" anchor="ctr"/>
          <a:lstStyle/>
          <a:p>
            <a:pPr indent="0" marL="0">
              <a:buNone/>
            </a:pPr>
            <a:r>
              <a:rPr lang="en-US" sz="860" b="1" dirty="0">
                <a:solidFill>
                  <a:srgbClr val="101828"/>
                </a:solidFill>
                <a:latin typeface="Inter" pitchFamily="34" charset="0"/>
                <a:ea typeface="Inter" pitchFamily="34" charset="-122"/>
                <a:cs typeface="Inter" pitchFamily="34" charset="-120"/>
              </a:rPr>
              <a:t>State / 1930 desk</a:t>
            </a:r>
            <a:endParaRPr lang="en-US" sz="860" dirty="0"/>
          </a:p>
        </p:txBody>
      </p:sp>
      <p:sp>
        <p:nvSpPr>
          <p:cNvPr id="97" name="Shape 94"/>
          <p:cNvSpPr/>
          <p:nvPr/>
        </p:nvSpPr>
        <p:spPr>
          <a:xfrm>
            <a:off x="11256264" y="4828032"/>
            <a:ext cx="530352" cy="164592"/>
          </a:xfrm>
          <a:prstGeom prst="roundRect">
            <a:avLst>
              <a:gd name="adj" fmla="val 44444"/>
            </a:avLst>
          </a:prstGeom>
          <a:solidFill>
            <a:srgbClr val="FFFAEB"/>
          </a:solidFill>
          <a:ln w="9525">
            <a:solidFill>
              <a:srgbClr val="FFFAEB"/>
            </a:solidFill>
            <a:prstDash val="solid"/>
          </a:ln>
        </p:spPr>
      </p:sp>
      <p:sp>
        <p:nvSpPr>
          <p:cNvPr id="98" name="Text 95"/>
          <p:cNvSpPr txBox="1"/>
          <p:nvPr/>
        </p:nvSpPr>
        <p:spPr>
          <a:xfrm>
            <a:off x="11256264" y="4828032"/>
            <a:ext cx="530352" cy="164592"/>
          </a:xfrm>
          <a:prstGeom prst="rect">
            <a:avLst/>
          </a:prstGeom>
          <a:noFill/>
          <a:ln/>
        </p:spPr>
        <p:txBody>
          <a:bodyPr wrap="square" lIns="0" tIns="0" rIns="0" bIns="0" rtlCol="0" anchor="ctr"/>
          <a:lstStyle/>
          <a:p>
            <a:pPr algn="ctr" indent="0" marL="0">
              <a:buNone/>
            </a:pPr>
            <a:r>
              <a:rPr lang="en-US" sz="650" b="1" dirty="0">
                <a:solidFill>
                  <a:srgbClr val="B54708"/>
                </a:solidFill>
                <a:latin typeface="Inter" pitchFamily="34" charset="0"/>
                <a:ea typeface="Inter" pitchFamily="34" charset="-122"/>
                <a:cs typeface="Inter" pitchFamily="34" charset="-120"/>
              </a:rPr>
              <a:t>Roadmap</a:t>
            </a:r>
            <a:endParaRPr lang="en-US" sz="650" dirty="0"/>
          </a:p>
        </p:txBody>
      </p:sp>
      <p:sp>
        <p:nvSpPr>
          <p:cNvPr id="99" name="Text 96"/>
          <p:cNvSpPr txBox="1"/>
          <p:nvPr/>
        </p:nvSpPr>
        <p:spPr>
          <a:xfrm>
            <a:off x="10204704" y="4471416"/>
            <a:ext cx="1600200" cy="365760"/>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Telephony for live calls, NCRP-format export, multi-tenant.</a:t>
            </a:r>
            <a:endParaRPr lang="en-US" sz="740" dirty="0"/>
          </a:p>
        </p:txBody>
      </p:sp>
      <p:sp>
        <p:nvSpPr>
          <p:cNvPr id="100" name="Shape 97"/>
          <p:cNvSpPr/>
          <p:nvPr/>
        </p:nvSpPr>
        <p:spPr>
          <a:xfrm>
            <a:off x="6309360" y="5138928"/>
            <a:ext cx="2743200" cy="1124712"/>
          </a:xfrm>
          <a:prstGeom prst="roundRect">
            <a:avLst>
              <a:gd name="adj" fmla="val 4878"/>
            </a:avLst>
          </a:prstGeom>
          <a:solidFill>
            <a:srgbClr val="FFFFFF"/>
          </a:solidFill>
          <a:ln w="9525">
            <a:solidFill>
              <a:srgbClr val="E4E7EC"/>
            </a:solidFill>
            <a:prstDash val="solid"/>
          </a:ln>
        </p:spPr>
      </p:sp>
      <p:sp>
        <p:nvSpPr>
          <p:cNvPr id="101" name="Text 98"/>
          <p:cNvSpPr txBox="1"/>
          <p:nvPr/>
        </p:nvSpPr>
        <p:spPr>
          <a:xfrm>
            <a:off x="6400800" y="5193792"/>
            <a:ext cx="2578608" cy="1051560"/>
          </a:xfrm>
          <a:prstGeom prst="rect">
            <a:avLst/>
          </a:prstGeom>
          <a:noFill/>
          <a:ln/>
        </p:spPr>
        <p:txBody>
          <a:bodyPr wrap="square" lIns="0" tIns="0" rIns="0" bIns="0" rtlCol="0" anchor="t"/>
          <a:lstStyle/>
          <a:p>
            <a:pPr indent="0" marL="0">
              <a:spcAft>
                <a:spcPts val="200"/>
              </a:spcAft>
              <a:buNone/>
            </a:pPr>
            <a:r>
              <a:rPr lang="en-US" sz="880" b="1" dirty="0">
                <a:solidFill>
                  <a:srgbClr val="101828"/>
                </a:solidFill>
                <a:latin typeface="Inter" pitchFamily="34" charset="0"/>
                <a:ea typeface="Inter" pitchFamily="34" charset="-122"/>
                <a:cs typeface="Inter" pitchFamily="34" charset="-120"/>
              </a:rPr>
              <a:t>Why it stays affordable</a:t>
            </a:r>
            <a:endParaRPr lang="en-US" sz="950" dirty="0"/>
          </a:p>
          <a:p>
            <a:pPr marL="101600" indent="-101600">
              <a:spcAft>
                <a:spcPts val="200"/>
              </a:spcAft>
              <a:buSzPct val="100000"/>
              <a:buChar char="•"/>
            </a:pPr>
            <a:r>
              <a:rPr lang="en-US" sz="760" dirty="0">
                <a:solidFill>
                  <a:srgbClr val="475467"/>
                </a:solidFill>
                <a:latin typeface="Inter" pitchFamily="34" charset="0"/>
                <a:ea typeface="Inter" pitchFamily="34" charset="-122"/>
                <a:cs typeface="Inter" pitchFamily="34" charset="-120"/>
              </a:rPr>
              <a:t>Core stack is MIT, BSD or Apache-2.0: no licence or per-minute cloud speech fees</a:t>
            </a:r>
            <a:endParaRPr lang="en-US" sz="950" dirty="0"/>
          </a:p>
          <a:p>
            <a:pPr marL="101600" indent="-101600">
              <a:spcAft>
                <a:spcPts val="200"/>
              </a:spcAft>
              <a:buSzPct val="100000"/>
              <a:buChar char="•"/>
            </a:pPr>
            <a:r>
              <a:rPr lang="en-US" sz="760" dirty="0">
                <a:solidFill>
                  <a:srgbClr val="475467"/>
                </a:solidFill>
                <a:latin typeface="Inter" pitchFamily="34" charset="0"/>
                <a:ea typeface="Inter" pitchFamily="34" charset="-122"/>
                <a:cs typeface="Inter" pitchFamily="34" charset="-120"/>
              </a:rPr>
              <a:t>Runs on hardware a cyber cell already has; data never leaves it</a:t>
            </a:r>
            <a:endParaRPr lang="en-US" sz="950" dirty="0"/>
          </a:p>
          <a:p>
            <a:pPr marL="101600" indent="-101600">
              <a:spcAft>
                <a:spcPts val="200"/>
              </a:spcAft>
              <a:buSzPct val="100000"/>
              <a:buChar char="•"/>
            </a:pPr>
            <a:r>
              <a:rPr lang="en-US" sz="760" dirty="0">
                <a:solidFill>
                  <a:srgbClr val="475467"/>
                </a:solidFill>
                <a:latin typeface="Inter" pitchFamily="34" charset="0"/>
                <a:ea typeface="Inter" pitchFamily="34" charset="-122"/>
                <a:cs typeface="Inter" pitchFamily="34" charset="-120"/>
              </a:rPr>
              <a:t>Models are swappable adapters; emotion2vec+ licence to be cleared before any sale</a:t>
            </a:r>
            <a:endParaRPr lang="en-US" sz="950" dirty="0"/>
          </a:p>
        </p:txBody>
      </p:sp>
      <p:sp>
        <p:nvSpPr>
          <p:cNvPr id="102" name="Shape 99"/>
          <p:cNvSpPr/>
          <p:nvPr/>
        </p:nvSpPr>
        <p:spPr>
          <a:xfrm>
            <a:off x="9144000" y="5138928"/>
            <a:ext cx="2743200" cy="1124712"/>
          </a:xfrm>
          <a:prstGeom prst="roundRect">
            <a:avLst>
              <a:gd name="adj" fmla="val 4878"/>
            </a:avLst>
          </a:prstGeom>
          <a:solidFill>
            <a:srgbClr val="FFFAEB"/>
          </a:solidFill>
          <a:ln w="9525">
            <a:solidFill>
              <a:srgbClr val="FEDF89"/>
            </a:solidFill>
            <a:prstDash val="solid"/>
          </a:ln>
        </p:spPr>
      </p:sp>
      <p:sp>
        <p:nvSpPr>
          <p:cNvPr id="103" name="Text 100"/>
          <p:cNvSpPr txBox="1"/>
          <p:nvPr/>
        </p:nvSpPr>
        <p:spPr>
          <a:xfrm>
            <a:off x="9235440" y="5193792"/>
            <a:ext cx="2578608" cy="1051560"/>
          </a:xfrm>
          <a:prstGeom prst="rect">
            <a:avLst/>
          </a:prstGeom>
          <a:noFill/>
          <a:ln/>
        </p:spPr>
        <p:txBody>
          <a:bodyPr wrap="square" lIns="0" tIns="0" rIns="0" bIns="0" rtlCol="0" anchor="t"/>
          <a:lstStyle/>
          <a:p>
            <a:pPr indent="0" marL="0">
              <a:spcAft>
                <a:spcPts val="100"/>
              </a:spcAft>
              <a:buNone/>
            </a:pPr>
            <a:r>
              <a:rPr lang="en-US" sz="880" b="1" dirty="0">
                <a:solidFill>
                  <a:srgbClr val="B54708"/>
                </a:solidFill>
                <a:latin typeface="Inter" pitchFamily="34" charset="0"/>
                <a:ea typeface="Inter" pitchFamily="34" charset="-122"/>
                <a:cs typeface="Inter" pitchFamily="34" charset="-120"/>
              </a:rPr>
              <a:t>We will measure, not guess</a:t>
            </a:r>
            <a:endParaRPr lang="en-US" sz="950" dirty="0"/>
          </a:p>
          <a:p>
            <a:pPr marL="101600" indent="-101600">
              <a:spcAft>
                <a:spcPts val="100"/>
              </a:spcAft>
              <a:buSzPct val="100000"/>
              <a:buChar char="•"/>
            </a:pPr>
            <a:r>
              <a:rPr lang="en-US" sz="760" dirty="0">
                <a:solidFill>
                  <a:srgbClr val="101828"/>
                </a:solidFill>
                <a:latin typeface="Inter" pitchFamily="34" charset="0"/>
                <a:ea typeface="Inter" pitchFamily="34" charset="-122"/>
                <a:cs typeface="Inter" pitchFamily="34" charset="-120"/>
              </a:rPr>
              <a:t>ASR delay per 5 s chunk on a laptop</a:t>
            </a:r>
            <a:endParaRPr lang="en-US" sz="950" dirty="0"/>
          </a:p>
          <a:p>
            <a:pPr marL="101600" indent="-101600">
              <a:spcAft>
                <a:spcPts val="100"/>
              </a:spcAft>
              <a:buSzPct val="100000"/>
              <a:buChar char="•"/>
            </a:pPr>
            <a:r>
              <a:rPr lang="en-US" sz="760" dirty="0">
                <a:solidFill>
                  <a:srgbClr val="101828"/>
                </a:solidFill>
                <a:latin typeface="Inter" pitchFamily="34" charset="0"/>
                <a:ea typeface="Inter" pitchFamily="34" charset="-122"/>
                <a:cs typeface="Inter" pitchFamily="34" charset="-120"/>
              </a:rPr>
              <a:t>Field accuracy on 15–20 recorded role-play calls</a:t>
            </a:r>
            <a:endParaRPr lang="en-US" sz="950" dirty="0"/>
          </a:p>
          <a:p>
            <a:pPr marL="101600" indent="-101600">
              <a:spcAft>
                <a:spcPts val="100"/>
              </a:spcAft>
              <a:buSzPct val="100000"/>
              <a:buChar char="•"/>
            </a:pPr>
            <a:r>
              <a:rPr lang="en-US" sz="760" dirty="0">
                <a:solidFill>
                  <a:srgbClr val="101828"/>
                </a:solidFill>
                <a:latin typeface="Inter" pitchFamily="34" charset="0"/>
                <a:ea typeface="Inter" pitchFamily="34" charset="-122"/>
                <a:cs typeface="Inter" pitchFamily="34" charset="-120"/>
              </a:rPr>
              <a:t>False coercion / crisis alerts on 5 control calls</a:t>
            </a:r>
            <a:endParaRPr lang="en-US" sz="950" dirty="0"/>
          </a:p>
          <a:p>
            <a:pPr marL="101600" indent="-101600">
              <a:spcAft>
                <a:spcPts val="100"/>
              </a:spcAft>
              <a:buSzPct val="100000"/>
              <a:buChar char="•"/>
            </a:pPr>
            <a:r>
              <a:rPr lang="en-US" sz="760" dirty="0">
                <a:solidFill>
                  <a:srgbClr val="101828"/>
                </a:solidFill>
                <a:latin typeface="Inter" pitchFamily="34" charset="0"/>
                <a:ea typeface="Inter" pitchFamily="34" charset="-122"/>
                <a:cs typeface="Inter" pitchFamily="34" charset="-120"/>
              </a:rPr>
              <a:t>Intake time: manual form vs Anvesh, same call</a:t>
            </a:r>
            <a:endParaRPr lang="en-US" sz="950" dirty="0"/>
          </a:p>
        </p:txBody>
      </p:sp>
      <p:sp>
        <p:nvSpPr>
          <p:cNvPr id="104" name="Text 101"/>
          <p:cNvSpPr txBox="1"/>
          <p:nvPr/>
        </p:nvSpPr>
        <p:spPr>
          <a:xfrm>
            <a:off x="320040" y="6336792"/>
            <a:ext cx="11567160" cy="201168"/>
          </a:xfrm>
          <a:prstGeom prst="rect">
            <a:avLst/>
          </a:prstGeom>
          <a:noFill/>
          <a:ln/>
        </p:spPr>
        <p:txBody>
          <a:bodyPr wrap="square" lIns="0" tIns="0" rIns="0" bIns="0" rtlCol="0" anchor="ctr"/>
          <a:lstStyle/>
          <a:p>
            <a:pPr indent="0" marL="0">
              <a:buNone/>
            </a:pPr>
            <a:r>
              <a:rPr lang="en-US" sz="700" i="1" dirty="0">
                <a:solidFill>
                  <a:srgbClr val="667085"/>
                </a:solidFill>
                <a:latin typeface="Inter" pitchFamily="34" charset="0"/>
                <a:ea typeface="Inter" pitchFamily="34" charset="-122"/>
                <a:cs typeface="Inter" pitchFamily="34" charset="-120"/>
              </a:rPr>
              <a:t>*38/38 is a development set written with the code (20 phrases, 38 field checks): it shows spoken forms are handled, not accuracy on real calls. Sources: .github/workflows/ci.yml, EVALUATION.md, SECURITY.md, LICENSES.md, README.md.</a:t>
            </a:r>
            <a:endParaRPr lang="en-US" sz="7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2103120" y="146304"/>
            <a:ext cx="6217920" cy="512064"/>
          </a:xfrm>
          <a:prstGeom prst="rect">
            <a:avLst/>
          </a:prstGeom>
          <a:noFill/>
          <a:ln/>
        </p:spPr>
        <p:txBody>
          <a:bodyPr wrap="square" lIns="0" tIns="0" rIns="0" bIns="0" rtlCol="0" anchor="ctr"/>
          <a:lstStyle/>
          <a:p>
            <a:pPr algn="ctr" indent="0" marL="0">
              <a:buNone/>
            </a:pPr>
            <a:r>
              <a:rPr lang="en-US" sz="2600" b="1" dirty="0">
                <a:solidFill>
                  <a:srgbClr val="101828"/>
                </a:solidFill>
                <a:latin typeface="Inter" pitchFamily="34" charset="0"/>
                <a:ea typeface="Inter" pitchFamily="34" charset="-122"/>
                <a:cs typeface="Inter" pitchFamily="34" charset="-120"/>
              </a:rPr>
              <a:t>Impact &amp; Benefit</a:t>
            </a:r>
            <a:endParaRPr lang="en-US" sz="2600" dirty="0"/>
          </a:p>
        </p:txBody>
      </p:sp>
      <p:sp>
        <p:nvSpPr>
          <p:cNvPr id="3" name="Shape 1"/>
          <p:cNvSpPr/>
          <p:nvPr/>
        </p:nvSpPr>
        <p:spPr>
          <a:xfrm>
            <a:off x="320040" y="841248"/>
            <a:ext cx="3886200" cy="1417320"/>
          </a:xfrm>
          <a:prstGeom prst="roundRect">
            <a:avLst>
              <a:gd name="adj" fmla="val 3871"/>
            </a:avLst>
          </a:prstGeom>
          <a:solidFill>
            <a:srgbClr val="F6F7F9"/>
          </a:solidFill>
          <a:ln w="9525">
            <a:solidFill>
              <a:srgbClr val="F6F7F9"/>
            </a:solidFill>
            <a:prstDash val="solid"/>
          </a:ln>
        </p:spPr>
      </p:sp>
      <p:sp>
        <p:nvSpPr>
          <p:cNvPr id="4" name="Text 2"/>
          <p:cNvSpPr txBox="1"/>
          <p:nvPr/>
        </p:nvSpPr>
        <p:spPr>
          <a:xfrm>
            <a:off x="457200" y="932688"/>
            <a:ext cx="3611880" cy="329184"/>
          </a:xfrm>
          <a:prstGeom prst="rect">
            <a:avLst/>
          </a:prstGeom>
          <a:noFill/>
          <a:ln/>
        </p:spPr>
        <p:txBody>
          <a:bodyPr wrap="square" lIns="0" tIns="0" rIns="0" bIns="0" rtlCol="0" anchor="ctr"/>
          <a:lstStyle/>
          <a:p>
            <a:pPr indent="0" marL="0">
              <a:buNone/>
            </a:pPr>
            <a:r>
              <a:rPr lang="en-US" sz="1050" b="1" dirty="0">
                <a:solidFill>
                  <a:srgbClr val="101828"/>
                </a:solidFill>
                <a:latin typeface="Inter" pitchFamily="34" charset="0"/>
                <a:ea typeface="Inter" pitchFamily="34" charset="-122"/>
                <a:cs typeface="Inter" pitchFamily="34" charset="-120"/>
              </a:rPr>
              <a:t>Victim on the line</a:t>
            </a:r>
            <a:endParaRPr lang="en-US" sz="1050" dirty="0"/>
          </a:p>
        </p:txBody>
      </p:sp>
      <p:sp>
        <p:nvSpPr>
          <p:cNvPr id="5" name="Text 3"/>
          <p:cNvSpPr txBox="1"/>
          <p:nvPr/>
        </p:nvSpPr>
        <p:spPr>
          <a:xfrm>
            <a:off x="457200" y="1280160"/>
            <a:ext cx="3611880" cy="932688"/>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Told to hang up on the scammer at once: “Police never arrest anyone over a video call.”</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Facts read back in Hindi, so they can say yes or correct them.</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Crisis language prompts a hand-over to Tele-MANAS 14416.</a:t>
            </a:r>
            <a:endParaRPr lang="en-US" sz="900" dirty="0"/>
          </a:p>
        </p:txBody>
      </p:sp>
      <p:sp>
        <p:nvSpPr>
          <p:cNvPr id="6" name="Shape 4"/>
          <p:cNvSpPr/>
          <p:nvPr/>
        </p:nvSpPr>
        <p:spPr>
          <a:xfrm>
            <a:off x="320040" y="2331720"/>
            <a:ext cx="3886200" cy="1417320"/>
          </a:xfrm>
          <a:prstGeom prst="roundRect">
            <a:avLst>
              <a:gd name="adj" fmla="val 3871"/>
            </a:avLst>
          </a:prstGeom>
          <a:solidFill>
            <a:srgbClr val="FFFFFF"/>
          </a:solidFill>
          <a:ln w="9525">
            <a:solidFill>
              <a:srgbClr val="E4E7EC"/>
            </a:solidFill>
            <a:prstDash val="solid"/>
          </a:ln>
        </p:spPr>
      </p:sp>
      <p:sp>
        <p:nvSpPr>
          <p:cNvPr id="7" name="Text 5"/>
          <p:cNvSpPr txBox="1"/>
          <p:nvPr/>
        </p:nvSpPr>
        <p:spPr>
          <a:xfrm>
            <a:off x="457200" y="2423160"/>
            <a:ext cx="3611880" cy="329184"/>
          </a:xfrm>
          <a:prstGeom prst="rect">
            <a:avLst/>
          </a:prstGeom>
          <a:noFill/>
          <a:ln/>
        </p:spPr>
        <p:txBody>
          <a:bodyPr wrap="square" lIns="0" tIns="0" rIns="0" bIns="0" rtlCol="0" anchor="ctr"/>
          <a:lstStyle/>
          <a:p>
            <a:pPr indent="0" marL="0">
              <a:buNone/>
            </a:pPr>
            <a:r>
              <a:rPr lang="en-US" sz="1050" b="1" dirty="0">
                <a:solidFill>
                  <a:srgbClr val="101828"/>
                </a:solidFill>
                <a:latin typeface="Inter" pitchFamily="34" charset="0"/>
                <a:ea typeface="Inter" pitchFamily="34" charset="-122"/>
                <a:cs typeface="Inter" pitchFamily="34" charset="-120"/>
              </a:rPr>
              <a:t>Call-taking officer</a:t>
            </a:r>
            <a:endParaRPr lang="en-US" sz="1050" dirty="0"/>
          </a:p>
        </p:txBody>
      </p:sp>
      <p:sp>
        <p:nvSpPr>
          <p:cNvPr id="8" name="Text 6"/>
          <p:cNvSpPr txBox="1"/>
          <p:nvPr/>
        </p:nvSpPr>
        <p:spPr>
          <a:xfrm>
            <a:off x="457200" y="2770632"/>
            <a:ext cx="3611880" cy="932688"/>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Case file builds itself while the caller talks; each field links to the exact second of audio.</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Co-pilot asks the next question for the scam type and for missing fields.</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One clear priority with its reasons, instead of a raw emotion score.</a:t>
            </a:r>
            <a:endParaRPr lang="en-US" sz="900" dirty="0"/>
          </a:p>
        </p:txBody>
      </p:sp>
      <p:sp>
        <p:nvSpPr>
          <p:cNvPr id="9" name="Shape 7"/>
          <p:cNvSpPr/>
          <p:nvPr/>
        </p:nvSpPr>
        <p:spPr>
          <a:xfrm>
            <a:off x="320040" y="3822192"/>
            <a:ext cx="3886200" cy="1188720"/>
          </a:xfrm>
          <a:prstGeom prst="roundRect">
            <a:avLst>
              <a:gd name="adj" fmla="val 4615"/>
            </a:avLst>
          </a:prstGeom>
          <a:solidFill>
            <a:srgbClr val="F6F7F9"/>
          </a:solidFill>
          <a:ln w="9525">
            <a:solidFill>
              <a:srgbClr val="F6F7F9"/>
            </a:solidFill>
            <a:prstDash val="solid"/>
          </a:ln>
        </p:spPr>
      </p:sp>
      <p:sp>
        <p:nvSpPr>
          <p:cNvPr id="10" name="Text 8"/>
          <p:cNvSpPr txBox="1"/>
          <p:nvPr/>
        </p:nvSpPr>
        <p:spPr>
          <a:xfrm>
            <a:off x="457200" y="3913632"/>
            <a:ext cx="3611880" cy="329184"/>
          </a:xfrm>
          <a:prstGeom prst="rect">
            <a:avLst/>
          </a:prstGeom>
          <a:noFill/>
          <a:ln/>
        </p:spPr>
        <p:txBody>
          <a:bodyPr wrap="square" lIns="0" tIns="0" rIns="0" bIns="0" rtlCol="0" anchor="ctr"/>
          <a:lstStyle/>
          <a:p>
            <a:pPr indent="0" marL="0">
              <a:buNone/>
            </a:pPr>
            <a:r>
              <a:rPr lang="en-US" sz="1050" b="1" dirty="0">
                <a:solidFill>
                  <a:srgbClr val="101828"/>
                </a:solidFill>
                <a:latin typeface="Inter" pitchFamily="34" charset="0"/>
                <a:ea typeface="Inter" pitchFamily="34" charset="-122"/>
                <a:cs typeface="Inter" pitchFamily="34" charset="-120"/>
              </a:rPr>
              <a:t>Investigator / supervisor</a:t>
            </a:r>
            <a:endParaRPr lang="en-US" sz="1050" dirty="0"/>
          </a:p>
        </p:txBody>
      </p:sp>
      <p:sp>
        <p:nvSpPr>
          <p:cNvPr id="11" name="Text 9"/>
          <p:cNvSpPr txBox="1"/>
          <p:nvPr/>
        </p:nvSpPr>
        <p:spPr>
          <a:xfrm>
            <a:off x="457200" y="4261104"/>
            <a:ext cx="3611880" cy="704088"/>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Rings across districts with shared identifiers and the total reported loss.</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Editable complaint draft where every fact points to its evidence.</a:t>
            </a:r>
            <a:endParaRPr lang="en-US" sz="900" dirty="0"/>
          </a:p>
        </p:txBody>
      </p:sp>
      <p:sp>
        <p:nvSpPr>
          <p:cNvPr id="12" name="Shape 10"/>
          <p:cNvSpPr/>
          <p:nvPr/>
        </p:nvSpPr>
        <p:spPr>
          <a:xfrm>
            <a:off x="320040" y="5084064"/>
            <a:ext cx="3886200" cy="1188720"/>
          </a:xfrm>
          <a:prstGeom prst="roundRect">
            <a:avLst>
              <a:gd name="adj" fmla="val 4615"/>
            </a:avLst>
          </a:prstGeom>
          <a:solidFill>
            <a:srgbClr val="FFFFFF"/>
          </a:solidFill>
          <a:ln w="9525">
            <a:solidFill>
              <a:srgbClr val="E4E7EC"/>
            </a:solidFill>
            <a:prstDash val="solid"/>
          </a:ln>
        </p:spPr>
      </p:sp>
      <p:sp>
        <p:nvSpPr>
          <p:cNvPr id="13" name="Text 11"/>
          <p:cNvSpPr txBox="1"/>
          <p:nvPr/>
        </p:nvSpPr>
        <p:spPr>
          <a:xfrm>
            <a:off x="457200" y="5175504"/>
            <a:ext cx="3611880" cy="329184"/>
          </a:xfrm>
          <a:prstGeom prst="rect">
            <a:avLst/>
          </a:prstGeom>
          <a:noFill/>
          <a:ln/>
        </p:spPr>
        <p:txBody>
          <a:bodyPr wrap="square" lIns="0" tIns="0" rIns="0" bIns="0" rtlCol="0" anchor="ctr"/>
          <a:lstStyle/>
          <a:p>
            <a:pPr indent="0" marL="0">
              <a:buNone/>
            </a:pPr>
            <a:r>
              <a:rPr lang="en-US" sz="1050" b="1" dirty="0">
                <a:solidFill>
                  <a:srgbClr val="101828"/>
                </a:solidFill>
                <a:latin typeface="Inter" pitchFamily="34" charset="0"/>
                <a:ea typeface="Inter" pitchFamily="34" charset="-122"/>
                <a:cs typeface="Inter" pitchFamily="34" charset="-120"/>
              </a:rPr>
              <a:t>Department and courts</a:t>
            </a:r>
            <a:endParaRPr lang="en-US" sz="1050" dirty="0"/>
          </a:p>
        </p:txBody>
      </p:sp>
      <p:sp>
        <p:nvSpPr>
          <p:cNvPr id="14" name="Text 12"/>
          <p:cNvSpPr txBox="1"/>
          <p:nvPr/>
        </p:nvSpPr>
        <p:spPr>
          <a:xfrm>
            <a:off x="457200" y="5522976"/>
            <a:ext cx="3611880" cy="704088"/>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Tamper-evident audit of every view, AI output and human correction.</a:t>
            </a:r>
            <a:endParaRPr lang="en-US" sz="900" dirty="0"/>
          </a:p>
          <a:p>
            <a:pPr marL="127000" indent="-127000">
              <a:spcAft>
                <a:spcPts val="300"/>
              </a:spcAft>
              <a:buSzPct val="100000"/>
              <a:buChar char="•"/>
            </a:pPr>
            <a:r>
              <a:rPr lang="en-US" sz="900" dirty="0">
                <a:solidFill>
                  <a:srgbClr val="475467"/>
                </a:solidFill>
                <a:latin typeface="Inter" pitchFamily="34" charset="0"/>
                <a:ea typeface="Inter" pitchFamily="34" charset="-122"/>
                <a:cs typeface="Inter" pitchFamily="34" charset="-120"/>
              </a:rPr>
              <a:t>Personal data encrypted field by field, with erasure and retention rules.</a:t>
            </a:r>
            <a:endParaRPr lang="en-US" sz="900" dirty="0"/>
          </a:p>
        </p:txBody>
      </p:sp>
      <p:sp>
        <p:nvSpPr>
          <p:cNvPr id="15" name="Shape 13"/>
          <p:cNvSpPr/>
          <p:nvPr/>
        </p:nvSpPr>
        <p:spPr>
          <a:xfrm>
            <a:off x="4370832" y="841248"/>
            <a:ext cx="3977640" cy="3977640"/>
          </a:xfrm>
          <a:prstGeom prst="roundRect">
            <a:avLst>
              <a:gd name="adj" fmla="val 1379"/>
            </a:avLst>
          </a:prstGeom>
          <a:solidFill>
            <a:srgbClr val="FFFFFF"/>
          </a:solidFill>
          <a:ln w="9525">
            <a:solidFill>
              <a:srgbClr val="E4E7EC"/>
            </a:solidFill>
            <a:prstDash val="solid"/>
          </a:ln>
        </p:spPr>
      </p:sp>
      <p:graphicFrame>
        <p:nvGraphicFramePr>
          <p:cNvPr id="16" name="Chart 0" descr=""/>
          <p:cNvGraphicFramePr/>
          <p:nvPr/>
        </p:nvGraphicFramePr>
        <p:xfrm>
          <a:off x="4416552" y="896112"/>
          <a:ext cx="3886200" cy="338328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4480560" y="4261104"/>
            <a:ext cx="3758184" cy="502920"/>
          </a:xfrm>
          <a:prstGeom prst="rect">
            <a:avLst/>
          </a:prstGeom>
          <a:noFill/>
          <a:ln/>
        </p:spPr>
        <p:txBody>
          <a:bodyPr wrap="square" lIns="0" tIns="0" rIns="0" bIns="0" rtlCol="0" anchor="ctr"/>
          <a:lstStyle/>
          <a:p>
            <a:pPr indent="0" marL="0">
              <a:buNone/>
            </a:pPr>
            <a:r>
              <a:rPr lang="en-US" sz="1200" b="1" dirty="0">
                <a:solidFill>
                  <a:srgbClr val="C2570C"/>
                </a:solidFill>
                <a:latin typeface="Inter" pitchFamily="34" charset="0"/>
                <a:ea typeface="Inter" pitchFamily="34" charset="-122"/>
                <a:cs typeface="Inter" pitchFamily="34" charset="-120"/>
              </a:rPr>
              <a:t>41%</a:t>
            </a:r>
            <a:pPr indent="0" marL="0">
              <a:buNone/>
            </a:pPr>
            <a:r>
              <a:rPr lang="en-US" sz="800" dirty="0">
                <a:solidFill>
                  <a:srgbClr val="475467"/>
                </a:solidFill>
                <a:latin typeface="Inter" pitchFamily="34" charset="0"/>
                <a:ea typeface="Inter" pitchFamily="34" charset="-122"/>
                <a:cs typeface="Inter" pitchFamily="34" charset="-120"/>
              </a:rPr>
              <a:t>  of 2025 Chakshu reports are in a category with its own playbook</a:t>
            </a:r>
            <a:endParaRPr lang="en-US" sz="800" dirty="0"/>
          </a:p>
          <a:p>
            <a:pPr indent="0" marL="0">
              <a:buNone/>
            </a:pPr>
            <a:r>
              <a:rPr lang="en-US" sz="1200" b="1" dirty="0">
                <a:solidFill>
                  <a:srgbClr val="C2570C"/>
                </a:solidFill>
                <a:latin typeface="Inter" pitchFamily="34" charset="0"/>
                <a:ea typeface="Inter" pitchFamily="34" charset="-122"/>
                <a:cs typeface="Inter" pitchFamily="34" charset="-120"/>
              </a:rPr>
              <a:t>52%</a:t>
            </a:r>
            <a:pPr indent="0" marL="0">
              <a:buNone/>
            </a:pPr>
            <a:r>
              <a:rPr lang="en-US" sz="800" dirty="0">
                <a:solidFill>
                  <a:srgbClr val="475467"/>
                </a:solidFill>
                <a:latin typeface="Inter" pitchFamily="34" charset="0"/>
                <a:ea typeface="Inter" pitchFamily="34" charset="-122"/>
                <a:cs typeface="Inter" pitchFamily="34" charset="-120"/>
              </a:rPr>
              <a:t>  if the job / lottery / loan category is counted too</a:t>
            </a:r>
            <a:endParaRPr lang="en-US" sz="800" dirty="0"/>
          </a:p>
        </p:txBody>
      </p:sp>
      <p:sp>
        <p:nvSpPr>
          <p:cNvPr id="18" name="Shape 15"/>
          <p:cNvSpPr/>
          <p:nvPr/>
        </p:nvSpPr>
        <p:spPr>
          <a:xfrm>
            <a:off x="4370832" y="4910328"/>
            <a:ext cx="1289304" cy="1344168"/>
          </a:xfrm>
          <a:prstGeom prst="roundRect">
            <a:avLst>
              <a:gd name="adj" fmla="val 4255"/>
            </a:avLst>
          </a:prstGeom>
          <a:solidFill>
            <a:srgbClr val="FFF4EA"/>
          </a:solidFill>
          <a:ln w="9525">
            <a:solidFill>
              <a:srgbClr val="FDD4AE"/>
            </a:solidFill>
            <a:prstDash val="solid"/>
          </a:ln>
        </p:spPr>
      </p:sp>
      <p:sp>
        <p:nvSpPr>
          <p:cNvPr id="19" name="Text 16"/>
          <p:cNvSpPr txBox="1"/>
          <p:nvPr/>
        </p:nvSpPr>
        <p:spPr>
          <a:xfrm>
            <a:off x="4462272" y="4992624"/>
            <a:ext cx="1143000" cy="274320"/>
          </a:xfrm>
          <a:prstGeom prst="rect">
            <a:avLst/>
          </a:prstGeom>
          <a:noFill/>
          <a:ln/>
        </p:spPr>
        <p:txBody>
          <a:bodyPr wrap="square" lIns="0" tIns="0" rIns="0" bIns="0" rtlCol="0" anchor="ctr"/>
          <a:lstStyle/>
          <a:p>
            <a:pPr indent="0" marL="0">
              <a:buNone/>
            </a:pPr>
            <a:r>
              <a:rPr lang="en-US" sz="850" b="1" dirty="0">
                <a:solidFill>
                  <a:srgbClr val="C2570C"/>
                </a:solidFill>
                <a:latin typeface="Inter" pitchFamily="34" charset="0"/>
                <a:ea typeface="Inter" pitchFamily="34" charset="-122"/>
                <a:cs typeface="Inter" pitchFamily="34" charset="-120"/>
              </a:rPr>
              <a:t>SDG 16</a:t>
            </a:r>
            <a:endParaRPr lang="en-US" sz="850" dirty="0"/>
          </a:p>
        </p:txBody>
      </p:sp>
      <p:sp>
        <p:nvSpPr>
          <p:cNvPr id="20" name="Text 17"/>
          <p:cNvSpPr txBox="1"/>
          <p:nvPr/>
        </p:nvSpPr>
        <p:spPr>
          <a:xfrm>
            <a:off x="4462272" y="5321808"/>
            <a:ext cx="1143000" cy="896112"/>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Peace, justice and strong institutions: faster, evidence-backed complaints</a:t>
            </a:r>
            <a:endParaRPr lang="en-US" sz="740" dirty="0"/>
          </a:p>
        </p:txBody>
      </p:sp>
      <p:sp>
        <p:nvSpPr>
          <p:cNvPr id="21" name="Shape 18"/>
          <p:cNvSpPr/>
          <p:nvPr/>
        </p:nvSpPr>
        <p:spPr>
          <a:xfrm>
            <a:off x="5715000" y="4910328"/>
            <a:ext cx="1289304" cy="1344168"/>
          </a:xfrm>
          <a:prstGeom prst="roundRect">
            <a:avLst>
              <a:gd name="adj" fmla="val 4255"/>
            </a:avLst>
          </a:prstGeom>
          <a:solidFill>
            <a:srgbClr val="FFF4EA"/>
          </a:solidFill>
          <a:ln w="9525">
            <a:solidFill>
              <a:srgbClr val="FDD4AE"/>
            </a:solidFill>
            <a:prstDash val="solid"/>
          </a:ln>
        </p:spPr>
      </p:sp>
      <p:sp>
        <p:nvSpPr>
          <p:cNvPr id="22" name="Text 19"/>
          <p:cNvSpPr txBox="1"/>
          <p:nvPr/>
        </p:nvSpPr>
        <p:spPr>
          <a:xfrm>
            <a:off x="5806440" y="4992624"/>
            <a:ext cx="1143000" cy="274320"/>
          </a:xfrm>
          <a:prstGeom prst="rect">
            <a:avLst/>
          </a:prstGeom>
          <a:noFill/>
          <a:ln/>
        </p:spPr>
        <p:txBody>
          <a:bodyPr wrap="square" lIns="0" tIns="0" rIns="0" bIns="0" rtlCol="0" anchor="ctr"/>
          <a:lstStyle/>
          <a:p>
            <a:pPr indent="0" marL="0">
              <a:buNone/>
            </a:pPr>
            <a:r>
              <a:rPr lang="en-US" sz="850" b="1" dirty="0">
                <a:solidFill>
                  <a:srgbClr val="C2570C"/>
                </a:solidFill>
                <a:latin typeface="Inter" pitchFamily="34" charset="0"/>
                <a:ea typeface="Inter" pitchFamily="34" charset="-122"/>
                <a:cs typeface="Inter" pitchFamily="34" charset="-120"/>
              </a:rPr>
              <a:t>DPDP Act 2023</a:t>
            </a:r>
            <a:endParaRPr lang="en-US" sz="850" dirty="0"/>
          </a:p>
        </p:txBody>
      </p:sp>
      <p:sp>
        <p:nvSpPr>
          <p:cNvPr id="23" name="Text 20"/>
          <p:cNvSpPr txBox="1"/>
          <p:nvPr/>
        </p:nvSpPr>
        <p:spPr>
          <a:xfrm>
            <a:off x="5806440" y="5321808"/>
            <a:ext cx="1143000" cy="896112"/>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Field encryption, need-to-know roles, erasure and retention built in</a:t>
            </a:r>
            <a:endParaRPr lang="en-US" sz="740" dirty="0"/>
          </a:p>
        </p:txBody>
      </p:sp>
      <p:sp>
        <p:nvSpPr>
          <p:cNvPr id="24" name="Shape 21"/>
          <p:cNvSpPr/>
          <p:nvPr/>
        </p:nvSpPr>
        <p:spPr>
          <a:xfrm>
            <a:off x="7059168" y="4910328"/>
            <a:ext cx="1289304" cy="1344168"/>
          </a:xfrm>
          <a:prstGeom prst="roundRect">
            <a:avLst>
              <a:gd name="adj" fmla="val 4255"/>
            </a:avLst>
          </a:prstGeom>
          <a:solidFill>
            <a:srgbClr val="FFF4EA"/>
          </a:solidFill>
          <a:ln w="9525">
            <a:solidFill>
              <a:srgbClr val="FDD4AE"/>
            </a:solidFill>
            <a:prstDash val="solid"/>
          </a:ln>
        </p:spPr>
      </p:sp>
      <p:sp>
        <p:nvSpPr>
          <p:cNvPr id="25" name="Text 22"/>
          <p:cNvSpPr txBox="1"/>
          <p:nvPr/>
        </p:nvSpPr>
        <p:spPr>
          <a:xfrm>
            <a:off x="7150608" y="4992624"/>
            <a:ext cx="1143000" cy="274320"/>
          </a:xfrm>
          <a:prstGeom prst="rect">
            <a:avLst/>
          </a:prstGeom>
          <a:noFill/>
          <a:ln/>
        </p:spPr>
        <p:txBody>
          <a:bodyPr wrap="square" lIns="0" tIns="0" rIns="0" bIns="0" rtlCol="0" anchor="ctr"/>
          <a:lstStyle/>
          <a:p>
            <a:pPr indent="0" marL="0">
              <a:buNone/>
            </a:pPr>
            <a:r>
              <a:rPr lang="en-US" sz="850" b="1" dirty="0">
                <a:solidFill>
                  <a:srgbClr val="C2570C"/>
                </a:solidFill>
                <a:latin typeface="Inter" pitchFamily="34" charset="0"/>
                <a:ea typeface="Inter" pitchFamily="34" charset="-122"/>
                <a:cs typeface="Inter" pitchFamily="34" charset="-120"/>
              </a:rPr>
              <a:t>Tele-MANAS 14416</a:t>
            </a:r>
            <a:endParaRPr lang="en-US" sz="850" dirty="0"/>
          </a:p>
        </p:txBody>
      </p:sp>
      <p:sp>
        <p:nvSpPr>
          <p:cNvPr id="26" name="Text 23"/>
          <p:cNvSpPr txBox="1"/>
          <p:nvPr/>
        </p:nvSpPr>
        <p:spPr>
          <a:xfrm>
            <a:off x="7150608" y="5321808"/>
            <a:ext cx="1143000" cy="896112"/>
          </a:xfrm>
          <a:prstGeom prst="rect">
            <a:avLst/>
          </a:prstGeom>
          <a:noFill/>
          <a:ln/>
        </p:spPr>
        <p:txBody>
          <a:bodyPr wrap="square" lIns="0" tIns="0" rIns="0" bIns="0" rtlCol="0" anchor="t"/>
          <a:lstStyle/>
          <a:p>
            <a:pPr indent="0" marL="0">
              <a:buNone/>
            </a:pPr>
            <a:r>
              <a:rPr lang="en-US" sz="740" dirty="0">
                <a:solidFill>
                  <a:srgbClr val="475467"/>
                </a:solidFill>
                <a:latin typeface="Inter" pitchFamily="34" charset="0"/>
                <a:ea typeface="Inter" pitchFamily="34" charset="-122"/>
                <a:cs typeface="Inter" pitchFamily="34" charset="-120"/>
              </a:rPr>
              <a:t>Crisis language triggers a human hand-over prompt</a:t>
            </a:r>
            <a:endParaRPr lang="en-US" sz="740" dirty="0"/>
          </a:p>
        </p:txBody>
      </p:sp>
      <p:sp>
        <p:nvSpPr>
          <p:cNvPr id="27" name="Shape 24"/>
          <p:cNvSpPr/>
          <p:nvPr/>
        </p:nvSpPr>
        <p:spPr>
          <a:xfrm>
            <a:off x="8503920" y="841248"/>
            <a:ext cx="3383280" cy="2971800"/>
          </a:xfrm>
          <a:prstGeom prst="roundRect">
            <a:avLst>
              <a:gd name="adj" fmla="val 1846"/>
            </a:avLst>
          </a:prstGeom>
          <a:solidFill>
            <a:srgbClr val="FFFFFF"/>
          </a:solidFill>
          <a:ln w="9525">
            <a:solidFill>
              <a:srgbClr val="E4E7EC"/>
            </a:solidFill>
            <a:prstDash val="solid"/>
          </a:ln>
        </p:spPr>
      </p:sp>
      <p:sp>
        <p:nvSpPr>
          <p:cNvPr id="28" name="Text 25"/>
          <p:cNvSpPr txBox="1"/>
          <p:nvPr/>
        </p:nvSpPr>
        <p:spPr>
          <a:xfrm>
            <a:off x="8613648" y="914400"/>
            <a:ext cx="3200400" cy="292608"/>
          </a:xfrm>
          <a:prstGeom prst="rect">
            <a:avLst/>
          </a:prstGeom>
          <a:noFill/>
          <a:ln/>
        </p:spPr>
        <p:txBody>
          <a:bodyPr wrap="square" lIns="0" tIns="0" rIns="0" bIns="0" rtlCol="0" anchor="ctr"/>
          <a:lstStyle/>
          <a:p>
            <a:pPr indent="0" marL="0">
              <a:buNone/>
            </a:pPr>
            <a:r>
              <a:rPr lang="en-US" sz="1000" b="1" dirty="0">
                <a:solidFill>
                  <a:srgbClr val="101828"/>
                </a:solidFill>
                <a:latin typeface="Inter" pitchFamily="34" charset="0"/>
                <a:ea typeface="Inter" pitchFamily="34" charset="-122"/>
                <a:cs typeface="Inter" pitchFamily="34" charset="-120"/>
              </a:rPr>
              <a:t>One call, a whole ring</a:t>
            </a:r>
            <a:endParaRPr lang="en-US" sz="1000" dirty="0"/>
          </a:p>
        </p:txBody>
      </p:sp>
      <p:sp>
        <p:nvSpPr>
          <p:cNvPr id="29" name="Shape 26"/>
          <p:cNvSpPr/>
          <p:nvPr/>
        </p:nvSpPr>
        <p:spPr>
          <a:xfrm flipV="1">
            <a:off x="9171432" y="1709928"/>
            <a:ext cx="1316736" cy="54864"/>
          </a:xfrm>
          <a:prstGeom prst="line">
            <a:avLst/>
          </a:prstGeom>
          <a:noFill/>
          <a:ln w="19050">
            <a:solidFill>
              <a:srgbClr val="101828"/>
            </a:solidFill>
            <a:prstDash val="solid"/>
          </a:ln>
        </p:spPr>
      </p:sp>
      <p:sp>
        <p:nvSpPr>
          <p:cNvPr id="30" name="Shape 27"/>
          <p:cNvSpPr/>
          <p:nvPr/>
        </p:nvSpPr>
        <p:spPr>
          <a:xfrm flipV="1">
            <a:off x="9308592" y="1709928"/>
            <a:ext cx="1179576" cy="1014984"/>
          </a:xfrm>
          <a:prstGeom prst="line">
            <a:avLst/>
          </a:prstGeom>
          <a:noFill/>
          <a:ln w="19050">
            <a:solidFill>
              <a:srgbClr val="101828"/>
            </a:solidFill>
            <a:prstDash val="solid"/>
          </a:ln>
        </p:spPr>
      </p:sp>
      <p:sp>
        <p:nvSpPr>
          <p:cNvPr id="31" name="Shape 28"/>
          <p:cNvSpPr/>
          <p:nvPr/>
        </p:nvSpPr>
        <p:spPr>
          <a:xfrm>
            <a:off x="9308592" y="2724912"/>
            <a:ext cx="1545336" cy="82296"/>
          </a:xfrm>
          <a:prstGeom prst="line">
            <a:avLst/>
          </a:prstGeom>
          <a:noFill/>
          <a:ln w="19050">
            <a:solidFill>
              <a:srgbClr val="101828"/>
            </a:solidFill>
            <a:prstDash val="solid"/>
          </a:ln>
        </p:spPr>
      </p:sp>
      <p:sp>
        <p:nvSpPr>
          <p:cNvPr id="32" name="Shape 29"/>
          <p:cNvSpPr/>
          <p:nvPr/>
        </p:nvSpPr>
        <p:spPr>
          <a:xfrm>
            <a:off x="10488168" y="1709928"/>
            <a:ext cx="365760" cy="1097280"/>
          </a:xfrm>
          <a:prstGeom prst="line">
            <a:avLst/>
          </a:prstGeom>
          <a:noFill/>
          <a:ln w="19050">
            <a:solidFill>
              <a:srgbClr val="101828"/>
            </a:solidFill>
            <a:prstDash val="solid"/>
          </a:ln>
        </p:spPr>
      </p:sp>
      <p:sp>
        <p:nvSpPr>
          <p:cNvPr id="33" name="Shape 30"/>
          <p:cNvSpPr/>
          <p:nvPr/>
        </p:nvSpPr>
        <p:spPr>
          <a:xfrm>
            <a:off x="9006840" y="1600200"/>
            <a:ext cx="329184" cy="329184"/>
          </a:xfrm>
          <a:prstGeom prst="ellipse">
            <a:avLst/>
          </a:prstGeom>
          <a:solidFill>
            <a:srgbClr val="B42318"/>
          </a:solidFill>
          <a:ln w="12700">
            <a:solidFill>
              <a:srgbClr val="FFFFFF"/>
            </a:solidFill>
            <a:prstDash val="solid"/>
          </a:ln>
        </p:spPr>
      </p:sp>
      <p:sp>
        <p:nvSpPr>
          <p:cNvPr id="34" name="Text 31"/>
          <p:cNvSpPr txBox="1"/>
          <p:nvPr/>
        </p:nvSpPr>
        <p:spPr>
          <a:xfrm>
            <a:off x="8668512" y="1956816"/>
            <a:ext cx="1005840" cy="274320"/>
          </a:xfrm>
          <a:prstGeom prst="rect">
            <a:avLst/>
          </a:prstGeom>
          <a:noFill/>
          <a:ln/>
        </p:spPr>
        <p:txBody>
          <a:bodyPr wrap="square" lIns="0" tIns="0" rIns="0" bIns="0" rtlCol="0" anchor="t"/>
          <a:lstStyle/>
          <a:p>
            <a:pPr algn="ctr" indent="0" marL="0">
              <a:buNone/>
            </a:pPr>
            <a:r>
              <a:rPr lang="en-US" sz="750" b="1" dirty="0">
                <a:solidFill>
                  <a:srgbClr val="101828"/>
                </a:solidFill>
                <a:latin typeface="Inter" pitchFamily="34" charset="0"/>
                <a:ea typeface="Inter" pitchFamily="34" charset="-122"/>
                <a:cs typeface="Inter" pitchFamily="34" charset="-120"/>
              </a:rPr>
              <a:t>T0003</a:t>
            </a:r>
            <a:endParaRPr lang="en-US" sz="950" dirty="0"/>
          </a:p>
          <a:p>
            <a:pPr algn="ctr" indent="0" marL="0">
              <a:buNone/>
            </a:pPr>
            <a:r>
              <a:rPr lang="en-US" sz="700" dirty="0">
                <a:solidFill>
                  <a:srgbClr val="667085"/>
                </a:solidFill>
                <a:latin typeface="Inter" pitchFamily="34" charset="0"/>
                <a:ea typeface="Inter" pitchFamily="34" charset="-122"/>
                <a:cs typeface="Inter" pitchFamily="34" charset="-120"/>
              </a:rPr>
              <a:t>Indore · ₹2.0 L</a:t>
            </a:r>
            <a:endParaRPr lang="en-US" sz="950" dirty="0"/>
          </a:p>
        </p:txBody>
      </p:sp>
      <p:sp>
        <p:nvSpPr>
          <p:cNvPr id="35" name="Shape 32"/>
          <p:cNvSpPr/>
          <p:nvPr/>
        </p:nvSpPr>
        <p:spPr>
          <a:xfrm>
            <a:off x="10332720" y="1554480"/>
            <a:ext cx="310896" cy="310896"/>
          </a:xfrm>
          <a:prstGeom prst="ellipse">
            <a:avLst/>
          </a:prstGeom>
          <a:solidFill>
            <a:srgbClr val="B42318"/>
          </a:solidFill>
          <a:ln w="12700">
            <a:solidFill>
              <a:srgbClr val="FFFFFF"/>
            </a:solidFill>
            <a:prstDash val="solid"/>
          </a:ln>
        </p:spPr>
      </p:sp>
      <p:sp>
        <p:nvSpPr>
          <p:cNvPr id="36" name="Text 33"/>
          <p:cNvSpPr txBox="1"/>
          <p:nvPr/>
        </p:nvSpPr>
        <p:spPr>
          <a:xfrm>
            <a:off x="10698480" y="1572768"/>
            <a:ext cx="868680" cy="274320"/>
          </a:xfrm>
          <a:prstGeom prst="rect">
            <a:avLst/>
          </a:prstGeom>
          <a:noFill/>
          <a:ln/>
        </p:spPr>
        <p:txBody>
          <a:bodyPr wrap="square" lIns="0" tIns="0" rIns="0" bIns="0" rtlCol="0" anchor="t"/>
          <a:lstStyle/>
          <a:p>
            <a:pPr algn="l" indent="0" marL="0">
              <a:buNone/>
            </a:pPr>
            <a:r>
              <a:rPr lang="en-US" sz="750" b="1" dirty="0">
                <a:solidFill>
                  <a:srgbClr val="101828"/>
                </a:solidFill>
                <a:latin typeface="Inter" pitchFamily="34" charset="0"/>
                <a:ea typeface="Inter" pitchFamily="34" charset="-122"/>
                <a:cs typeface="Inter" pitchFamily="34" charset="-120"/>
              </a:rPr>
              <a:t>T0001</a:t>
            </a:r>
            <a:endParaRPr lang="en-US" sz="950" dirty="0"/>
          </a:p>
          <a:p>
            <a:pPr algn="l" indent="0" marL="0">
              <a:buNone/>
            </a:pPr>
            <a:r>
              <a:rPr lang="en-US" sz="700" dirty="0">
                <a:solidFill>
                  <a:srgbClr val="667085"/>
                </a:solidFill>
                <a:latin typeface="Inter" pitchFamily="34" charset="0"/>
                <a:ea typeface="Inter" pitchFamily="34" charset="-122"/>
                <a:cs typeface="Inter" pitchFamily="34" charset="-120"/>
              </a:rPr>
              <a:t>Pune · ₹1.5 L</a:t>
            </a:r>
            <a:endParaRPr lang="en-US" sz="950" dirty="0"/>
          </a:p>
        </p:txBody>
      </p:sp>
      <p:sp>
        <p:nvSpPr>
          <p:cNvPr id="37" name="Shape 34"/>
          <p:cNvSpPr/>
          <p:nvPr/>
        </p:nvSpPr>
        <p:spPr>
          <a:xfrm>
            <a:off x="9189720" y="2606040"/>
            <a:ext cx="237744" cy="237744"/>
          </a:xfrm>
          <a:prstGeom prst="ellipse">
            <a:avLst/>
          </a:prstGeom>
          <a:solidFill>
            <a:srgbClr val="C2570C"/>
          </a:solidFill>
          <a:ln w="12700">
            <a:solidFill>
              <a:srgbClr val="FFFFFF"/>
            </a:solidFill>
            <a:prstDash val="solid"/>
          </a:ln>
        </p:spPr>
      </p:sp>
      <p:sp>
        <p:nvSpPr>
          <p:cNvPr id="38" name="Text 35"/>
          <p:cNvSpPr txBox="1"/>
          <p:nvPr/>
        </p:nvSpPr>
        <p:spPr>
          <a:xfrm>
            <a:off x="8805672" y="2871216"/>
            <a:ext cx="1005840" cy="274320"/>
          </a:xfrm>
          <a:prstGeom prst="rect">
            <a:avLst/>
          </a:prstGeom>
          <a:noFill/>
          <a:ln/>
        </p:spPr>
        <p:txBody>
          <a:bodyPr wrap="square" lIns="0" tIns="0" rIns="0" bIns="0" rtlCol="0" anchor="t"/>
          <a:lstStyle/>
          <a:p>
            <a:pPr algn="ctr" indent="0" marL="0">
              <a:buNone/>
            </a:pPr>
            <a:r>
              <a:rPr lang="en-US" sz="750" b="1" dirty="0">
                <a:solidFill>
                  <a:srgbClr val="101828"/>
                </a:solidFill>
                <a:latin typeface="Inter" pitchFamily="34" charset="0"/>
                <a:ea typeface="Inter" pitchFamily="34" charset="-122"/>
                <a:cs typeface="Inter" pitchFamily="34" charset="-120"/>
              </a:rPr>
              <a:t>T0002</a:t>
            </a:r>
            <a:endParaRPr lang="en-US" sz="950" dirty="0"/>
          </a:p>
          <a:p>
            <a:pPr algn="ctr" indent="0" marL="0">
              <a:buNone/>
            </a:pPr>
            <a:r>
              <a:rPr lang="en-US" sz="700" dirty="0">
                <a:solidFill>
                  <a:srgbClr val="667085"/>
                </a:solidFill>
                <a:latin typeface="Inter" pitchFamily="34" charset="0"/>
                <a:ea typeface="Inter" pitchFamily="34" charset="-122"/>
                <a:cs typeface="Inter" pitchFamily="34" charset="-120"/>
              </a:rPr>
              <a:t>Nashik · ₹85K</a:t>
            </a:r>
            <a:endParaRPr lang="en-US" sz="950" dirty="0"/>
          </a:p>
        </p:txBody>
      </p:sp>
      <p:sp>
        <p:nvSpPr>
          <p:cNvPr id="39" name="Shape 36"/>
          <p:cNvSpPr/>
          <p:nvPr/>
        </p:nvSpPr>
        <p:spPr>
          <a:xfrm>
            <a:off x="10744200" y="2697480"/>
            <a:ext cx="219456" cy="219456"/>
          </a:xfrm>
          <a:prstGeom prst="roundRect">
            <a:avLst>
              <a:gd name="adj" fmla="val 16667"/>
            </a:avLst>
          </a:prstGeom>
          <a:solidFill>
            <a:srgbClr val="FFFFFF"/>
          </a:solidFill>
          <a:ln w="19050">
            <a:solidFill>
              <a:srgbClr val="667085"/>
            </a:solidFill>
            <a:prstDash val="solid"/>
          </a:ln>
        </p:spPr>
      </p:sp>
      <p:sp>
        <p:nvSpPr>
          <p:cNvPr id="40" name="Text 37"/>
          <p:cNvSpPr txBox="1"/>
          <p:nvPr/>
        </p:nvSpPr>
        <p:spPr>
          <a:xfrm>
            <a:off x="10351008" y="2944368"/>
            <a:ext cx="1005840" cy="274320"/>
          </a:xfrm>
          <a:prstGeom prst="rect">
            <a:avLst/>
          </a:prstGeom>
          <a:noFill/>
          <a:ln/>
        </p:spPr>
        <p:txBody>
          <a:bodyPr wrap="square" lIns="0" tIns="0" rIns="0" bIns="0" rtlCol="0" anchor="t"/>
          <a:lstStyle/>
          <a:p>
            <a:pPr algn="ctr" indent="0" marL="0">
              <a:buNone/>
            </a:pPr>
            <a:r>
              <a:rPr lang="en-US" sz="750" b="1" dirty="0">
                <a:solidFill>
                  <a:srgbClr val="101828"/>
                </a:solidFill>
                <a:latin typeface="Inter" pitchFamily="34" charset="0"/>
                <a:ea typeface="Inter" pitchFamily="34" charset="-122"/>
                <a:cs typeface="Inter" pitchFamily="34" charset="-120"/>
              </a:rPr>
              <a:t>T0004</a:t>
            </a:r>
            <a:endParaRPr lang="en-US" sz="950" dirty="0"/>
          </a:p>
          <a:p>
            <a:pPr algn="ctr" indent="0" marL="0">
              <a:buNone/>
            </a:pPr>
            <a:r>
              <a:rPr lang="en-US" sz="700" dirty="0">
                <a:solidFill>
                  <a:srgbClr val="667085"/>
                </a:solidFill>
                <a:latin typeface="Inter" pitchFamily="34" charset="0"/>
                <a:ea typeface="Inter" pitchFamily="34" charset="-122"/>
                <a:cs typeface="Inter" pitchFamily="34" charset="-120"/>
              </a:rPr>
              <a:t>Pune · recording</a:t>
            </a:r>
            <a:endParaRPr lang="en-US" sz="950" dirty="0"/>
          </a:p>
        </p:txBody>
      </p:sp>
      <p:sp>
        <p:nvSpPr>
          <p:cNvPr id="41" name="Shape 38"/>
          <p:cNvSpPr/>
          <p:nvPr/>
        </p:nvSpPr>
        <p:spPr>
          <a:xfrm>
            <a:off x="8641080" y="3364992"/>
            <a:ext cx="274320" cy="914"/>
          </a:xfrm>
          <a:prstGeom prst="line">
            <a:avLst/>
          </a:prstGeom>
          <a:noFill/>
          <a:ln w="19050">
            <a:solidFill>
              <a:srgbClr val="101828"/>
            </a:solidFill>
            <a:prstDash val="solid"/>
          </a:ln>
        </p:spPr>
      </p:sp>
      <p:sp>
        <p:nvSpPr>
          <p:cNvPr id="42" name="Text 39"/>
          <p:cNvSpPr txBox="1"/>
          <p:nvPr/>
        </p:nvSpPr>
        <p:spPr>
          <a:xfrm>
            <a:off x="8961120" y="3291840"/>
            <a:ext cx="914400" cy="146304"/>
          </a:xfrm>
          <a:prstGeom prst="rect">
            <a:avLst/>
          </a:prstGeom>
          <a:noFill/>
          <a:ln/>
        </p:spPr>
        <p:txBody>
          <a:bodyPr wrap="square" lIns="0" tIns="0" rIns="0" bIns="0" rtlCol="0" anchor="t"/>
          <a:lstStyle/>
          <a:p>
            <a:pPr indent="0" marL="0">
              <a:buNone/>
            </a:pPr>
            <a:r>
              <a:rPr lang="en-US" sz="680" dirty="0">
                <a:solidFill>
                  <a:srgbClr val="475467"/>
                </a:solidFill>
                <a:latin typeface="Inter" pitchFamily="34" charset="0"/>
                <a:ea typeface="Inter" pitchFamily="34" charset="-122"/>
                <a:cs typeface="Inter" pitchFamily="34" charset="-120"/>
              </a:rPr>
              <a:t>shared identifier</a:t>
            </a:r>
            <a:endParaRPr lang="en-US" sz="680" dirty="0"/>
          </a:p>
        </p:txBody>
      </p:sp>
      <p:sp>
        <p:nvSpPr>
          <p:cNvPr id="43" name="Shape 40"/>
          <p:cNvSpPr/>
          <p:nvPr/>
        </p:nvSpPr>
        <p:spPr>
          <a:xfrm>
            <a:off x="9921240" y="3300984"/>
            <a:ext cx="128016" cy="128016"/>
          </a:xfrm>
          <a:prstGeom prst="ellipse">
            <a:avLst/>
          </a:prstGeom>
          <a:solidFill>
            <a:srgbClr val="B42318"/>
          </a:solidFill>
          <a:ln w="12700">
            <a:solidFill>
              <a:srgbClr val="B42318"/>
            </a:solidFill>
            <a:prstDash val="solid"/>
          </a:ln>
        </p:spPr>
      </p:sp>
      <p:sp>
        <p:nvSpPr>
          <p:cNvPr id="44" name="Text 41"/>
          <p:cNvSpPr txBox="1"/>
          <p:nvPr/>
        </p:nvSpPr>
        <p:spPr>
          <a:xfrm>
            <a:off x="10104120" y="3291840"/>
            <a:ext cx="731520" cy="146304"/>
          </a:xfrm>
          <a:prstGeom prst="rect">
            <a:avLst/>
          </a:prstGeom>
          <a:noFill/>
          <a:ln/>
        </p:spPr>
        <p:txBody>
          <a:bodyPr wrap="square" lIns="0" tIns="0" rIns="0" bIns="0" rtlCol="0" anchor="t"/>
          <a:lstStyle/>
          <a:p>
            <a:pPr indent="0" marL="0">
              <a:buNone/>
            </a:pPr>
            <a:r>
              <a:rPr lang="en-US" sz="680" dirty="0">
                <a:solidFill>
                  <a:srgbClr val="475467"/>
                </a:solidFill>
                <a:latin typeface="Inter" pitchFamily="34" charset="0"/>
                <a:ea typeface="Inter" pitchFamily="34" charset="-122"/>
                <a:cs typeface="Inter" pitchFamily="34" charset="-120"/>
              </a:rPr>
              <a:t>victim report</a:t>
            </a:r>
            <a:endParaRPr lang="en-US" sz="680" dirty="0"/>
          </a:p>
        </p:txBody>
      </p:sp>
      <p:sp>
        <p:nvSpPr>
          <p:cNvPr id="45" name="Shape 42"/>
          <p:cNvSpPr/>
          <p:nvPr/>
        </p:nvSpPr>
        <p:spPr>
          <a:xfrm>
            <a:off x="10881360" y="3300984"/>
            <a:ext cx="128016" cy="128016"/>
          </a:xfrm>
          <a:prstGeom prst="roundRect">
            <a:avLst>
              <a:gd name="adj" fmla="val 14286"/>
            </a:avLst>
          </a:prstGeom>
          <a:solidFill>
            <a:srgbClr val="FFFFFF"/>
          </a:solidFill>
          <a:ln w="12700">
            <a:solidFill>
              <a:srgbClr val="667085"/>
            </a:solidFill>
            <a:prstDash val="solid"/>
          </a:ln>
        </p:spPr>
      </p:sp>
      <p:sp>
        <p:nvSpPr>
          <p:cNvPr id="46" name="Text 43"/>
          <p:cNvSpPr txBox="1"/>
          <p:nvPr/>
        </p:nvSpPr>
        <p:spPr>
          <a:xfrm>
            <a:off x="11064240" y="3291840"/>
            <a:ext cx="731520" cy="146304"/>
          </a:xfrm>
          <a:prstGeom prst="rect">
            <a:avLst/>
          </a:prstGeom>
          <a:noFill/>
          <a:ln/>
        </p:spPr>
        <p:txBody>
          <a:bodyPr wrap="square" lIns="0" tIns="0" rIns="0" bIns="0" rtlCol="0" anchor="t"/>
          <a:lstStyle/>
          <a:p>
            <a:pPr indent="0" marL="0">
              <a:buNone/>
            </a:pPr>
            <a:r>
              <a:rPr lang="en-US" sz="680" dirty="0">
                <a:solidFill>
                  <a:srgbClr val="475467"/>
                </a:solidFill>
                <a:latin typeface="Inter" pitchFamily="34" charset="0"/>
                <a:ea typeface="Inter" pitchFamily="34" charset="-122"/>
                <a:cs typeface="Inter" pitchFamily="34" charset="-120"/>
              </a:rPr>
              <a:t>recording</a:t>
            </a:r>
            <a:endParaRPr lang="en-US" sz="680" dirty="0"/>
          </a:p>
        </p:txBody>
      </p:sp>
      <p:sp>
        <p:nvSpPr>
          <p:cNvPr id="47" name="Text 44"/>
          <p:cNvSpPr txBox="1"/>
          <p:nvPr/>
        </p:nvSpPr>
        <p:spPr>
          <a:xfrm>
            <a:off x="8641080" y="3474720"/>
            <a:ext cx="3108960" cy="310896"/>
          </a:xfrm>
          <a:prstGeom prst="rect">
            <a:avLst/>
          </a:prstGeom>
          <a:noFill/>
          <a:ln/>
        </p:spPr>
        <p:txBody>
          <a:bodyPr wrap="square" lIns="0" tIns="0" rIns="0" bIns="0" rtlCol="0" anchor="t"/>
          <a:lstStyle/>
          <a:p>
            <a:pPr indent="0" marL="0">
              <a:buNone/>
            </a:pPr>
            <a:r>
              <a:rPr lang="en-US" sz="700" i="1" dirty="0">
                <a:solidFill>
                  <a:srgbClr val="667085"/>
                </a:solidFill>
                <a:latin typeface="Inter" pitchFamily="34" charset="0"/>
                <a:ea typeface="Inter" pitchFamily="34" charset="-122"/>
                <a:cs typeface="Inter" pitchFamily="34" charset="-120"/>
              </a:rPr>
              <a:t>RING-T0001 (training data): 4 cases, 3 districts, ₹4.3 L, linked by 9876543210 and cbi.verification@ybl; 4 links waiting for officer review.</a:t>
            </a:r>
            <a:endParaRPr lang="en-US" sz="700" dirty="0"/>
          </a:p>
        </p:txBody>
      </p:sp>
      <p:sp>
        <p:nvSpPr>
          <p:cNvPr id="48" name="Shape 45"/>
          <p:cNvSpPr/>
          <p:nvPr/>
        </p:nvSpPr>
        <p:spPr>
          <a:xfrm>
            <a:off x="8503920" y="3904488"/>
            <a:ext cx="3383280" cy="2350008"/>
          </a:xfrm>
          <a:prstGeom prst="roundRect">
            <a:avLst>
              <a:gd name="adj" fmla="val 2335"/>
            </a:avLst>
          </a:prstGeom>
          <a:solidFill>
            <a:srgbClr val="FFFFFF"/>
          </a:solidFill>
          <a:ln w="9525">
            <a:solidFill>
              <a:srgbClr val="E4E7EC"/>
            </a:solidFill>
            <a:prstDash val="solid"/>
          </a:ln>
        </p:spPr>
      </p:sp>
      <p:sp>
        <p:nvSpPr>
          <p:cNvPr id="49" name="Text 46"/>
          <p:cNvSpPr txBox="1"/>
          <p:nvPr/>
        </p:nvSpPr>
        <p:spPr>
          <a:xfrm>
            <a:off x="8641080" y="3977640"/>
            <a:ext cx="1463040" cy="228600"/>
          </a:xfrm>
          <a:prstGeom prst="rect">
            <a:avLst/>
          </a:prstGeom>
          <a:noFill/>
          <a:ln/>
        </p:spPr>
        <p:txBody>
          <a:bodyPr wrap="square" lIns="0" tIns="0" rIns="0" bIns="0" rtlCol="0" anchor="t"/>
          <a:lstStyle/>
          <a:p>
            <a:pPr indent="0" marL="0">
              <a:buNone/>
            </a:pPr>
            <a:r>
              <a:rPr lang="en-US" sz="950" b="1" dirty="0">
                <a:solidFill>
                  <a:srgbClr val="667085"/>
                </a:solidFill>
                <a:latin typeface="Inter" pitchFamily="34" charset="0"/>
                <a:ea typeface="Inter" pitchFamily="34" charset="-122"/>
                <a:cs typeface="Inter" pitchFamily="34" charset="-120"/>
              </a:rPr>
              <a:t>Today</a:t>
            </a:r>
            <a:endParaRPr lang="en-US" sz="950" dirty="0"/>
          </a:p>
        </p:txBody>
      </p:sp>
      <p:sp>
        <p:nvSpPr>
          <p:cNvPr id="50" name="Text 47"/>
          <p:cNvSpPr txBox="1"/>
          <p:nvPr/>
        </p:nvSpPr>
        <p:spPr>
          <a:xfrm>
            <a:off x="10287000" y="3977640"/>
            <a:ext cx="1463040" cy="228600"/>
          </a:xfrm>
          <a:prstGeom prst="rect">
            <a:avLst/>
          </a:prstGeom>
          <a:noFill/>
          <a:ln/>
        </p:spPr>
        <p:txBody>
          <a:bodyPr wrap="square" lIns="0" tIns="0" rIns="0" bIns="0" rtlCol="0" anchor="t"/>
          <a:lstStyle/>
          <a:p>
            <a:pPr indent="0" marL="0">
              <a:buNone/>
            </a:pPr>
            <a:r>
              <a:rPr lang="en-US" sz="950" b="1" dirty="0">
                <a:solidFill>
                  <a:srgbClr val="C2570C"/>
                </a:solidFill>
                <a:latin typeface="Inter" pitchFamily="34" charset="0"/>
                <a:ea typeface="Inter" pitchFamily="34" charset="-122"/>
                <a:cs typeface="Inter" pitchFamily="34" charset="-120"/>
              </a:rPr>
              <a:t>With ANVESH</a:t>
            </a:r>
            <a:endParaRPr lang="en-US" sz="950" dirty="0"/>
          </a:p>
        </p:txBody>
      </p:sp>
      <p:sp>
        <p:nvSpPr>
          <p:cNvPr id="51" name="Shape 48"/>
          <p:cNvSpPr/>
          <p:nvPr/>
        </p:nvSpPr>
        <p:spPr>
          <a:xfrm>
            <a:off x="8613648" y="4242816"/>
            <a:ext cx="1481328" cy="347472"/>
          </a:xfrm>
          <a:prstGeom prst="roundRect">
            <a:avLst>
              <a:gd name="adj" fmla="val 15789"/>
            </a:avLst>
          </a:prstGeom>
          <a:solidFill>
            <a:srgbClr val="F6F7F9"/>
          </a:solidFill>
          <a:ln w="9525">
            <a:solidFill>
              <a:srgbClr val="F6F7F9"/>
            </a:solidFill>
            <a:prstDash val="solid"/>
          </a:ln>
        </p:spPr>
      </p:sp>
      <p:sp>
        <p:nvSpPr>
          <p:cNvPr id="52" name="Text 49"/>
          <p:cNvSpPr txBox="1"/>
          <p:nvPr/>
        </p:nvSpPr>
        <p:spPr>
          <a:xfrm>
            <a:off x="8668512" y="4242816"/>
            <a:ext cx="1389888" cy="347472"/>
          </a:xfrm>
          <a:prstGeom prst="rect">
            <a:avLst/>
          </a:prstGeom>
          <a:noFill/>
          <a:ln/>
        </p:spPr>
        <p:txBody>
          <a:bodyPr wrap="square" lIns="0" tIns="0" rIns="0" bIns="0" rtlCol="0" anchor="ctr"/>
          <a:lstStyle/>
          <a:p>
            <a:pPr indent="0" marL="0">
              <a:buNone/>
            </a:pPr>
            <a:r>
              <a:rPr lang="en-US" sz="740" dirty="0">
                <a:solidFill>
                  <a:srgbClr val="475467"/>
                </a:solidFill>
                <a:latin typeface="Inter" pitchFamily="34" charset="0"/>
                <a:ea typeface="Inter" pitchFamily="34" charset="-122"/>
                <a:cs typeface="Inter" pitchFamily="34" charset="-120"/>
              </a:rPr>
              <a:t>Officer types while listening</a:t>
            </a:r>
            <a:endParaRPr lang="en-US" sz="740" dirty="0"/>
          </a:p>
        </p:txBody>
      </p:sp>
      <p:sp>
        <p:nvSpPr>
          <p:cNvPr id="53" name="Shape 50"/>
          <p:cNvSpPr/>
          <p:nvPr/>
        </p:nvSpPr>
        <p:spPr>
          <a:xfrm>
            <a:off x="10113264" y="4416552"/>
            <a:ext cx="128016" cy="914"/>
          </a:xfrm>
          <a:prstGeom prst="line">
            <a:avLst/>
          </a:prstGeom>
          <a:noFill/>
          <a:ln w="15875">
            <a:solidFill>
              <a:srgbClr val="F97A0F"/>
            </a:solidFill>
            <a:prstDash val="solid"/>
            <a:tailEnd type="triangle"/>
          </a:ln>
        </p:spPr>
      </p:sp>
      <p:sp>
        <p:nvSpPr>
          <p:cNvPr id="54" name="Shape 51"/>
          <p:cNvSpPr/>
          <p:nvPr/>
        </p:nvSpPr>
        <p:spPr>
          <a:xfrm>
            <a:off x="10259568" y="4242816"/>
            <a:ext cx="1517904" cy="347472"/>
          </a:xfrm>
          <a:prstGeom prst="roundRect">
            <a:avLst>
              <a:gd name="adj" fmla="val 15789"/>
            </a:avLst>
          </a:prstGeom>
          <a:solidFill>
            <a:srgbClr val="FFF4EA"/>
          </a:solidFill>
          <a:ln w="9525">
            <a:solidFill>
              <a:srgbClr val="FDD4AE"/>
            </a:solidFill>
            <a:prstDash val="solid"/>
          </a:ln>
        </p:spPr>
      </p:sp>
      <p:sp>
        <p:nvSpPr>
          <p:cNvPr id="55" name="Text 52"/>
          <p:cNvSpPr txBox="1"/>
          <p:nvPr/>
        </p:nvSpPr>
        <p:spPr>
          <a:xfrm>
            <a:off x="10314432" y="4242816"/>
            <a:ext cx="1426464" cy="347472"/>
          </a:xfrm>
          <a:prstGeom prst="rect">
            <a:avLst/>
          </a:prstGeom>
          <a:noFill/>
          <a:ln/>
        </p:spPr>
        <p:txBody>
          <a:bodyPr wrap="square" lIns="0" tIns="0" rIns="0" bIns="0" rtlCol="0" anchor="ctr"/>
          <a:lstStyle/>
          <a:p>
            <a:pPr indent="0" marL="0">
              <a:buNone/>
            </a:pPr>
            <a:r>
              <a:rPr lang="en-US" sz="740" b="1" dirty="0">
                <a:solidFill>
                  <a:srgbClr val="101828"/>
                </a:solidFill>
                <a:latin typeface="Inter" pitchFamily="34" charset="0"/>
                <a:ea typeface="Inter" pitchFamily="34" charset="-122"/>
                <a:cs typeface="Inter" pitchFamily="34" charset="-120"/>
              </a:rPr>
              <a:t>Facts captured as the caller speaks</a:t>
            </a:r>
            <a:endParaRPr lang="en-US" sz="740" dirty="0"/>
          </a:p>
        </p:txBody>
      </p:sp>
      <p:sp>
        <p:nvSpPr>
          <p:cNvPr id="56" name="Shape 53"/>
          <p:cNvSpPr/>
          <p:nvPr/>
        </p:nvSpPr>
        <p:spPr>
          <a:xfrm>
            <a:off x="8613648" y="4636008"/>
            <a:ext cx="1481328" cy="347472"/>
          </a:xfrm>
          <a:prstGeom prst="roundRect">
            <a:avLst>
              <a:gd name="adj" fmla="val 15789"/>
            </a:avLst>
          </a:prstGeom>
          <a:solidFill>
            <a:srgbClr val="F6F7F9"/>
          </a:solidFill>
          <a:ln w="9525">
            <a:solidFill>
              <a:srgbClr val="F6F7F9"/>
            </a:solidFill>
            <a:prstDash val="solid"/>
          </a:ln>
        </p:spPr>
      </p:sp>
      <p:sp>
        <p:nvSpPr>
          <p:cNvPr id="57" name="Text 54"/>
          <p:cNvSpPr txBox="1"/>
          <p:nvPr/>
        </p:nvSpPr>
        <p:spPr>
          <a:xfrm>
            <a:off x="8668512" y="4636008"/>
            <a:ext cx="1389888" cy="347472"/>
          </a:xfrm>
          <a:prstGeom prst="rect">
            <a:avLst/>
          </a:prstGeom>
          <a:noFill/>
          <a:ln/>
        </p:spPr>
        <p:txBody>
          <a:bodyPr wrap="square" lIns="0" tIns="0" rIns="0" bIns="0" rtlCol="0" anchor="ctr"/>
          <a:lstStyle/>
          <a:p>
            <a:pPr indent="0" marL="0">
              <a:buNone/>
            </a:pPr>
            <a:r>
              <a:rPr lang="en-US" sz="740" dirty="0">
                <a:solidFill>
                  <a:srgbClr val="475467"/>
                </a:solidFill>
                <a:latin typeface="Inter" pitchFamily="34" charset="0"/>
                <a:ea typeface="Inter" pitchFamily="34" charset="-122"/>
                <a:cs typeface="Inter" pitchFamily="34" charset="-120"/>
              </a:rPr>
              <a:t>Urgency felt, not written down</a:t>
            </a:r>
            <a:endParaRPr lang="en-US" sz="740" dirty="0"/>
          </a:p>
        </p:txBody>
      </p:sp>
      <p:sp>
        <p:nvSpPr>
          <p:cNvPr id="58" name="Shape 55"/>
          <p:cNvSpPr/>
          <p:nvPr/>
        </p:nvSpPr>
        <p:spPr>
          <a:xfrm>
            <a:off x="10113264" y="4809744"/>
            <a:ext cx="128016" cy="914"/>
          </a:xfrm>
          <a:prstGeom prst="line">
            <a:avLst/>
          </a:prstGeom>
          <a:noFill/>
          <a:ln w="15875">
            <a:solidFill>
              <a:srgbClr val="F97A0F"/>
            </a:solidFill>
            <a:prstDash val="solid"/>
            <a:tailEnd type="triangle"/>
          </a:ln>
        </p:spPr>
      </p:sp>
      <p:sp>
        <p:nvSpPr>
          <p:cNvPr id="59" name="Shape 56"/>
          <p:cNvSpPr/>
          <p:nvPr/>
        </p:nvSpPr>
        <p:spPr>
          <a:xfrm>
            <a:off x="10259568" y="4636008"/>
            <a:ext cx="1517904" cy="347472"/>
          </a:xfrm>
          <a:prstGeom prst="roundRect">
            <a:avLst>
              <a:gd name="adj" fmla="val 15789"/>
            </a:avLst>
          </a:prstGeom>
          <a:solidFill>
            <a:srgbClr val="FFF4EA"/>
          </a:solidFill>
          <a:ln w="9525">
            <a:solidFill>
              <a:srgbClr val="FDD4AE"/>
            </a:solidFill>
            <a:prstDash val="solid"/>
          </a:ln>
        </p:spPr>
      </p:sp>
      <p:sp>
        <p:nvSpPr>
          <p:cNvPr id="60" name="Text 57"/>
          <p:cNvSpPr txBox="1"/>
          <p:nvPr/>
        </p:nvSpPr>
        <p:spPr>
          <a:xfrm>
            <a:off x="10314432" y="4636008"/>
            <a:ext cx="1426464" cy="347472"/>
          </a:xfrm>
          <a:prstGeom prst="rect">
            <a:avLst/>
          </a:prstGeom>
          <a:noFill/>
          <a:ln/>
        </p:spPr>
        <p:txBody>
          <a:bodyPr wrap="square" lIns="0" tIns="0" rIns="0" bIns="0" rtlCol="0" anchor="ctr"/>
          <a:lstStyle/>
          <a:p>
            <a:pPr indent="0" marL="0">
              <a:buNone/>
            </a:pPr>
            <a:r>
              <a:rPr lang="en-US" sz="740" b="1" dirty="0">
                <a:solidFill>
                  <a:srgbClr val="101828"/>
                </a:solidFill>
                <a:latin typeface="Inter" pitchFamily="34" charset="0"/>
                <a:ea typeface="Inter" pitchFamily="34" charset="-122"/>
                <a:cs typeface="Inter" pitchFamily="34" charset="-120"/>
              </a:rPr>
              <a:t>Priority with the reasons shown</a:t>
            </a:r>
            <a:endParaRPr lang="en-US" sz="740" dirty="0"/>
          </a:p>
        </p:txBody>
      </p:sp>
      <p:sp>
        <p:nvSpPr>
          <p:cNvPr id="61" name="Shape 58"/>
          <p:cNvSpPr/>
          <p:nvPr/>
        </p:nvSpPr>
        <p:spPr>
          <a:xfrm>
            <a:off x="8613648" y="5029200"/>
            <a:ext cx="1481328" cy="347472"/>
          </a:xfrm>
          <a:prstGeom prst="roundRect">
            <a:avLst>
              <a:gd name="adj" fmla="val 15789"/>
            </a:avLst>
          </a:prstGeom>
          <a:solidFill>
            <a:srgbClr val="F6F7F9"/>
          </a:solidFill>
          <a:ln w="9525">
            <a:solidFill>
              <a:srgbClr val="F6F7F9"/>
            </a:solidFill>
            <a:prstDash val="solid"/>
          </a:ln>
        </p:spPr>
      </p:sp>
      <p:sp>
        <p:nvSpPr>
          <p:cNvPr id="62" name="Text 59"/>
          <p:cNvSpPr txBox="1"/>
          <p:nvPr/>
        </p:nvSpPr>
        <p:spPr>
          <a:xfrm>
            <a:off x="8668512" y="5029200"/>
            <a:ext cx="1389888" cy="347472"/>
          </a:xfrm>
          <a:prstGeom prst="rect">
            <a:avLst/>
          </a:prstGeom>
          <a:noFill/>
          <a:ln/>
        </p:spPr>
        <p:txBody>
          <a:bodyPr wrap="square" lIns="0" tIns="0" rIns="0" bIns="0" rtlCol="0" anchor="ctr"/>
          <a:lstStyle/>
          <a:p>
            <a:pPr indent="0" marL="0">
              <a:buNone/>
            </a:pPr>
            <a:r>
              <a:rPr lang="en-US" sz="740" dirty="0">
                <a:solidFill>
                  <a:srgbClr val="475467"/>
                </a:solidFill>
                <a:latin typeface="Inter" pitchFamily="34" charset="0"/>
                <a:ea typeface="Inter" pitchFamily="34" charset="-122"/>
                <a:cs typeface="Inter" pitchFamily="34" charset="-120"/>
              </a:rPr>
              <a:t>Hidden coercion can be missed</a:t>
            </a:r>
            <a:endParaRPr lang="en-US" sz="740" dirty="0"/>
          </a:p>
        </p:txBody>
      </p:sp>
      <p:sp>
        <p:nvSpPr>
          <p:cNvPr id="63" name="Shape 60"/>
          <p:cNvSpPr/>
          <p:nvPr/>
        </p:nvSpPr>
        <p:spPr>
          <a:xfrm>
            <a:off x="10113264" y="5202936"/>
            <a:ext cx="128016" cy="914"/>
          </a:xfrm>
          <a:prstGeom prst="line">
            <a:avLst/>
          </a:prstGeom>
          <a:noFill/>
          <a:ln w="15875">
            <a:solidFill>
              <a:srgbClr val="F97A0F"/>
            </a:solidFill>
            <a:prstDash val="solid"/>
            <a:tailEnd type="triangle"/>
          </a:ln>
        </p:spPr>
      </p:sp>
      <p:sp>
        <p:nvSpPr>
          <p:cNvPr id="64" name="Shape 61"/>
          <p:cNvSpPr/>
          <p:nvPr/>
        </p:nvSpPr>
        <p:spPr>
          <a:xfrm>
            <a:off x="10259568" y="5029200"/>
            <a:ext cx="1517904" cy="347472"/>
          </a:xfrm>
          <a:prstGeom prst="roundRect">
            <a:avLst>
              <a:gd name="adj" fmla="val 15789"/>
            </a:avLst>
          </a:prstGeom>
          <a:solidFill>
            <a:srgbClr val="FFF4EA"/>
          </a:solidFill>
          <a:ln w="9525">
            <a:solidFill>
              <a:srgbClr val="FDD4AE"/>
            </a:solidFill>
            <a:prstDash val="solid"/>
          </a:ln>
        </p:spPr>
      </p:sp>
      <p:sp>
        <p:nvSpPr>
          <p:cNvPr id="65" name="Text 62"/>
          <p:cNvSpPr txBox="1"/>
          <p:nvPr/>
        </p:nvSpPr>
        <p:spPr>
          <a:xfrm>
            <a:off x="10314432" y="5029200"/>
            <a:ext cx="1426464" cy="347472"/>
          </a:xfrm>
          <a:prstGeom prst="rect">
            <a:avLst/>
          </a:prstGeom>
          <a:noFill/>
          <a:ln/>
        </p:spPr>
        <p:txBody>
          <a:bodyPr wrap="square" lIns="0" tIns="0" rIns="0" bIns="0" rtlCol="0" anchor="ctr"/>
          <a:lstStyle/>
          <a:p>
            <a:pPr indent="0" marL="0">
              <a:buNone/>
            </a:pPr>
            <a:r>
              <a:rPr lang="en-US" sz="740" b="1" dirty="0">
                <a:solidFill>
                  <a:srgbClr val="101828"/>
                </a:solidFill>
                <a:latin typeface="Inter" pitchFamily="34" charset="0"/>
                <a:ea typeface="Inter" pitchFamily="34" charset="-122"/>
                <a:cs typeface="Inter" pitchFamily="34" charset="-120"/>
              </a:rPr>
              <a:t>Coercion alert with the quoted words</a:t>
            </a:r>
            <a:endParaRPr lang="en-US" sz="740" dirty="0"/>
          </a:p>
        </p:txBody>
      </p:sp>
      <p:sp>
        <p:nvSpPr>
          <p:cNvPr id="66" name="Shape 63"/>
          <p:cNvSpPr/>
          <p:nvPr/>
        </p:nvSpPr>
        <p:spPr>
          <a:xfrm>
            <a:off x="8613648" y="5422392"/>
            <a:ext cx="1481328" cy="347472"/>
          </a:xfrm>
          <a:prstGeom prst="roundRect">
            <a:avLst>
              <a:gd name="adj" fmla="val 15789"/>
            </a:avLst>
          </a:prstGeom>
          <a:solidFill>
            <a:srgbClr val="F6F7F9"/>
          </a:solidFill>
          <a:ln w="9525">
            <a:solidFill>
              <a:srgbClr val="F6F7F9"/>
            </a:solidFill>
            <a:prstDash val="solid"/>
          </a:ln>
        </p:spPr>
      </p:sp>
      <p:sp>
        <p:nvSpPr>
          <p:cNvPr id="67" name="Text 64"/>
          <p:cNvSpPr txBox="1"/>
          <p:nvPr/>
        </p:nvSpPr>
        <p:spPr>
          <a:xfrm>
            <a:off x="8668512" y="5422392"/>
            <a:ext cx="1389888" cy="347472"/>
          </a:xfrm>
          <a:prstGeom prst="rect">
            <a:avLst/>
          </a:prstGeom>
          <a:noFill/>
          <a:ln/>
        </p:spPr>
        <p:txBody>
          <a:bodyPr wrap="square" lIns="0" tIns="0" rIns="0" bIns="0" rtlCol="0" anchor="ctr"/>
          <a:lstStyle/>
          <a:p>
            <a:pPr indent="0" marL="0">
              <a:buNone/>
            </a:pPr>
            <a:r>
              <a:rPr lang="en-US" sz="740" dirty="0">
                <a:solidFill>
                  <a:srgbClr val="475467"/>
                </a:solidFill>
                <a:latin typeface="Inter" pitchFamily="34" charset="0"/>
                <a:ea typeface="Inter" pitchFamily="34" charset="-122"/>
                <a:cs typeface="Inter" pitchFamily="34" charset="-120"/>
              </a:rPr>
              <a:t>Each complaint stands alone</a:t>
            </a:r>
            <a:endParaRPr lang="en-US" sz="740" dirty="0"/>
          </a:p>
        </p:txBody>
      </p:sp>
      <p:sp>
        <p:nvSpPr>
          <p:cNvPr id="68" name="Shape 65"/>
          <p:cNvSpPr/>
          <p:nvPr/>
        </p:nvSpPr>
        <p:spPr>
          <a:xfrm>
            <a:off x="10113264" y="5596128"/>
            <a:ext cx="128016" cy="914"/>
          </a:xfrm>
          <a:prstGeom prst="line">
            <a:avLst/>
          </a:prstGeom>
          <a:noFill/>
          <a:ln w="15875">
            <a:solidFill>
              <a:srgbClr val="F97A0F"/>
            </a:solidFill>
            <a:prstDash val="solid"/>
            <a:tailEnd type="triangle"/>
          </a:ln>
        </p:spPr>
      </p:sp>
      <p:sp>
        <p:nvSpPr>
          <p:cNvPr id="69" name="Shape 66"/>
          <p:cNvSpPr/>
          <p:nvPr/>
        </p:nvSpPr>
        <p:spPr>
          <a:xfrm>
            <a:off x="10259568" y="5422392"/>
            <a:ext cx="1517904" cy="347472"/>
          </a:xfrm>
          <a:prstGeom prst="roundRect">
            <a:avLst>
              <a:gd name="adj" fmla="val 15789"/>
            </a:avLst>
          </a:prstGeom>
          <a:solidFill>
            <a:srgbClr val="FFF4EA"/>
          </a:solidFill>
          <a:ln w="9525">
            <a:solidFill>
              <a:srgbClr val="FDD4AE"/>
            </a:solidFill>
            <a:prstDash val="solid"/>
          </a:ln>
        </p:spPr>
      </p:sp>
      <p:sp>
        <p:nvSpPr>
          <p:cNvPr id="70" name="Text 67"/>
          <p:cNvSpPr txBox="1"/>
          <p:nvPr/>
        </p:nvSpPr>
        <p:spPr>
          <a:xfrm>
            <a:off x="10314432" y="5422392"/>
            <a:ext cx="1426464" cy="347472"/>
          </a:xfrm>
          <a:prstGeom prst="rect">
            <a:avLst/>
          </a:prstGeom>
          <a:noFill/>
          <a:ln/>
        </p:spPr>
        <p:txBody>
          <a:bodyPr wrap="square" lIns="0" tIns="0" rIns="0" bIns="0" rtlCol="0" anchor="ctr"/>
          <a:lstStyle/>
          <a:p>
            <a:pPr indent="0" marL="0">
              <a:buNone/>
            </a:pPr>
            <a:r>
              <a:rPr lang="en-US" sz="740" b="1" dirty="0">
                <a:solidFill>
                  <a:srgbClr val="101828"/>
                </a:solidFill>
                <a:latin typeface="Inter" pitchFamily="34" charset="0"/>
                <a:ea typeface="Inter" pitchFamily="34" charset="-122"/>
                <a:cs typeface="Inter" pitchFamily="34" charset="-120"/>
              </a:rPr>
              <a:t>Linked to earlier cases as rings</a:t>
            </a:r>
            <a:endParaRPr lang="en-US" sz="740" dirty="0"/>
          </a:p>
        </p:txBody>
      </p:sp>
      <p:sp>
        <p:nvSpPr>
          <p:cNvPr id="71" name="Shape 68"/>
          <p:cNvSpPr/>
          <p:nvPr/>
        </p:nvSpPr>
        <p:spPr>
          <a:xfrm>
            <a:off x="8613648" y="5815584"/>
            <a:ext cx="1481328" cy="347472"/>
          </a:xfrm>
          <a:prstGeom prst="roundRect">
            <a:avLst>
              <a:gd name="adj" fmla="val 15789"/>
            </a:avLst>
          </a:prstGeom>
          <a:solidFill>
            <a:srgbClr val="F6F7F9"/>
          </a:solidFill>
          <a:ln w="9525">
            <a:solidFill>
              <a:srgbClr val="F6F7F9"/>
            </a:solidFill>
            <a:prstDash val="solid"/>
          </a:ln>
        </p:spPr>
      </p:sp>
      <p:sp>
        <p:nvSpPr>
          <p:cNvPr id="72" name="Text 69"/>
          <p:cNvSpPr txBox="1"/>
          <p:nvPr/>
        </p:nvSpPr>
        <p:spPr>
          <a:xfrm>
            <a:off x="8668512" y="5815584"/>
            <a:ext cx="1389888" cy="347472"/>
          </a:xfrm>
          <a:prstGeom prst="rect">
            <a:avLst/>
          </a:prstGeom>
          <a:noFill/>
          <a:ln/>
        </p:spPr>
        <p:txBody>
          <a:bodyPr wrap="square" lIns="0" tIns="0" rIns="0" bIns="0" rtlCol="0" anchor="ctr"/>
          <a:lstStyle/>
          <a:p>
            <a:pPr indent="0" marL="0">
              <a:buNone/>
            </a:pPr>
            <a:r>
              <a:rPr lang="en-US" sz="740" dirty="0">
                <a:solidFill>
                  <a:srgbClr val="475467"/>
                </a:solidFill>
                <a:latin typeface="Inter" pitchFamily="34" charset="0"/>
                <a:ea typeface="Inter" pitchFamily="34" charset="-122"/>
                <a:cs typeface="Inter" pitchFamily="34" charset="-120"/>
              </a:rPr>
              <a:t>Hard to show what changed</a:t>
            </a:r>
            <a:endParaRPr lang="en-US" sz="740" dirty="0"/>
          </a:p>
        </p:txBody>
      </p:sp>
      <p:sp>
        <p:nvSpPr>
          <p:cNvPr id="73" name="Shape 70"/>
          <p:cNvSpPr/>
          <p:nvPr/>
        </p:nvSpPr>
        <p:spPr>
          <a:xfrm>
            <a:off x="10113264" y="5989320"/>
            <a:ext cx="128016" cy="914"/>
          </a:xfrm>
          <a:prstGeom prst="line">
            <a:avLst/>
          </a:prstGeom>
          <a:noFill/>
          <a:ln w="15875">
            <a:solidFill>
              <a:srgbClr val="F97A0F"/>
            </a:solidFill>
            <a:prstDash val="solid"/>
            <a:tailEnd type="triangle"/>
          </a:ln>
        </p:spPr>
      </p:sp>
      <p:sp>
        <p:nvSpPr>
          <p:cNvPr id="74" name="Shape 71"/>
          <p:cNvSpPr/>
          <p:nvPr/>
        </p:nvSpPr>
        <p:spPr>
          <a:xfrm>
            <a:off x="10259568" y="5815584"/>
            <a:ext cx="1517904" cy="347472"/>
          </a:xfrm>
          <a:prstGeom prst="roundRect">
            <a:avLst>
              <a:gd name="adj" fmla="val 15789"/>
            </a:avLst>
          </a:prstGeom>
          <a:solidFill>
            <a:srgbClr val="FFF4EA"/>
          </a:solidFill>
          <a:ln w="9525">
            <a:solidFill>
              <a:srgbClr val="FDD4AE"/>
            </a:solidFill>
            <a:prstDash val="solid"/>
          </a:ln>
        </p:spPr>
      </p:sp>
      <p:sp>
        <p:nvSpPr>
          <p:cNvPr id="75" name="Text 72"/>
          <p:cNvSpPr txBox="1"/>
          <p:nvPr/>
        </p:nvSpPr>
        <p:spPr>
          <a:xfrm>
            <a:off x="10314432" y="5815584"/>
            <a:ext cx="1426464" cy="347472"/>
          </a:xfrm>
          <a:prstGeom prst="rect">
            <a:avLst/>
          </a:prstGeom>
          <a:noFill/>
          <a:ln/>
        </p:spPr>
        <p:txBody>
          <a:bodyPr wrap="square" lIns="0" tIns="0" rIns="0" bIns="0" rtlCol="0" anchor="ctr"/>
          <a:lstStyle/>
          <a:p>
            <a:pPr indent="0" marL="0">
              <a:buNone/>
            </a:pPr>
            <a:r>
              <a:rPr lang="en-US" sz="740" b="1" dirty="0">
                <a:solidFill>
                  <a:srgbClr val="101828"/>
                </a:solidFill>
                <a:latin typeface="Inter" pitchFamily="34" charset="0"/>
                <a:ea typeface="Inter" pitchFamily="34" charset="-122"/>
                <a:cs typeface="Inter" pitchFamily="34" charset="-120"/>
              </a:rPr>
              <a:t>Every action in a signed audit chain</a:t>
            </a:r>
            <a:endParaRPr lang="en-US" sz="740" dirty="0"/>
          </a:p>
        </p:txBody>
      </p:sp>
      <p:sp>
        <p:nvSpPr>
          <p:cNvPr id="76" name="Text 73"/>
          <p:cNvSpPr txBox="1"/>
          <p:nvPr/>
        </p:nvSpPr>
        <p:spPr>
          <a:xfrm>
            <a:off x="320040" y="6336792"/>
            <a:ext cx="11567160" cy="201168"/>
          </a:xfrm>
          <a:prstGeom prst="rect">
            <a:avLst/>
          </a:prstGeom>
          <a:noFill/>
          <a:ln/>
        </p:spPr>
        <p:txBody>
          <a:bodyPr wrap="square" lIns="0" tIns="0" rIns="0" bIns="0" rtlCol="0" anchor="ctr"/>
          <a:lstStyle/>
          <a:p>
            <a:pPr indent="0" marL="0">
              <a:buNone/>
            </a:pPr>
            <a:r>
              <a:rPr lang="en-US" sz="700" i="1" dirty="0">
                <a:solidFill>
                  <a:srgbClr val="667085"/>
                </a:solidFill>
                <a:latin typeface="Inter" pitchFamily="34" charset="0"/>
                <a:ea typeface="Inter" pitchFamily="34" charset="-122"/>
                <a:cs typeface="Inter" pitchFamily="34" charset="-120"/>
              </a:rPr>
              <a:t>Chakshu figures: Rajya Sabha USQ 647 (5 Feb 2026, DoT), data.gov.in, GODL. Playbook mapping from backend/anvesh/nlp/playbooks.py (digital arrest, investment, KYC, courier, sextortion, job, utility, plus a general playbook). Ring shown is synthetic training data.</a:t>
            </a:r>
            <a:endParaRPr lang="en-US" sz="7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2103120" y="146304"/>
            <a:ext cx="6217920" cy="512064"/>
          </a:xfrm>
          <a:prstGeom prst="rect">
            <a:avLst/>
          </a:prstGeom>
          <a:noFill/>
          <a:ln/>
        </p:spPr>
        <p:txBody>
          <a:bodyPr wrap="square" lIns="0" tIns="0" rIns="0" bIns="0" rtlCol="0" anchor="ctr"/>
          <a:lstStyle/>
          <a:p>
            <a:pPr algn="ctr" indent="0" marL="0">
              <a:buNone/>
            </a:pPr>
            <a:r>
              <a:rPr lang="en-US" sz="2600" b="1" dirty="0">
                <a:solidFill>
                  <a:srgbClr val="101828"/>
                </a:solidFill>
                <a:latin typeface="Inter" pitchFamily="34" charset="0"/>
                <a:ea typeface="Inter" pitchFamily="34" charset="-122"/>
                <a:cs typeface="Inter" pitchFamily="34" charset="-120"/>
              </a:rPr>
              <a:t>Comparison with Existing Platforms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841248"/>
          <a:ext cx="11567160" cy="914400"/>
        </p:xfrm>
        <a:graphic>
          <a:graphicData uri="http://schemas.openxmlformats.org/drawingml/2006/table">
            <a:tbl>
              <a:tblPr/>
              <a:tblGrid>
                <a:gridCol w="2606040"/>
                <a:gridCol w="1444752"/>
                <a:gridCol w="1444752"/>
                <a:gridCol w="1444752"/>
                <a:gridCol w="1444752"/>
                <a:gridCol w="1444752"/>
                <a:gridCol w="1737360"/>
              </a:tblGrid>
              <a:tr h="457200">
                <a:tc>
                  <a:txBody>
                    <a:bodyPr/>
                    <a:lstStyle/>
                    <a:p>
                      <a:pPr indent="0" marL="0">
                        <a:buNone/>
                      </a:pPr>
                      <a:r>
                        <a:rPr lang="en-US" sz="860" b="1" dirty="0">
                          <a:solidFill>
                            <a:srgbClr val="FFFFFF"/>
                          </a:solidFill>
                          <a:latin typeface="Inter" pitchFamily="34" charset="0"/>
                          <a:ea typeface="Inter" pitchFamily="34" charset="-122"/>
                          <a:cs typeface="Inter" pitchFamily="34" charset="-120"/>
                        </a:rPr>
                        <a:t>Capability</a:t>
                      </a:r>
                      <a:endParaRPr lang="en-US" sz="8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Pindrop</a:t>
                      </a:r>
                      <a:endParaRPr lang="en-US" sz="1200" dirty="0">
                        <a:latin typeface="Inter" charset="0"/>
                        <a:ea typeface="Inter" charset="0"/>
                        <a:cs typeface="Inter" charset="0"/>
                      </a:endParaRPr>
                    </a:p>
                    <a:p>
                      <a:pPr algn="ctr" indent="0" marL="0">
                        <a:buNone/>
                      </a:pPr>
                      <a:r>
                        <a:rPr lang="en-US" sz="680" dirty="0">
                          <a:solidFill>
                            <a:srgbClr val="D0D5DD"/>
                          </a:solidFill>
                          <a:latin typeface="Inter" pitchFamily="34" charset="0"/>
                          <a:ea typeface="Inter" pitchFamily="34" charset="-122"/>
                          <a:cs typeface="Inter" pitchFamily="34" charset="-120"/>
                        </a:rPr>
                        <a:t>voice fraud &amp; deepfake defence</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Behavioral Signals</a:t>
                      </a:r>
                      <a:endParaRPr lang="en-US" sz="1200" dirty="0">
                        <a:latin typeface="Inter" charset="0"/>
                        <a:ea typeface="Inter" charset="0"/>
                        <a:cs typeface="Inter" charset="0"/>
                      </a:endParaRPr>
                    </a:p>
                    <a:p>
                      <a:pPr algn="ctr" indent="0" marL="0">
                        <a:buNone/>
                      </a:pPr>
                      <a:r>
                        <a:rPr lang="en-US" sz="680" dirty="0">
                          <a:solidFill>
                            <a:srgbClr val="D0D5DD"/>
                          </a:solidFill>
                          <a:latin typeface="Inter" pitchFamily="34" charset="0"/>
                          <a:ea typeface="Inter" pitchFamily="34" charset="-122"/>
                          <a:cs typeface="Inter" pitchFamily="34" charset="-120"/>
                        </a:rPr>
                        <a:t>voice emotion &amp; deepfake API</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Hume AI</a:t>
                      </a:r>
                      <a:endParaRPr lang="en-US" sz="1200" dirty="0">
                        <a:latin typeface="Inter" charset="0"/>
                        <a:ea typeface="Inter" charset="0"/>
                        <a:cs typeface="Inter" charset="0"/>
                      </a:endParaRPr>
                    </a:p>
                    <a:p>
                      <a:pPr algn="ctr" indent="0" marL="0">
                        <a:buNone/>
                      </a:pPr>
                      <a:r>
                        <a:rPr lang="en-US" sz="680" dirty="0">
                          <a:solidFill>
                            <a:srgbClr val="D0D5DD"/>
                          </a:solidFill>
                          <a:latin typeface="Inter" pitchFamily="34" charset="0"/>
                          <a:ea typeface="Inter" pitchFamily="34" charset="-122"/>
                          <a:cs typeface="Inter" pitchFamily="34" charset="-120"/>
                        </a:rPr>
                        <a:t>expression measurement API</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Verint + Cogito</a:t>
                      </a:r>
                      <a:endParaRPr lang="en-US" sz="1200" dirty="0">
                        <a:latin typeface="Inter" charset="0"/>
                        <a:ea typeface="Inter" charset="0"/>
                        <a:cs typeface="Inter" charset="0"/>
                      </a:endParaRPr>
                    </a:p>
                    <a:p>
                      <a:pPr algn="ctr" indent="0" marL="0">
                        <a:buNone/>
                      </a:pPr>
                      <a:r>
                        <a:rPr lang="en-US" sz="680" dirty="0">
                          <a:solidFill>
                            <a:srgbClr val="D0D5DD"/>
                          </a:solidFill>
                          <a:latin typeface="Inter" pitchFamily="34" charset="0"/>
                          <a:ea typeface="Inter" pitchFamily="34" charset="-122"/>
                          <a:cs typeface="Inter" pitchFamily="34" charset="-120"/>
                        </a:rPr>
                        <a:t>contact-centre analytics &amp; coaching</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I4C 1930 / NCRP</a:t>
                      </a:r>
                      <a:endParaRPr lang="en-US" sz="1200" dirty="0">
                        <a:latin typeface="Inter" charset="0"/>
                        <a:ea typeface="Inter" charset="0"/>
                        <a:cs typeface="Inter" charset="0"/>
                      </a:endParaRPr>
                    </a:p>
                    <a:p>
                      <a:pPr algn="ctr" indent="0" marL="0">
                        <a:buNone/>
                      </a:pPr>
                      <a:r>
                        <a:rPr lang="en-US" sz="680" dirty="0">
                          <a:solidFill>
                            <a:srgbClr val="D0D5DD"/>
                          </a:solidFill>
                          <a:latin typeface="Inter" pitchFamily="34" charset="0"/>
                          <a:ea typeface="Inter" pitchFamily="34" charset="-122"/>
                          <a:cs typeface="Inter" pitchFamily="34" charset="-120"/>
                        </a:rPr>
                        <a:t>national fraud reporting (India)</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101828"/>
                    </a:solidFill>
                  </a:tcPr>
                </a:tc>
                <a:tc>
                  <a:txBody>
                    <a:bodyPr/>
                    <a:lstStyle/>
                    <a:p>
                      <a:pPr algn="ctr" indent="0" marL="0">
                        <a:buNone/>
                      </a:pPr>
                      <a:r>
                        <a:rPr lang="en-US" sz="860" b="1" dirty="0">
                          <a:solidFill>
                            <a:srgbClr val="FFFFFF"/>
                          </a:solidFill>
                          <a:latin typeface="Inter" pitchFamily="34" charset="0"/>
                          <a:ea typeface="Inter" pitchFamily="34" charset="-122"/>
                          <a:cs typeface="Inter" pitchFamily="34" charset="-120"/>
                        </a:rPr>
                        <a:t>ANVESH</a:t>
                      </a:r>
                      <a:endParaRPr lang="en-US" sz="1200" dirty="0">
                        <a:latin typeface="Inter" charset="0"/>
                        <a:ea typeface="Inter" charset="0"/>
                        <a:cs typeface="Inter" charset="0"/>
                      </a:endParaRPr>
                    </a:p>
                    <a:p>
                      <a:pPr algn="ctr" indent="0" marL="0">
                        <a:buNone/>
                      </a:pPr>
                      <a:r>
                        <a:rPr lang="en-US" sz="680" dirty="0">
                          <a:solidFill>
                            <a:srgbClr val="FFFFFF"/>
                          </a:solidFill>
                          <a:latin typeface="Inter" pitchFamily="34" charset="0"/>
                          <a:ea typeface="Inter" pitchFamily="34" charset="-122"/>
                          <a:cs typeface="Inter" pitchFamily="34" charset="-120"/>
                        </a:rPr>
                        <a:t>call → case file for cyber cells</a:t>
                      </a:r>
                      <a:endParaRPr lang="en-US" sz="12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97A0F"/>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Main job</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Trust the caller</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Score the voice</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Measure expression</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Coach agents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Take complaints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Build the case</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Works on live calls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Phone helpline</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Yes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Voice emotion / distress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B54708"/>
                          </a:solidFill>
                          <a:latin typeface="Inter" pitchFamily="34" charset="0"/>
                          <a:ea typeface="Inter" pitchFamily="34" charset="-122"/>
                          <a:cs typeface="Inter" pitchFamily="34" charset="-120"/>
                        </a:rPr>
                        <a:t>◐ CX/EX score</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Role-gated</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Deepfake / synthetic voice check</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Flags for verification</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Hinglish amounts, numbers, UPI IDs → fields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Yes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Each fact tied to the second of audio</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Yes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Links complaints into fraud rings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B54708"/>
                          </a:solidFill>
                          <a:latin typeface="Inter" pitchFamily="34" charset="0"/>
                          <a:ea typeface="Inter" pitchFamily="34" charset="-122"/>
                          <a:cs typeface="Inter" pitchFamily="34" charset="-120"/>
                        </a:rPr>
                        <a:t>◐ Bad-actor network</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ID · script · voice</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Coercion (“digital arrest”) &amp; crisis alerts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Yes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Emotion off for suspects; can abstain</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Yes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Can run on-premises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Cloud / on-prem / edge</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API or own env.</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760" dirty="0">
                          <a:solidFill>
                            <a:srgbClr val="475467"/>
                          </a:solidFill>
                          <a:latin typeface="Inter" pitchFamily="34" charset="0"/>
                          <a:ea typeface="Inter" pitchFamily="34" charset="-122"/>
                          <a:cs typeface="Inter" pitchFamily="34" charset="-120"/>
                        </a:rPr>
                        <a:t>Run by I4C</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Laptop / server</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r h="274320">
                <a:tc>
                  <a:txBody>
                    <a:bodyPr/>
                    <a:lstStyle/>
                    <a:p>
                      <a:pPr indent="0" marL="0">
                        <a:buNone/>
                      </a:pPr>
                      <a:r>
                        <a:rPr lang="en-US" sz="800" b="1" dirty="0">
                          <a:solidFill>
                            <a:srgbClr val="101828"/>
                          </a:solidFill>
                          <a:latin typeface="Inter" pitchFamily="34" charset="0"/>
                          <a:ea typeface="Inter" pitchFamily="34" charset="-122"/>
                          <a:cs typeface="Inter" pitchFamily="34" charset="-120"/>
                        </a:rPr>
                        <a:t>Built around Indian police steps</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dirty="0">
                          <a:solidFill>
                            <a:srgbClr val="98A2B3"/>
                          </a:solidFill>
                          <a:latin typeface="Inter" pitchFamily="34" charset="0"/>
                          <a:ea typeface="Inter" pitchFamily="34" charset="-122"/>
                          <a:cs typeface="Inter" pitchFamily="34" charset="-120"/>
                        </a:rPr>
                        <a:t>—</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760" b="1" dirty="0">
                          <a:solidFill>
                            <a:srgbClr val="067647"/>
                          </a:solidFill>
                          <a:latin typeface="Inter" pitchFamily="34" charset="0"/>
                          <a:ea typeface="Inter" pitchFamily="34" charset="-122"/>
                          <a:cs typeface="Inter" pitchFamily="34" charset="-120"/>
                        </a:rPr>
                        <a:t>✓ Yes</a:t>
                      </a:r>
                      <a:endParaRPr lang="en-US" sz="76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6F7F9"/>
                    </a:solidFill>
                  </a:tcPr>
                </a:tc>
                <a:tc>
                  <a:txBody>
                    <a:bodyPr/>
                    <a:lstStyle/>
                    <a:p>
                      <a:pPr algn="ctr" indent="0" marL="0">
                        <a:buNone/>
                      </a:pPr>
                      <a:r>
                        <a:rPr lang="en-US" sz="800" b="1" dirty="0">
                          <a:solidFill>
                            <a:srgbClr val="067647"/>
                          </a:solidFill>
                          <a:latin typeface="Inter" pitchFamily="34" charset="0"/>
                          <a:ea typeface="Inter" pitchFamily="34" charset="-122"/>
                          <a:cs typeface="Inter" pitchFamily="34" charset="-120"/>
                        </a:rPr>
                        <a:t>✓ Feeds 1930 / NCRP</a:t>
                      </a:r>
                      <a:endParaRPr lang="en-US" sz="800" dirty="0">
                        <a:latin typeface="Inter" charset="0"/>
                        <a:ea typeface="Inter" charset="0"/>
                        <a:cs typeface="Inter" charset="0"/>
                      </a:endParaRPr>
                    </a:p>
                  </a:txBody>
                  <a:tcPr marL="54864" marR="54864" marT="18288" marB="18288" anchor="ctr">
                    <a:lnL w="6350" cap="flat" cmpd="sng" algn="ctr">
                      <a:solidFill>
                        <a:srgbClr val="E4E7EC"/>
                      </a:solidFill>
                      <a:prstDash val="solid"/>
                      <a:round/>
                      <a:headEnd type="none" w="med" len="med"/>
                      <a:tailEnd type="none" w="med" len="med"/>
                    </a:lnL>
                    <a:lnR w="6350" cap="flat" cmpd="sng" algn="ctr">
                      <a:solidFill>
                        <a:srgbClr val="E4E7EC"/>
                      </a:solidFill>
                      <a:prstDash val="solid"/>
                      <a:round/>
                      <a:headEnd type="none" w="med" len="med"/>
                      <a:tailEnd type="none" w="med" len="med"/>
                    </a:lnR>
                    <a:lnT w="6350" cap="flat" cmpd="sng" algn="ctr">
                      <a:solidFill>
                        <a:srgbClr val="E4E7EC"/>
                      </a:solidFill>
                      <a:prstDash val="solid"/>
                      <a:round/>
                      <a:headEnd type="none" w="med" len="med"/>
                      <a:tailEnd type="none" w="med" len="med"/>
                    </a:lnT>
                    <a:lnB w="6350" cap="flat" cmpd="sng" algn="ctr">
                      <a:solidFill>
                        <a:srgbClr val="E4E7EC"/>
                      </a:solidFill>
                      <a:prstDash val="solid"/>
                      <a:round/>
                      <a:headEnd type="none" w="med" len="med"/>
                      <a:tailEnd type="none" w="med" len="med"/>
                    </a:lnB>
                    <a:solidFill>
                      <a:srgbClr val="FFF4EA"/>
                    </a:solidFill>
                  </a:tcPr>
                </a:tc>
              </a:tr>
            </a:tbl>
          </a:graphicData>
        </a:graphic>
      </p:graphicFrame>
      <p:sp>
        <p:nvSpPr>
          <p:cNvPr id="4" name="Text 1"/>
          <p:cNvSpPr txBox="1"/>
          <p:nvPr/>
        </p:nvSpPr>
        <p:spPr>
          <a:xfrm>
            <a:off x="320040" y="4416552"/>
            <a:ext cx="11567160" cy="201168"/>
          </a:xfrm>
          <a:prstGeom prst="rect">
            <a:avLst/>
          </a:prstGeom>
          <a:noFill/>
          <a:ln/>
        </p:spPr>
        <p:txBody>
          <a:bodyPr wrap="square" lIns="0" tIns="0" rIns="0" bIns="0" rtlCol="0" anchor="ctr"/>
          <a:lstStyle/>
          <a:p>
            <a:pPr indent="0" marL="0">
              <a:buNone/>
            </a:pPr>
            <a:r>
              <a:rPr lang="en-US" sz="750" b="1" dirty="0">
                <a:solidFill>
                  <a:srgbClr val="067647"/>
                </a:solidFill>
                <a:latin typeface="Inter" pitchFamily="34" charset="0"/>
                <a:ea typeface="Inter" pitchFamily="34" charset="-122"/>
                <a:cs typeface="Inter" pitchFamily="34" charset="-120"/>
              </a:rPr>
              <a:t>✓ </a:t>
            </a:r>
            <a:pPr indent="0" marL="0">
              <a:buNone/>
            </a:pPr>
            <a:r>
              <a:rPr lang="en-US" sz="750" dirty="0">
                <a:solidFill>
                  <a:srgbClr val="475467"/>
                </a:solidFill>
                <a:latin typeface="Inter" pitchFamily="34" charset="0"/>
                <a:ea typeface="Inter" pitchFamily="34" charset="-122"/>
                <a:cs typeface="Inter" pitchFamily="34" charset="-120"/>
              </a:rPr>
              <a:t>stated on the product’s own public website   </a:t>
            </a:r>
            <a:pPr indent="0" marL="0">
              <a:buNone/>
            </a:pPr>
            <a:r>
              <a:rPr lang="en-US" sz="750" b="1" dirty="0">
                <a:solidFill>
                  <a:srgbClr val="B54708"/>
                </a:solidFill>
                <a:latin typeface="Inter" pitchFamily="34" charset="0"/>
                <a:ea typeface="Inter" pitchFamily="34" charset="-122"/>
                <a:cs typeface="Inter" pitchFamily="34" charset="-120"/>
              </a:rPr>
              <a:t>◐ </a:t>
            </a:r>
            <a:pPr indent="0" marL="0">
              <a:buNone/>
            </a:pPr>
            <a:r>
              <a:rPr lang="en-US" sz="750" dirty="0">
                <a:solidFill>
                  <a:srgbClr val="475467"/>
                </a:solidFill>
                <a:latin typeface="Inter" pitchFamily="34" charset="0"/>
                <a:ea typeface="Inter" pitchFamily="34" charset="-122"/>
                <a:cs typeface="Inter" pitchFamily="34" charset="-120"/>
              </a:rPr>
              <a:t>related, narrower capability   </a:t>
            </a:r>
            <a:pPr indent="0" marL="0">
              <a:buNone/>
            </a:pPr>
            <a:r>
              <a:rPr lang="en-US" sz="750" b="1" dirty="0">
                <a:solidFill>
                  <a:srgbClr val="98A2B3"/>
                </a:solidFill>
                <a:latin typeface="Inter" pitchFamily="34" charset="0"/>
                <a:ea typeface="Inter" pitchFamily="34" charset="-122"/>
                <a:cs typeface="Inter" pitchFamily="34" charset="-120"/>
              </a:rPr>
              <a:t>— </a:t>
            </a:r>
            <a:pPr indent="0" marL="0">
              <a:buNone/>
            </a:pPr>
            <a:r>
              <a:rPr lang="en-US" sz="750" dirty="0">
                <a:solidFill>
                  <a:srgbClr val="475467"/>
                </a:solidFill>
                <a:latin typeface="Inter" pitchFamily="34" charset="0"/>
                <a:ea typeface="Inter" pitchFamily="34" charset="-122"/>
                <a:cs typeface="Inter" pitchFamily="34" charset="-120"/>
              </a:rPr>
              <a:t>not stated publicly, so not claimed (checked 24 Oct 2026)</a:t>
            </a:r>
            <a:endParaRPr lang="en-US" sz="750" dirty="0"/>
          </a:p>
        </p:txBody>
      </p:sp>
      <p:sp>
        <p:nvSpPr>
          <p:cNvPr id="5" name="Shape 2"/>
          <p:cNvSpPr/>
          <p:nvPr/>
        </p:nvSpPr>
        <p:spPr>
          <a:xfrm>
            <a:off x="320040" y="4709160"/>
            <a:ext cx="11567160" cy="1554480"/>
          </a:xfrm>
          <a:prstGeom prst="roundRect">
            <a:avLst>
              <a:gd name="adj" fmla="val 3529"/>
            </a:avLst>
          </a:prstGeom>
          <a:solidFill>
            <a:srgbClr val="101828"/>
          </a:solidFill>
          <a:ln w="9525">
            <a:solidFill>
              <a:srgbClr val="101828"/>
            </a:solidFill>
            <a:prstDash val="solid"/>
          </a:ln>
        </p:spPr>
      </p:sp>
      <p:sp>
        <p:nvSpPr>
          <p:cNvPr id="6" name="Text 3"/>
          <p:cNvSpPr txBox="1"/>
          <p:nvPr/>
        </p:nvSpPr>
        <p:spPr>
          <a:xfrm>
            <a:off x="502920" y="4818888"/>
            <a:ext cx="3383280" cy="1371600"/>
          </a:xfrm>
          <a:prstGeom prst="rect">
            <a:avLst/>
          </a:prstGeom>
          <a:noFill/>
          <a:ln/>
        </p:spPr>
        <p:txBody>
          <a:bodyPr wrap="square" lIns="0" tIns="0" rIns="0" bIns="0" rtlCol="0" anchor="t"/>
          <a:lstStyle/>
          <a:p>
            <a:pPr indent="0" marL="0">
              <a:spcAft>
                <a:spcPts val="300"/>
              </a:spcAft>
              <a:buNone/>
            </a:pPr>
            <a:r>
              <a:rPr lang="en-US" sz="1100" b="1" dirty="0">
                <a:solidFill>
                  <a:srgbClr val="FFFFFF"/>
                </a:solidFill>
                <a:latin typeface="Inter" pitchFamily="34" charset="0"/>
                <a:ea typeface="Inter" pitchFamily="34" charset="-122"/>
                <a:cs typeface="Inter" pitchFamily="34" charset="-120"/>
              </a:rPr>
              <a:t>Where ANVESH fits</a:t>
            </a:r>
            <a:endParaRPr lang="en-US" sz="950" dirty="0"/>
          </a:p>
          <a:p>
            <a:pPr indent="0" marL="0">
              <a:spcAft>
                <a:spcPts val="300"/>
              </a:spcAft>
              <a:buNone/>
            </a:pPr>
            <a:r>
              <a:rPr lang="en-US" sz="880" dirty="0">
                <a:solidFill>
                  <a:srgbClr val="D0D5DD"/>
                </a:solidFill>
                <a:latin typeface="Inter" pitchFamily="34" charset="0"/>
                <a:ea typeface="Inter" pitchFamily="34" charset="-122"/>
                <a:cs typeface="Inter" pitchFamily="34" charset="-120"/>
              </a:rPr>
              <a:t>The market tools above answer “is this voice real?” or “how does this customer feel?”. A cyber cell needs a case file it can act on in the golden hour. ANVESH is built for that, flags voices that may be synthetic, and feeds 1930 / NCRP instead of replacing them.</a:t>
            </a:r>
            <a:endParaRPr lang="en-US" sz="950" dirty="0"/>
          </a:p>
        </p:txBody>
      </p:sp>
      <p:sp>
        <p:nvSpPr>
          <p:cNvPr id="7" name="Text 4"/>
          <p:cNvSpPr txBox="1"/>
          <p:nvPr/>
        </p:nvSpPr>
        <p:spPr>
          <a:xfrm>
            <a:off x="4114800" y="4846320"/>
            <a:ext cx="548640" cy="329184"/>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01</a:t>
            </a:r>
            <a:endParaRPr lang="en-US" sz="1700" dirty="0"/>
          </a:p>
        </p:txBody>
      </p:sp>
      <p:sp>
        <p:nvSpPr>
          <p:cNvPr id="8" name="Text 5"/>
          <p:cNvSpPr txBox="1"/>
          <p:nvPr/>
        </p:nvSpPr>
        <p:spPr>
          <a:xfrm>
            <a:off x="4114800" y="5212080"/>
            <a:ext cx="1810512" cy="1024128"/>
          </a:xfrm>
          <a:prstGeom prst="rect">
            <a:avLst/>
          </a:prstGeom>
          <a:noFill/>
          <a:ln/>
        </p:spPr>
        <p:txBody>
          <a:bodyPr wrap="square" lIns="0" tIns="0" rIns="0" bIns="0" rtlCol="0" anchor="t"/>
          <a:lstStyle/>
          <a:p>
            <a:pPr indent="0" marL="0">
              <a:spcAft>
                <a:spcPts val="200"/>
              </a:spcAft>
              <a:buNone/>
            </a:pPr>
            <a:r>
              <a:rPr lang="en-US" sz="920" b="1" dirty="0">
                <a:solidFill>
                  <a:srgbClr val="FFFFFF"/>
                </a:solidFill>
                <a:latin typeface="Inter" pitchFamily="34" charset="0"/>
                <a:ea typeface="Inter" pitchFamily="34" charset="-122"/>
                <a:cs typeface="Inter" pitchFamily="34" charset="-120"/>
              </a:rPr>
              <a:t>Call → case file</a:t>
            </a:r>
            <a:endParaRPr lang="en-US" sz="950" dirty="0"/>
          </a:p>
          <a:p>
            <a:pPr indent="0" marL="0">
              <a:spcAft>
                <a:spcPts val="200"/>
              </a:spcAft>
              <a:buNone/>
            </a:pPr>
            <a:r>
              <a:rPr lang="en-US" sz="860" dirty="0">
                <a:solidFill>
                  <a:srgbClr val="D0D5DD"/>
                </a:solidFill>
                <a:latin typeface="Inter" pitchFamily="34" charset="0"/>
                <a:ea typeface="Inter" pitchFamily="34" charset="-122"/>
                <a:cs typeface="Inter" pitchFamily="34" charset="-120"/>
              </a:rPr>
              <a:t>Amount, time, UPI, bank, phone, UTR and scam type, each linked to its second of audio.</a:t>
            </a:r>
            <a:endParaRPr lang="en-US" sz="950" dirty="0"/>
          </a:p>
        </p:txBody>
      </p:sp>
      <p:sp>
        <p:nvSpPr>
          <p:cNvPr id="9" name="Text 6"/>
          <p:cNvSpPr txBox="1"/>
          <p:nvPr/>
        </p:nvSpPr>
        <p:spPr>
          <a:xfrm>
            <a:off x="6035040" y="4846320"/>
            <a:ext cx="548640" cy="329184"/>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02</a:t>
            </a:r>
            <a:endParaRPr lang="en-US" sz="1700" dirty="0"/>
          </a:p>
        </p:txBody>
      </p:sp>
      <p:sp>
        <p:nvSpPr>
          <p:cNvPr id="10" name="Text 7"/>
          <p:cNvSpPr txBox="1"/>
          <p:nvPr/>
        </p:nvSpPr>
        <p:spPr>
          <a:xfrm>
            <a:off x="6035040" y="5212080"/>
            <a:ext cx="1810512" cy="1024128"/>
          </a:xfrm>
          <a:prstGeom prst="rect">
            <a:avLst/>
          </a:prstGeom>
          <a:noFill/>
          <a:ln/>
        </p:spPr>
        <p:txBody>
          <a:bodyPr wrap="square" lIns="0" tIns="0" rIns="0" bIns="0" rtlCol="0" anchor="t"/>
          <a:lstStyle/>
          <a:p>
            <a:pPr indent="0" marL="0">
              <a:spcAft>
                <a:spcPts val="200"/>
              </a:spcAft>
              <a:buNone/>
            </a:pPr>
            <a:r>
              <a:rPr lang="en-US" sz="920" b="1" dirty="0">
                <a:solidFill>
                  <a:srgbClr val="FFFFFF"/>
                </a:solidFill>
                <a:latin typeface="Inter" pitchFamily="34" charset="0"/>
                <a:ea typeface="Inter" pitchFamily="34" charset="-122"/>
                <a:cs typeface="Inter" pitchFamily="34" charset="-120"/>
              </a:rPr>
              <a:t>Ring Linker</a:t>
            </a:r>
            <a:endParaRPr lang="en-US" sz="950" dirty="0"/>
          </a:p>
          <a:p>
            <a:pPr indent="0" marL="0">
              <a:spcAft>
                <a:spcPts val="200"/>
              </a:spcAft>
              <a:buNone/>
            </a:pPr>
            <a:r>
              <a:rPr lang="en-US" sz="860" dirty="0">
                <a:solidFill>
                  <a:srgbClr val="D0D5DD"/>
                </a:solidFill>
                <a:latin typeface="Inter" pitchFamily="34" charset="0"/>
                <a:ea typeface="Inter" pitchFamily="34" charset="-122"/>
                <a:cs typeface="Inter" pitchFamily="34" charset="-120"/>
              </a:rPr>
              <a:t>Identifier, script and suspect-voice links turn one complaint into a search over all earlier ones.</a:t>
            </a:r>
            <a:endParaRPr lang="en-US" sz="950" dirty="0"/>
          </a:p>
        </p:txBody>
      </p:sp>
      <p:sp>
        <p:nvSpPr>
          <p:cNvPr id="11" name="Text 8"/>
          <p:cNvSpPr txBox="1"/>
          <p:nvPr/>
        </p:nvSpPr>
        <p:spPr>
          <a:xfrm>
            <a:off x="7955280" y="4846320"/>
            <a:ext cx="548640" cy="329184"/>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03</a:t>
            </a:r>
            <a:endParaRPr lang="en-US" sz="1700" dirty="0"/>
          </a:p>
        </p:txBody>
      </p:sp>
      <p:sp>
        <p:nvSpPr>
          <p:cNvPr id="12" name="Text 9"/>
          <p:cNvSpPr txBox="1"/>
          <p:nvPr/>
        </p:nvSpPr>
        <p:spPr>
          <a:xfrm>
            <a:off x="7955280" y="5212080"/>
            <a:ext cx="1810512" cy="1024128"/>
          </a:xfrm>
          <a:prstGeom prst="rect">
            <a:avLst/>
          </a:prstGeom>
          <a:noFill/>
          <a:ln/>
        </p:spPr>
        <p:txBody>
          <a:bodyPr wrap="square" lIns="0" tIns="0" rIns="0" bIns="0" rtlCol="0" anchor="t"/>
          <a:lstStyle/>
          <a:p>
            <a:pPr indent="0" marL="0">
              <a:spcAft>
                <a:spcPts val="200"/>
              </a:spcAft>
              <a:buNone/>
            </a:pPr>
            <a:r>
              <a:rPr lang="en-US" sz="920" b="1" dirty="0">
                <a:solidFill>
                  <a:srgbClr val="FFFFFF"/>
                </a:solidFill>
                <a:latin typeface="Inter" pitchFamily="34" charset="0"/>
                <a:ea typeface="Inter" pitchFamily="34" charset="-122"/>
                <a:cs typeface="Inter" pitchFamily="34" charset="-120"/>
              </a:rPr>
              <a:t>Priority from facts</a:t>
            </a:r>
            <a:endParaRPr lang="en-US" sz="950" dirty="0"/>
          </a:p>
          <a:p>
            <a:pPr indent="0" marL="0">
              <a:spcAft>
                <a:spcPts val="200"/>
              </a:spcAft>
              <a:buNone/>
            </a:pPr>
            <a:r>
              <a:rPr lang="en-US" sz="860" dirty="0">
                <a:solidFill>
                  <a:srgbClr val="D0D5DD"/>
                </a:solidFill>
                <a:latin typeface="Inter" pitchFamily="34" charset="0"/>
                <a:ea typeface="Inter" pitchFamily="34" charset="-122"/>
                <a:cs typeface="Inter" pitchFamily="34" charset="-120"/>
              </a:rPr>
              <a:t>Golden-hour rules with every reason shown. Emotion is shown, never added to the score.</a:t>
            </a:r>
            <a:endParaRPr lang="en-US" sz="950" dirty="0"/>
          </a:p>
        </p:txBody>
      </p:sp>
      <p:sp>
        <p:nvSpPr>
          <p:cNvPr id="13" name="Text 10"/>
          <p:cNvSpPr txBox="1"/>
          <p:nvPr/>
        </p:nvSpPr>
        <p:spPr>
          <a:xfrm>
            <a:off x="9875520" y="4846320"/>
            <a:ext cx="548640" cy="329184"/>
          </a:xfrm>
          <a:prstGeom prst="rect">
            <a:avLst/>
          </a:prstGeom>
          <a:noFill/>
          <a:ln/>
        </p:spPr>
        <p:txBody>
          <a:bodyPr wrap="square" lIns="0" tIns="0" rIns="0" bIns="0" rtlCol="0" anchor="t"/>
          <a:lstStyle/>
          <a:p>
            <a:pPr indent="0" marL="0">
              <a:buNone/>
            </a:pPr>
            <a:r>
              <a:rPr lang="en-US" sz="1700" b="1" dirty="0">
                <a:solidFill>
                  <a:srgbClr val="F97A0F"/>
                </a:solidFill>
                <a:latin typeface="Inter" pitchFamily="34" charset="0"/>
                <a:ea typeface="Inter" pitchFamily="34" charset="-122"/>
                <a:cs typeface="Inter" pitchFamily="34" charset="-120"/>
              </a:rPr>
              <a:t>04</a:t>
            </a:r>
            <a:endParaRPr lang="en-US" sz="1700" dirty="0"/>
          </a:p>
        </p:txBody>
      </p:sp>
      <p:sp>
        <p:nvSpPr>
          <p:cNvPr id="14" name="Text 11"/>
          <p:cNvSpPr txBox="1"/>
          <p:nvPr/>
        </p:nvSpPr>
        <p:spPr>
          <a:xfrm>
            <a:off x="9875520" y="5212080"/>
            <a:ext cx="1810512" cy="1024128"/>
          </a:xfrm>
          <a:prstGeom prst="rect">
            <a:avLst/>
          </a:prstGeom>
          <a:noFill/>
          <a:ln/>
        </p:spPr>
        <p:txBody>
          <a:bodyPr wrap="square" lIns="0" tIns="0" rIns="0" bIns="0" rtlCol="0" anchor="t"/>
          <a:lstStyle/>
          <a:p>
            <a:pPr indent="0" marL="0">
              <a:spcAft>
                <a:spcPts val="200"/>
              </a:spcAft>
              <a:buNone/>
            </a:pPr>
            <a:r>
              <a:rPr lang="en-US" sz="920" b="1" dirty="0">
                <a:solidFill>
                  <a:srgbClr val="FFFFFF"/>
                </a:solidFill>
                <a:latin typeface="Inter" pitchFamily="34" charset="0"/>
                <a:ea typeface="Inter" pitchFamily="34" charset="-122"/>
                <a:cs typeface="Inter" pitchFamily="34" charset="-120"/>
              </a:rPr>
              <a:t>Safe by design</a:t>
            </a:r>
            <a:endParaRPr lang="en-US" sz="950" dirty="0"/>
          </a:p>
          <a:p>
            <a:pPr indent="0" marL="0">
              <a:spcAft>
                <a:spcPts val="200"/>
              </a:spcAft>
              <a:buNone/>
            </a:pPr>
            <a:r>
              <a:rPr lang="en-US" sz="860" dirty="0">
                <a:solidFill>
                  <a:srgbClr val="D0D5DD"/>
                </a:solidFill>
                <a:latin typeface="Inter" pitchFamily="34" charset="0"/>
                <a:ea typeface="Inter" pitchFamily="34" charset="-122"/>
                <a:cs typeface="Inter" pitchFamily="34" charset="-120"/>
              </a:rPr>
              <a:t>Emotion off for suspects, abstains on bad audio, field encryption, HMAC-signed audit.</a:t>
            </a:r>
            <a:endParaRPr lang="en-US" sz="950" dirty="0"/>
          </a:p>
        </p:txBody>
      </p:sp>
      <p:sp>
        <p:nvSpPr>
          <p:cNvPr id="15" name="Text 12"/>
          <p:cNvSpPr txBox="1"/>
          <p:nvPr/>
        </p:nvSpPr>
        <p:spPr>
          <a:xfrm>
            <a:off x="320040" y="6336792"/>
            <a:ext cx="11567160" cy="201168"/>
          </a:xfrm>
          <a:prstGeom prst="rect">
            <a:avLst/>
          </a:prstGeom>
          <a:noFill/>
          <a:ln/>
        </p:spPr>
        <p:txBody>
          <a:bodyPr wrap="square" lIns="0" tIns="0" rIns="0" bIns="0" rtlCol="0" anchor="ctr"/>
          <a:lstStyle/>
          <a:p>
            <a:pPr indent="0" marL="0">
              <a:buNone/>
            </a:pPr>
            <a:r>
              <a:rPr lang="en-US" sz="700" i="1" dirty="0">
                <a:solidFill>
                  <a:srgbClr val="667085"/>
                </a:solidFill>
                <a:latin typeface="Inter" pitchFamily="34" charset="0"/>
                <a:ea typeface="Inter" pitchFamily="34" charset="-122"/>
                <a:cs typeface="Inter" pitchFamily="34" charset="-120"/>
              </a:rPr>
              <a:t>Sources: pindrop.com, behavioralsignals.com, hume.ai, verint.com and verint.com/cogito (product pages read 24 Oct 2026); I4C NCRP / CFCFRMS as cited in the repo’s sources.json. ANVESH claims are from README.md and the backend source.</a:t>
            </a:r>
            <a:endParaRPr lang="en-US" sz="700" dirty="0"/>
          </a:p>
        </p:txBody>
      </p:sp>
      <p:sp>
        <p:nvSpPr>
          <p:cNvPr id="25" name="Slide Number Placeholder 0"/>
          <p:cNvSpPr>
            <a:spLocks noGrp="1"/>
          </p:cNvSpPr>
          <p:nvPr>
            <p:ph type="sldNum" sz="quarter" idx="4294967295"/>
          </p:nvPr>
        </p:nvSpPr>
        <p:spPr>
          <a:xfrm>
            <a:off x="11475720" y="6556248"/>
            <a:ext cx="411480" cy="219456"/>
          </a:xfrm>
          <a:prstGeom prst="rect">
            <a:avLst/>
          </a:prstGeom>
          <a:extLst>
            <a:ext uri="{C572A759-6A51-4108-AA02-DFA0A04FC94B}">
              <ma14:wrappingTextBoxFlag xmlns:ma14="http://schemas.microsoft.com/office/mac/drawingml/2011/main" val="0"/>
            </a:ext>
          </a:extLst>
        </p:spPr>
        <p:txBody>
          <a:bodyPr/>
          <a:lstStyle>
            <a:lvl1pPr>
              <a:defRPr sz="800">
                <a:solidFill>
                  <a:srgbClr val="66708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Anvesh">
  <a:themeElements>
    <a:clrScheme name="Anvesh">
      <a:dk1>
        <a:srgbClr val="101828"/>
      </a:dk1>
      <a:lt1>
        <a:srgbClr val="FFFFFF"/>
      </a:lt1>
      <a:dk2>
        <a:srgbClr val="475467"/>
      </a:dk2>
      <a:lt2>
        <a:srgbClr val="F6F7F9"/>
      </a:lt2>
      <a:accent1>
        <a:srgbClr val="F97A0F"/>
      </a:accent1>
      <a:accent2>
        <a:srgbClr val="C2570C"/>
      </a:accent2>
      <a:accent3>
        <a:srgbClr val="B42318"/>
      </a:accent3>
      <a:accent4>
        <a:srgbClr val="067647"/>
      </a:accent4>
      <a:accent5>
        <a:srgbClr val="B54708"/>
      </a:accent5>
      <a:accent6>
        <a:srgbClr val="667085"/>
      </a:accent6>
      <a:hlink>
        <a:srgbClr val="C2570C"/>
      </a:hlink>
      <a:folHlink>
        <a:srgbClr val="667085"/>
      </a:folHlink>
    </a:clrScheme>
    <a:fontScheme name="Anves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ANVESH: Real-Time Speech Emotion Analysis for Cybercrime Investigation</dc:title>
  <dc:subject>PptxGenJS Presentation</dc:subject>
  <dc:creator>Team ANVESH</dc:creator>
  <cp:lastModifiedBy>Team ANVESH</cp:lastModifiedBy>
  <cp:revision>1</cp:revision>
  <dcterms:created xsi:type="dcterms:W3CDTF">2026-10-24T13:19:39Z</dcterms:created>
  <dcterms:modified xsi:type="dcterms:W3CDTF">2026-10-24T13:19:39Z</dcterms:modified>
</cp:coreProperties>
</file>